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113">
          <p15:clr>
            <a:srgbClr val="9AA0A6"/>
          </p15:clr>
        </p15:guide>
        <p15:guide id="4" pos="259">
          <p15:clr>
            <a:srgbClr val="9AA0A6"/>
          </p15:clr>
        </p15:guide>
        <p15:guide id="5" orient="horz" pos="2950">
          <p15:clr>
            <a:srgbClr val="9AA0A6"/>
          </p15:clr>
        </p15:guide>
        <p15:guide id="6" pos="403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28"/>
  </p:normalViewPr>
  <p:slideViewPr>
    <p:cSldViewPr snapToGrid="0">
      <p:cViewPr varScale="1">
        <p:scale>
          <a:sx n="134" d="100"/>
          <a:sy n="134" d="100"/>
        </p:scale>
        <p:origin x="904" y="176"/>
      </p:cViewPr>
      <p:guideLst>
        <p:guide orient="horz" pos="1620"/>
        <p:guide pos="2880"/>
        <p:guide orient="horz" pos="3113"/>
        <p:guide pos="259"/>
        <p:guide orient="horz" pos="2950"/>
        <p:guide pos="40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4c8f6bd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64c8f6bd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64c8f6bd7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64c8f6bd7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4c8f6bd7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4c8f6bd7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64c8f6bd71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64c8f6bd71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64c8f6bd7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64c8f6bd7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64c8f6bd71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64c8f6bd71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64c8f6bd71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64c8f6bd71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4c8f6bd7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4c8f6bd7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4c8f6bd7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4c8f6bd7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4c8f6bd7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4c8f6bd71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4c8f6bd71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4c8f6bd71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4bcd171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4bcd171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4bcd171d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64bcd171d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64bcd171d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64bcd171d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4bcd171d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4bcd171d6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4bcd171d6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64bcd171d6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64bcd171d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64bcd171d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4bcd171d6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4bcd171d6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4bcd171d6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64bcd171d6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64bcd171d6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64bcd171d6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64bcd171d6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64bcd171d6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64bcd171d6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64bcd171d6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64bcd171d6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64bcd171d6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64bcd171d6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64bcd171d6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64bcd171d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64bcd171d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64bcd171d6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64bcd171d6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64bcd171d6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64bcd171d6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64c8f6bc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64c8f6bc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64c8f6bc99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64c8f6bc99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64c8f6bc9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64c8f6bc9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64c8f6bd7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64c8f6bd7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64c8f6bd71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64c8f6bd71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64c8f6bc9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64c8f6bc9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64c8f6bc9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64c8f6bc9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64c8f6bc9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64c8f6bc9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64c8f6bc9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64c8f6bc99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64bcd171d6_0_8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64bcd171d6_0_8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64bcd171d6_0_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64bcd171d6_0_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64b73da58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64b73da58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IGhQmy_enTA?feature=oembed" TargetMode="Externa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view.net/forum?id=BylBfnRqFm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4683131"/>
            <a:ext cx="85206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Proceedings of the 36</a:t>
            </a:r>
            <a:r>
              <a:rPr lang="en" sz="14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" sz="14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International Conference on Machine Learning</a:t>
            </a:r>
            <a:endParaRPr sz="14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0" y="1364950"/>
            <a:ext cx="8520600" cy="7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dirty="0">
                <a:latin typeface="Times"/>
                <a:ea typeface="Times"/>
                <a:cs typeface="Times"/>
                <a:sym typeface="Times"/>
              </a:rPr>
              <a:t>Fast Context Adaptation via Meta-Learning</a:t>
            </a:r>
            <a:endParaRPr sz="3400" b="1"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4358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CS 330 Paper Presentation</a:t>
            </a:r>
            <a:endParaRPr sz="1800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October 9, 2019</a:t>
            </a:r>
            <a:endParaRPr sz="1800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232950" y="1128750"/>
            <a:ext cx="8678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13"/>
          <p:cNvCxnSpPr/>
          <p:nvPr/>
        </p:nvCxnSpPr>
        <p:spPr>
          <a:xfrm>
            <a:off x="232950" y="2389825"/>
            <a:ext cx="8678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311700" y="25564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Luisa Zintgraf</a:t>
            </a:r>
            <a:r>
              <a:rPr lang="en" sz="18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Kyriacos Shiarlis</a:t>
            </a:r>
            <a:r>
              <a:rPr lang="en" sz="18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Vitaly Kurin</a:t>
            </a:r>
            <a:r>
              <a:rPr lang="en" sz="18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Katja Hofmann</a:t>
            </a:r>
            <a:r>
              <a:rPr lang="en" sz="18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Shimon Whiteson</a:t>
            </a:r>
            <a:r>
              <a:rPr lang="en" sz="18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311700" y="4405094"/>
            <a:ext cx="85206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University of Oxford     </a:t>
            </a:r>
            <a:r>
              <a:rPr lang="en" sz="14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Latent Logic</a:t>
            </a:r>
            <a:r>
              <a:rPr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" sz="14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Microsoft Research</a:t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203575" y="4358125"/>
            <a:ext cx="2375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Problem formulation</a:t>
            </a:r>
            <a:endParaRPr b="1"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Standard meta-learning formulation: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331" y="1510625"/>
            <a:ext cx="5639350" cy="6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779" y="2312188"/>
            <a:ext cx="6290441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7305" y="3685100"/>
            <a:ext cx="4536975" cy="134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Optimisation</a:t>
            </a:r>
            <a:r>
              <a:rPr lang="en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-based approaches</a:t>
            </a:r>
            <a:endParaRPr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663" y="1017725"/>
            <a:ext cx="7326668" cy="14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1078350" y="2043025"/>
            <a:ext cx="6987300" cy="8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θ</a:t>
            </a:r>
            <a:r>
              <a:rPr lang="en" sz="1800" dirty="0">
                <a:latin typeface="Helvetica Neue"/>
                <a:ea typeface="Helvetica Neue"/>
                <a:cs typeface="Helvetica Neue"/>
                <a:sym typeface="Helvetica Neue"/>
              </a:rPr>
              <a:t> serves as a prior over tasks.</a:t>
            </a:r>
            <a:endParaRPr sz="18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Helvetica Neue"/>
                <a:ea typeface="Helvetica Neue"/>
                <a:cs typeface="Helvetica Neue"/>
                <a:sym typeface="Helvetica Neue"/>
              </a:rPr>
              <a:t>We assume the tasks have some shared structure.</a:t>
            </a:r>
            <a:endParaRPr sz="18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276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MAML</a:t>
            </a:r>
            <a:endParaRPr b="1" dirty="0"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00" y="3335851"/>
            <a:ext cx="7186799" cy="116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Problems/questions</a:t>
            </a:r>
            <a:endParaRPr b="1"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2074375"/>
            <a:ext cx="8520600" cy="24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Why update the whole model/prior 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θ</a:t>
            </a:r>
            <a:r>
              <a:rPr lang="en"/>
              <a:t> at test time, when we know the tasks have shared structure that doesn’t need updating, so much of 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θ</a:t>
            </a:r>
            <a:r>
              <a:rPr lang="en"/>
              <a:t> is shared?</a:t>
            </a:r>
            <a:endParaRPr/>
          </a:p>
          <a:p>
            <a:pPr marL="45720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/>
              <a:t>(worse for large </a:t>
            </a:r>
            <a:r>
              <a:rPr lang="en" i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θ, e.g. meta-RL)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Problems/questions</a:t>
            </a:r>
            <a:endParaRPr b="1"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756325"/>
            <a:ext cx="8520600" cy="28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Multi-task and bi-level optimisation is very tricky. MAML is not always robust, and </a:t>
            </a:r>
            <a:r>
              <a:rPr lang="en" b="1"/>
              <a:t>meta-overfits </a:t>
            </a:r>
            <a:r>
              <a:rPr lang="en"/>
              <a:t>easily.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/>
              <a:t>e.g. Mishra et al. (2018) on MAML:</a:t>
            </a:r>
            <a:endParaRPr i="1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/>
              <a:t>“1-shot, 5-way mini-ImageNet: 30.1% &amp; 75.2% on the test and training set respectively”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Problems/questions</a:t>
            </a:r>
            <a:endParaRPr b="1"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2001600"/>
            <a:ext cx="8520600" cy="25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Many tasks in current benchmarks</a:t>
            </a:r>
            <a:r>
              <a:rPr lang="en" i="1"/>
              <a:t> </a:t>
            </a:r>
            <a:r>
              <a:rPr lang="en"/>
              <a:t>require no generalisation beyond inferring a (low-dimensional) underlying task.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(e.g. sine regression, moving 2d points, half-cheetah forwards/backwards)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Problems/questions</a:t>
            </a:r>
            <a:endParaRPr b="1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2279900"/>
            <a:ext cx="8520600" cy="22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4. MAML is not interpretable. No way to infer the task we solved from 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θ, even when it works.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Problems/questions</a:t>
            </a:r>
            <a:endParaRPr b="1"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311700" y="2219950"/>
            <a:ext cx="8520600" cy="23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MAML is not easy to parallelise. 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Can’t run many tasks and share the underlying structure, since it’s fully updated at test-time.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Problems/questions</a:t>
            </a:r>
            <a:endParaRPr b="1"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11700" y="2219950"/>
            <a:ext cx="8520600" cy="23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6. MAML is almost too “meta-agnostic.” Not many ways to specify how much structure should truly be shared between tasks, since the whole model is updated at test-time.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Related Work </a:t>
            </a:r>
            <a:r>
              <a:rPr lang="en" i="1"/>
              <a:t>(that might help)</a:t>
            </a:r>
            <a:endParaRPr i="1"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MAML Extensions </a:t>
            </a:r>
            <a:r>
              <a:rPr lang="en"/>
              <a:t>(with better optimisation/task inference)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Meta-SGD (Li et al., 2017): “meta-learn the inner loop learning rate and direction”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LEO (Rusu et al., 2019): “learn encoder/decoder for distribution of </a:t>
            </a: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θ”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i="1">
                <a:solidFill>
                  <a:schemeClr val="dk1"/>
                </a:solidFill>
              </a:rPr>
              <a:t>MT-Nets (Lee and Choi, 2018): “meta-learn both inner loop learning rate (T-Net), and which parameters to update (M-Net)”</a:t>
            </a:r>
            <a:endParaRPr i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Pre-MAML Task Embeddings </a:t>
            </a:r>
            <a:r>
              <a:rPr lang="en"/>
              <a:t>(from MTL literature)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Context-sensitive MTL (Silver et al, 2008): “learn context embedding for individual tasks, and fully share all other structure”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CAVIA: </a:t>
            </a:r>
            <a:r>
              <a:rPr lang="en" b="1" i="1" u="sng"/>
              <a:t>C</a:t>
            </a:r>
            <a:r>
              <a:rPr lang="en" i="1"/>
              <a:t>ontext </a:t>
            </a:r>
            <a:r>
              <a:rPr lang="en" b="1" i="1" u="sng"/>
              <a:t>a</a:t>
            </a:r>
            <a:r>
              <a:rPr lang="en" i="1"/>
              <a:t>daptation </a:t>
            </a:r>
            <a:r>
              <a:rPr lang="en" b="1" i="1" u="sng"/>
              <a:t>via</a:t>
            </a:r>
            <a:r>
              <a:rPr lang="en" i="1"/>
              <a:t> meta-learning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</a:rPr>
              <a:t>Concept: </a:t>
            </a:r>
            <a:r>
              <a:rPr lang="en" sz="2400">
                <a:solidFill>
                  <a:schemeClr val="dk1"/>
                </a:solidFill>
              </a:rPr>
              <a:t>MAML but...</a:t>
            </a:r>
            <a:endParaRPr sz="2400">
              <a:solidFill>
                <a:schemeClr val="dk1"/>
              </a:solidFill>
            </a:endParaRPr>
          </a:p>
          <a:p>
            <a:pPr marL="457200" lvl="0" indent="-342900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Inner loop parameters (ϕ) and outer loop parameters (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θ) are</a:t>
            </a:r>
            <a:r>
              <a:rPr lang="en">
                <a:solidFill>
                  <a:schemeClr val="dk1"/>
                </a:solidFill>
              </a:rPr>
              <a:t> disjoint</a:t>
            </a:r>
            <a:endParaRPr>
              <a:solidFill>
                <a:schemeClr val="dk1"/>
              </a:solidFill>
            </a:endParaRPr>
          </a:p>
          <a:p>
            <a:pPr marL="4572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Fix 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θ </a:t>
            </a:r>
            <a:r>
              <a:rPr lang="en">
                <a:solidFill>
                  <a:schemeClr val="dk1"/>
                </a:solidFill>
              </a:rPr>
              <a:t>at test time, and only update ϕ</a:t>
            </a:r>
            <a:endParaRPr>
              <a:solidFill>
                <a:schemeClr val="dk1"/>
              </a:solidFill>
            </a:endParaRPr>
          </a:p>
          <a:p>
            <a:pPr marL="4572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Fix initialisation of ϕ at train time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0" y="2935200"/>
            <a:ext cx="9144000" cy="22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Intuition: </a:t>
            </a:r>
            <a:endParaRPr sz="24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(possibly low-dimensional) task/context embedding from training data provided at test time. Still get benefits of MAML bi-level optimisation.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How does this answer those problems?</a:t>
            </a:r>
            <a:endParaRPr b="1"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AutoNum type="arabicPeriod"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More </a:t>
            </a:r>
            <a:r>
              <a:rPr lang="en" b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robust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optimisation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and meta-overfits less.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More </a:t>
            </a:r>
            <a:r>
              <a:rPr lang="en" b="1"/>
              <a:t>efficient</a:t>
            </a:r>
            <a:r>
              <a:rPr lang="en"/>
              <a:t>: no need to update whole 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θ at test-time 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Better inductive bias if the main problem is </a:t>
            </a:r>
            <a:r>
              <a:rPr lang="en" b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task inference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AutoNum type="arabicPeriod"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Provides </a:t>
            </a:r>
            <a:r>
              <a:rPr lang="en" b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interpretable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(possibly low-dimensional) </a:t>
            </a:r>
            <a:r>
              <a:rPr lang="en" b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task embeddings.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AutoNum type="arabicPeriod"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Can </a:t>
            </a:r>
            <a:r>
              <a:rPr lang="en" b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parallelise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and share underlying structure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AutoNum type="arabicPeriod"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Can parameterise shared vs. non-shared dimension.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AutoNum type="arabicPeriod"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(?) Shows that the MAML benchmarks resolve to fairly simple task inference?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Method Overview</a:t>
            </a:r>
            <a:endParaRPr b="1"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C</a:t>
            </a:r>
            <a:r>
              <a:rPr lang="en"/>
              <a:t>ontext </a:t>
            </a:r>
            <a:r>
              <a:rPr lang="en" b="1" u="sng"/>
              <a:t>a</a:t>
            </a:r>
            <a:r>
              <a:rPr lang="en"/>
              <a:t>daptation </a:t>
            </a:r>
            <a:r>
              <a:rPr lang="en" b="1" u="sng"/>
              <a:t>via</a:t>
            </a:r>
            <a:r>
              <a:rPr lang="en"/>
              <a:t> meta-learning </a:t>
            </a:r>
            <a:r>
              <a:rPr lang="en" b="1"/>
              <a:t>(</a:t>
            </a:r>
            <a:r>
              <a:rPr lang="en" b="1" u="sng"/>
              <a:t>CAVIA</a:t>
            </a:r>
            <a:r>
              <a:rPr lang="en" b="1"/>
              <a:t>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/>
          <p:nvPr/>
        </p:nvSpPr>
        <p:spPr>
          <a:xfrm>
            <a:off x="410750" y="1817450"/>
            <a:ext cx="3471600" cy="25650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Method Overview</a:t>
            </a:r>
            <a:endParaRPr b="1"/>
          </a:p>
        </p:txBody>
      </p:sp>
      <p:sp>
        <p:nvSpPr>
          <p:cNvPr id="147" name="Google Shape;14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C</a:t>
            </a:r>
            <a:r>
              <a:rPr lang="en"/>
              <a:t>ontext </a:t>
            </a:r>
            <a:r>
              <a:rPr lang="en" b="1" u="sng"/>
              <a:t>a</a:t>
            </a:r>
            <a:r>
              <a:rPr lang="en"/>
              <a:t>daptation </a:t>
            </a:r>
            <a:r>
              <a:rPr lang="en" b="1" u="sng"/>
              <a:t>via</a:t>
            </a:r>
            <a:r>
              <a:rPr lang="en"/>
              <a:t> meta-learning </a:t>
            </a:r>
            <a:r>
              <a:rPr lang="en" b="1"/>
              <a:t>(</a:t>
            </a:r>
            <a:r>
              <a:rPr lang="en" b="1" u="sng"/>
              <a:t>CAVIA</a:t>
            </a:r>
            <a:r>
              <a:rPr lang="en" b="1"/>
              <a:t>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410750" y="2084325"/>
            <a:ext cx="14556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Model parameters 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3000" baseline="-25000"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endParaRPr sz="3000" baseline="-2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9" name="Google Shape;149;p26"/>
          <p:cNvCxnSpPr/>
          <p:nvPr/>
        </p:nvCxnSpPr>
        <p:spPr>
          <a:xfrm rot="10800000" flipH="1">
            <a:off x="1718050" y="2529875"/>
            <a:ext cx="737700" cy="534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50;p26"/>
          <p:cNvCxnSpPr/>
          <p:nvPr/>
        </p:nvCxnSpPr>
        <p:spPr>
          <a:xfrm>
            <a:off x="1718050" y="3064475"/>
            <a:ext cx="737700" cy="534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" name="Google Shape;151;p26"/>
          <p:cNvSpPr txBox="1"/>
          <p:nvPr/>
        </p:nvSpPr>
        <p:spPr>
          <a:xfrm>
            <a:off x="2455750" y="3157125"/>
            <a:ext cx="14556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Shared parameters 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endParaRPr sz="3000" baseline="-2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2455750" y="1835925"/>
            <a:ext cx="14556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Context parameters 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endParaRPr sz="3000" baseline="-2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/>
          <p:nvPr/>
        </p:nvSpPr>
        <p:spPr>
          <a:xfrm>
            <a:off x="410750" y="1817450"/>
            <a:ext cx="3471600" cy="25650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Method Overview</a:t>
            </a:r>
            <a:endParaRPr b="1"/>
          </a:p>
        </p:txBody>
      </p:sp>
      <p:sp>
        <p:nvSpPr>
          <p:cNvPr id="159" name="Google Shape;1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C</a:t>
            </a:r>
            <a:r>
              <a:rPr lang="en"/>
              <a:t>ontext </a:t>
            </a:r>
            <a:r>
              <a:rPr lang="en" b="1" u="sng"/>
              <a:t>a</a:t>
            </a:r>
            <a:r>
              <a:rPr lang="en"/>
              <a:t>daptation </a:t>
            </a:r>
            <a:r>
              <a:rPr lang="en" b="1" u="sng"/>
              <a:t>via</a:t>
            </a:r>
            <a:r>
              <a:rPr lang="en"/>
              <a:t> meta-learning </a:t>
            </a:r>
            <a:r>
              <a:rPr lang="en" b="1"/>
              <a:t>(</a:t>
            </a:r>
            <a:r>
              <a:rPr lang="en" b="1" u="sng"/>
              <a:t>CAVIA</a:t>
            </a:r>
            <a:r>
              <a:rPr lang="en" b="1"/>
              <a:t>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410750" y="2084325"/>
            <a:ext cx="14556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Model parameters 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3000" baseline="-25000"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endParaRPr sz="3000" baseline="-2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1" name="Google Shape;161;p27"/>
          <p:cNvCxnSpPr/>
          <p:nvPr/>
        </p:nvCxnSpPr>
        <p:spPr>
          <a:xfrm rot="10800000" flipH="1">
            <a:off x="1718050" y="2529875"/>
            <a:ext cx="737700" cy="534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" name="Google Shape;162;p27"/>
          <p:cNvCxnSpPr/>
          <p:nvPr/>
        </p:nvCxnSpPr>
        <p:spPr>
          <a:xfrm>
            <a:off x="1718050" y="3064475"/>
            <a:ext cx="737700" cy="534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3" name="Google Shape;163;p27"/>
          <p:cNvSpPr txBox="1"/>
          <p:nvPr/>
        </p:nvSpPr>
        <p:spPr>
          <a:xfrm>
            <a:off x="2455750" y="3157125"/>
            <a:ext cx="14556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Shared parameters 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endParaRPr sz="3000" baseline="-2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2455750" y="1835925"/>
            <a:ext cx="14556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Context parameters 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endParaRPr sz="3000" baseline="-2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4263825" y="1727725"/>
            <a:ext cx="45684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lang="en" sz="1800">
                <a:solidFill>
                  <a:srgbClr val="FF99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, 𝜃</a:t>
            </a:r>
            <a:r>
              <a:rPr lang="en" sz="1800" baseline="-25000"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is adapted to each task.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lang="en" sz="1800">
                <a:solidFill>
                  <a:srgbClr val="479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CAVIA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, only 𝜙 is adapted to each task.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 remain fixed at adaptation time.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/>
          <p:nvPr/>
        </p:nvSpPr>
        <p:spPr>
          <a:xfrm>
            <a:off x="410750" y="1817450"/>
            <a:ext cx="3471600" cy="25650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Method Overview</a:t>
            </a:r>
            <a:endParaRPr b="1"/>
          </a:p>
        </p:txBody>
      </p:sp>
      <p:sp>
        <p:nvSpPr>
          <p:cNvPr id="172" name="Google Shape;17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C</a:t>
            </a:r>
            <a:r>
              <a:rPr lang="en"/>
              <a:t>ontext </a:t>
            </a:r>
            <a:r>
              <a:rPr lang="en" b="1" u="sng"/>
              <a:t>a</a:t>
            </a:r>
            <a:r>
              <a:rPr lang="en"/>
              <a:t>daptation </a:t>
            </a:r>
            <a:r>
              <a:rPr lang="en" b="1" u="sng"/>
              <a:t>via</a:t>
            </a:r>
            <a:r>
              <a:rPr lang="en"/>
              <a:t> meta-learning </a:t>
            </a:r>
            <a:r>
              <a:rPr lang="en" b="1"/>
              <a:t>(</a:t>
            </a:r>
            <a:r>
              <a:rPr lang="en" b="1" u="sng"/>
              <a:t>CAVIA</a:t>
            </a:r>
            <a:r>
              <a:rPr lang="en" b="1"/>
              <a:t>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410750" y="2084325"/>
            <a:ext cx="14556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Model parameters 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3000" baseline="-25000"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endParaRPr sz="3000" baseline="-2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74" name="Google Shape;174;p28"/>
          <p:cNvCxnSpPr/>
          <p:nvPr/>
        </p:nvCxnSpPr>
        <p:spPr>
          <a:xfrm rot="10800000" flipH="1">
            <a:off x="1718050" y="2529875"/>
            <a:ext cx="737700" cy="534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28"/>
          <p:cNvCxnSpPr/>
          <p:nvPr/>
        </p:nvCxnSpPr>
        <p:spPr>
          <a:xfrm>
            <a:off x="1718050" y="3064475"/>
            <a:ext cx="737700" cy="534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Google Shape;176;p28"/>
          <p:cNvSpPr txBox="1"/>
          <p:nvPr/>
        </p:nvSpPr>
        <p:spPr>
          <a:xfrm>
            <a:off x="2455750" y="3157125"/>
            <a:ext cx="14556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Shared parameters 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endParaRPr sz="3000" baseline="-2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2455750" y="1835925"/>
            <a:ext cx="14556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Context parameters 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endParaRPr sz="3000" baseline="-2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4263825" y="1727725"/>
            <a:ext cx="45684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lang="en" sz="1800">
                <a:solidFill>
                  <a:srgbClr val="FF99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, 𝜃</a:t>
            </a:r>
            <a:r>
              <a:rPr lang="en" sz="1800" baseline="-25000"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is adapted to each task.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lang="en" sz="1800">
                <a:solidFill>
                  <a:srgbClr val="479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CAVIA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, only 𝜙 is adapted to each task.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 remain fixed at adaptation time.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4263825" y="3166000"/>
            <a:ext cx="45684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lang="en" sz="1800">
                <a:solidFill>
                  <a:srgbClr val="FF99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, 𝜃</a:t>
            </a:r>
            <a:r>
              <a:rPr lang="en" sz="1800" baseline="-25000"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is meta-learned to maximize performance of adapted 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MAML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lang="en" sz="1800">
                <a:solidFill>
                  <a:srgbClr val="479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CAVIA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is meta-learned to maximize performance of fixed 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 with 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adapted 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𝜙 is not meta-learned; it is initialized to 𝜙</a:t>
            </a:r>
            <a:r>
              <a:rPr lang="en" sz="1800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9900"/>
                </a:solidFill>
              </a:rPr>
              <a:t>MAML</a:t>
            </a:r>
            <a:r>
              <a:rPr lang="en" b="1"/>
              <a:t> for Supervised Learning</a:t>
            </a:r>
            <a:endParaRPr b="1"/>
          </a:p>
        </p:txBody>
      </p:sp>
      <p:sp>
        <p:nvSpPr>
          <p:cNvPr id="185" name="Google Shape;185;p29"/>
          <p:cNvSpPr txBox="1">
            <a:spLocks noGrp="1"/>
          </p:cNvSpPr>
          <p:nvPr>
            <p:ph type="body" idx="1"/>
          </p:nvPr>
        </p:nvSpPr>
        <p:spPr>
          <a:xfrm>
            <a:off x="311700" y="1117975"/>
            <a:ext cx="8520600" cy="29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Initialize </a:t>
            </a:r>
            <a:r>
              <a:rPr lang="en" dirty="0">
                <a:solidFill>
                  <a:schemeClr val="dk1"/>
                </a:solidFill>
              </a:rPr>
              <a:t>𝜃 randomly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for</a:t>
            </a:r>
            <a:r>
              <a:rPr lang="en" dirty="0"/>
              <a:t> iteration 1, 2, 3, … </a:t>
            </a:r>
            <a:r>
              <a:rPr lang="en" b="1" dirty="0"/>
              <a:t>do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Sample batch of tasks                     where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</a:t>
            </a:r>
            <a:r>
              <a:rPr lang="en" b="1" dirty="0"/>
              <a:t>for</a:t>
            </a:r>
            <a:r>
              <a:rPr lang="en" dirty="0"/>
              <a:t> </a:t>
            </a:r>
            <a:r>
              <a:rPr lang="en" b="1" dirty="0"/>
              <a:t>all        </a:t>
            </a:r>
            <a:r>
              <a:rPr lang="en" dirty="0"/>
              <a:t>     </a:t>
            </a:r>
            <a:r>
              <a:rPr lang="en" b="1" dirty="0"/>
              <a:t>do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</a:t>
            </a:r>
            <a:r>
              <a:rPr lang="en" b="1" dirty="0"/>
              <a:t>end for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end for</a:t>
            </a:r>
            <a:endParaRPr b="1" dirty="0"/>
          </a:p>
        </p:txBody>
      </p:sp>
      <p:sp>
        <p:nvSpPr>
          <p:cNvPr id="186" name="Google Shape;186;p2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4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         be a distribution over tasks, 𝛼 and 𝛽 be step sizes.</a:t>
            </a:r>
            <a:endParaRPr b="1"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3">
            <a:alphaModFix/>
          </a:blip>
          <a:srcRect l="68740" t="31091" b="60289"/>
          <a:stretch/>
        </p:blipFill>
        <p:spPr>
          <a:xfrm>
            <a:off x="735950" y="1153125"/>
            <a:ext cx="554425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 rotWithShape="1">
          <a:blip r:embed="rId3">
            <a:alphaModFix/>
          </a:blip>
          <a:srcRect b="89892"/>
          <a:stretch/>
        </p:blipFill>
        <p:spPr>
          <a:xfrm>
            <a:off x="2050142" y="2763474"/>
            <a:ext cx="1773601" cy="33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/>
          <p:cNvPicPr preferRelativeResize="0"/>
          <p:nvPr/>
        </p:nvPicPr>
        <p:blipFill rotWithShape="1">
          <a:blip r:embed="rId3">
            <a:alphaModFix/>
          </a:blip>
          <a:srcRect l="60853" t="60834" b="30545"/>
          <a:stretch/>
        </p:blipFill>
        <p:spPr>
          <a:xfrm>
            <a:off x="2012917" y="2445662"/>
            <a:ext cx="694300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l="30099" t="74113" b="13190"/>
          <a:stretch/>
        </p:blipFill>
        <p:spPr>
          <a:xfrm>
            <a:off x="3592501" y="2119599"/>
            <a:ext cx="1239724" cy="42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9"/>
          <p:cNvPicPr preferRelativeResize="0"/>
          <p:nvPr/>
        </p:nvPicPr>
        <p:blipFill rotWithShape="1">
          <a:blip r:embed="rId3">
            <a:alphaModFix/>
          </a:blip>
          <a:srcRect l="62580" t="91379"/>
          <a:stretch/>
        </p:blipFill>
        <p:spPr>
          <a:xfrm>
            <a:off x="5717509" y="2191849"/>
            <a:ext cx="663675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9"/>
          <p:cNvPicPr preferRelativeResize="0"/>
          <p:nvPr/>
        </p:nvPicPr>
        <p:blipFill rotWithShape="1">
          <a:blip r:embed="rId4">
            <a:alphaModFix/>
          </a:blip>
          <a:srcRect l="4924" t="51836" b="25166"/>
          <a:stretch/>
        </p:blipFill>
        <p:spPr>
          <a:xfrm>
            <a:off x="1290375" y="4043575"/>
            <a:ext cx="4485877" cy="6549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29"/>
          <p:cNvPicPr preferRelativeResize="0"/>
          <p:nvPr/>
        </p:nvPicPr>
        <p:blipFill rotWithShape="1">
          <a:blip r:embed="rId4">
            <a:alphaModFix/>
          </a:blip>
          <a:srcRect l="11590" t="1448" b="75553"/>
          <a:stretch/>
        </p:blipFill>
        <p:spPr>
          <a:xfrm>
            <a:off x="2053634" y="3088422"/>
            <a:ext cx="4171399" cy="6549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790FF"/>
                </a:solidFill>
              </a:rPr>
              <a:t>CAVIA</a:t>
            </a:r>
            <a:r>
              <a:rPr lang="en" b="1"/>
              <a:t> for Supervised Learning</a:t>
            </a:r>
            <a:endParaRPr b="1"/>
          </a:p>
        </p:txBody>
      </p:sp>
      <p:sp>
        <p:nvSpPr>
          <p:cNvPr id="199" name="Google Shape;199;p30"/>
          <p:cNvSpPr txBox="1">
            <a:spLocks noGrp="1"/>
          </p:cNvSpPr>
          <p:nvPr>
            <p:ph type="body" idx="1"/>
          </p:nvPr>
        </p:nvSpPr>
        <p:spPr>
          <a:xfrm>
            <a:off x="311700" y="1117975"/>
            <a:ext cx="8520600" cy="29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Initialize </a:t>
            </a:r>
            <a:r>
              <a:rPr lang="en" dirty="0">
                <a:solidFill>
                  <a:schemeClr val="dk1"/>
                </a:solidFill>
              </a:rPr>
              <a:t>𝜃 randomly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for</a:t>
            </a:r>
            <a:r>
              <a:rPr lang="en" dirty="0"/>
              <a:t> iteration 1, 2, 3, … </a:t>
            </a:r>
            <a:r>
              <a:rPr lang="en" b="1" dirty="0"/>
              <a:t>do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Sample batch of tasks                     where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</a:t>
            </a:r>
            <a:r>
              <a:rPr lang="en" b="1" dirty="0"/>
              <a:t>for</a:t>
            </a:r>
            <a:r>
              <a:rPr lang="en" dirty="0"/>
              <a:t> </a:t>
            </a:r>
            <a:r>
              <a:rPr lang="en" b="1" dirty="0"/>
              <a:t>all        </a:t>
            </a:r>
            <a:r>
              <a:rPr lang="en" dirty="0"/>
              <a:t>     </a:t>
            </a:r>
            <a:r>
              <a:rPr lang="en" b="1" dirty="0"/>
              <a:t>do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                          ,  initialize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</a:t>
            </a:r>
            <a:r>
              <a:rPr lang="en" b="1" dirty="0"/>
              <a:t>end for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end for</a:t>
            </a:r>
            <a:endParaRPr b="1" dirty="0"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4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Let         be a distribution over tasks, 𝛼 and 𝛽 be step sizes.</a:t>
            </a:r>
            <a:endParaRPr b="1"/>
          </a:p>
        </p:txBody>
      </p:sp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l="68740" t="31091" b="60289"/>
          <a:stretch/>
        </p:blipFill>
        <p:spPr>
          <a:xfrm>
            <a:off x="735950" y="1153125"/>
            <a:ext cx="554425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0"/>
          <p:cNvPicPr preferRelativeResize="0"/>
          <p:nvPr/>
        </p:nvPicPr>
        <p:blipFill rotWithShape="1">
          <a:blip r:embed="rId3">
            <a:alphaModFix/>
          </a:blip>
          <a:srcRect b="89892"/>
          <a:stretch/>
        </p:blipFill>
        <p:spPr>
          <a:xfrm>
            <a:off x="2041792" y="2705294"/>
            <a:ext cx="1773601" cy="33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/>
          <p:cNvPicPr preferRelativeResize="0"/>
          <p:nvPr/>
        </p:nvPicPr>
        <p:blipFill rotWithShape="1">
          <a:blip r:embed="rId3">
            <a:alphaModFix/>
          </a:blip>
          <a:srcRect l="60853" t="60834" b="30545"/>
          <a:stretch/>
        </p:blipFill>
        <p:spPr>
          <a:xfrm>
            <a:off x="2012917" y="2445662"/>
            <a:ext cx="694300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l="30099" t="74113" b="13190"/>
          <a:stretch/>
        </p:blipFill>
        <p:spPr>
          <a:xfrm>
            <a:off x="3193642" y="2109304"/>
            <a:ext cx="1239724" cy="42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 l="62580" t="91379"/>
          <a:stretch/>
        </p:blipFill>
        <p:spPr>
          <a:xfrm>
            <a:off x="5158333" y="2177167"/>
            <a:ext cx="663675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 rotWithShape="1">
          <a:blip r:embed="rId4">
            <a:alphaModFix/>
          </a:blip>
          <a:srcRect l="3512" t="26628" b="50373"/>
          <a:stretch/>
        </p:blipFill>
        <p:spPr>
          <a:xfrm>
            <a:off x="2072018" y="3131110"/>
            <a:ext cx="4552401" cy="654900"/>
          </a:xfrm>
          <a:prstGeom prst="rect">
            <a:avLst/>
          </a:prstGeom>
          <a:noFill/>
          <a:ln w="19050" cap="flat" cmpd="sng">
            <a:solidFill>
              <a:srgbClr val="4790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7" name="Google Shape;207;p30"/>
          <p:cNvPicPr preferRelativeResize="0"/>
          <p:nvPr/>
        </p:nvPicPr>
        <p:blipFill rotWithShape="1">
          <a:blip r:embed="rId3">
            <a:alphaModFix/>
          </a:blip>
          <a:srcRect l="60853" t="15537" b="74354"/>
          <a:stretch/>
        </p:blipFill>
        <p:spPr>
          <a:xfrm>
            <a:off x="4936567" y="2696758"/>
            <a:ext cx="694300" cy="3365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/>
          <p:nvPr/>
        </p:nvSpPr>
        <p:spPr>
          <a:xfrm>
            <a:off x="3976568" y="2668509"/>
            <a:ext cx="1714500" cy="374400"/>
          </a:xfrm>
          <a:prstGeom prst="rect">
            <a:avLst/>
          </a:prstGeom>
          <a:noFill/>
          <a:ln w="19050" cap="flat" cmpd="sng">
            <a:solidFill>
              <a:srgbClr val="47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 rotWithShape="1">
          <a:blip r:embed="rId5">
            <a:alphaModFix/>
          </a:blip>
          <a:srcRect t="76258" r="911" b="1582"/>
          <a:stretch/>
        </p:blipFill>
        <p:spPr>
          <a:xfrm>
            <a:off x="1310863" y="4012700"/>
            <a:ext cx="4761000" cy="654901"/>
          </a:xfrm>
          <a:prstGeom prst="rect">
            <a:avLst/>
          </a:prstGeom>
          <a:noFill/>
          <a:ln w="19050" cap="flat" cmpd="sng">
            <a:solidFill>
              <a:srgbClr val="4790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body" idx="1"/>
          </p:nvPr>
        </p:nvSpPr>
        <p:spPr>
          <a:xfrm>
            <a:off x="311700" y="1117975"/>
            <a:ext cx="8520600" cy="29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Initialize </a:t>
            </a:r>
            <a:r>
              <a:rPr lang="en" dirty="0">
                <a:solidFill>
                  <a:schemeClr val="dk1"/>
                </a:solidFill>
              </a:rPr>
              <a:t>𝜃 randomly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for</a:t>
            </a:r>
            <a:r>
              <a:rPr lang="en" dirty="0"/>
              <a:t> iteration 1, 2, 3, … </a:t>
            </a:r>
            <a:r>
              <a:rPr lang="en" b="1" dirty="0"/>
              <a:t>do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Sample batch of tasks                     where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</a:t>
            </a:r>
            <a:r>
              <a:rPr lang="en" b="1" dirty="0"/>
              <a:t>for</a:t>
            </a:r>
            <a:r>
              <a:rPr lang="en" dirty="0"/>
              <a:t> </a:t>
            </a:r>
            <a:r>
              <a:rPr lang="en" b="1" dirty="0"/>
              <a:t>all        </a:t>
            </a:r>
            <a:r>
              <a:rPr lang="en" dirty="0"/>
              <a:t>     </a:t>
            </a:r>
            <a:r>
              <a:rPr lang="en" b="1" dirty="0"/>
              <a:t>do</a:t>
            </a:r>
            <a:endParaRPr dirty="0"/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Collect rollout            using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Collect rollout          using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</a:t>
            </a:r>
            <a:r>
              <a:rPr lang="en" b="1" dirty="0"/>
              <a:t>end for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end for</a:t>
            </a:r>
            <a:endParaRPr b="1" dirty="0"/>
          </a:p>
        </p:txBody>
      </p:sp>
      <p:pic>
        <p:nvPicPr>
          <p:cNvPr id="215" name="Google Shape;215;p31"/>
          <p:cNvPicPr preferRelativeResize="0"/>
          <p:nvPr/>
        </p:nvPicPr>
        <p:blipFill rotWithShape="1">
          <a:blip r:embed="rId3">
            <a:alphaModFix/>
          </a:blip>
          <a:srcRect l="90486" t="19206" r="-6430" b="72494"/>
          <a:stretch/>
        </p:blipFill>
        <p:spPr>
          <a:xfrm>
            <a:off x="4146942" y="2752525"/>
            <a:ext cx="554425" cy="28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9900"/>
                </a:solidFill>
              </a:rPr>
              <a:t>MAML</a:t>
            </a:r>
            <a:r>
              <a:rPr lang="en" b="1"/>
              <a:t> for Reinforcement Learning</a:t>
            </a:r>
            <a:endParaRPr b="1"/>
          </a:p>
        </p:txBody>
      </p:sp>
      <p:sp>
        <p:nvSpPr>
          <p:cNvPr id="217" name="Google Shape;217;p3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4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Let         be a distribution over tasks, 𝛼 and 𝛽 be step sizes.</a:t>
            </a:r>
            <a:endParaRPr b="1"/>
          </a:p>
        </p:txBody>
      </p:sp>
      <p:pic>
        <p:nvPicPr>
          <p:cNvPr id="218" name="Google Shape;218;p31"/>
          <p:cNvPicPr preferRelativeResize="0"/>
          <p:nvPr/>
        </p:nvPicPr>
        <p:blipFill rotWithShape="1">
          <a:blip r:embed="rId4">
            <a:alphaModFix/>
          </a:blip>
          <a:srcRect l="68740" t="31091" b="60289"/>
          <a:stretch/>
        </p:blipFill>
        <p:spPr>
          <a:xfrm>
            <a:off x="735950" y="1153125"/>
            <a:ext cx="554425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 rotWithShape="1">
          <a:blip r:embed="rId4">
            <a:alphaModFix/>
          </a:blip>
          <a:srcRect l="60853" t="60834" b="30545"/>
          <a:stretch/>
        </p:blipFill>
        <p:spPr>
          <a:xfrm>
            <a:off x="1972398" y="2447830"/>
            <a:ext cx="694300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 rotWithShape="1">
          <a:blip r:embed="rId4">
            <a:alphaModFix/>
          </a:blip>
          <a:srcRect l="30099" t="74113" b="13190"/>
          <a:stretch/>
        </p:blipFill>
        <p:spPr>
          <a:xfrm>
            <a:off x="3193642" y="2109304"/>
            <a:ext cx="1239724" cy="42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1"/>
          <p:cNvPicPr preferRelativeResize="0"/>
          <p:nvPr/>
        </p:nvPicPr>
        <p:blipFill rotWithShape="1">
          <a:blip r:embed="rId4">
            <a:alphaModFix/>
          </a:blip>
          <a:srcRect l="62580" t="91379"/>
          <a:stretch/>
        </p:blipFill>
        <p:spPr>
          <a:xfrm>
            <a:off x="5158333" y="2177167"/>
            <a:ext cx="663675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1"/>
          <p:cNvPicPr preferRelativeResize="0"/>
          <p:nvPr/>
        </p:nvPicPr>
        <p:blipFill rotWithShape="1">
          <a:blip r:embed="rId3">
            <a:alphaModFix/>
          </a:blip>
          <a:srcRect l="24823" t="68020" b="21764"/>
          <a:stretch/>
        </p:blipFill>
        <p:spPr>
          <a:xfrm>
            <a:off x="2283678" y="3046850"/>
            <a:ext cx="2614099" cy="3532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3" name="Google Shape;223;p31"/>
          <p:cNvPicPr preferRelativeResize="0"/>
          <p:nvPr/>
        </p:nvPicPr>
        <p:blipFill rotWithShape="1">
          <a:blip r:embed="rId3">
            <a:alphaModFix/>
          </a:blip>
          <a:srcRect l="64560" t="3260" r="19494" b="88440"/>
          <a:stretch/>
        </p:blipFill>
        <p:spPr>
          <a:xfrm>
            <a:off x="2834042" y="2723092"/>
            <a:ext cx="554425" cy="2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1"/>
          <p:cNvPicPr preferRelativeResize="0"/>
          <p:nvPr/>
        </p:nvPicPr>
        <p:blipFill rotWithShape="1">
          <a:blip r:embed="rId3">
            <a:alphaModFix/>
          </a:blip>
          <a:srcRect l="5374" t="81502" b="994"/>
          <a:stretch/>
        </p:blipFill>
        <p:spPr>
          <a:xfrm>
            <a:off x="838950" y="4000875"/>
            <a:ext cx="3290550" cy="605251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5" name="Google Shape;225;p31"/>
          <p:cNvPicPr preferRelativeResize="0"/>
          <p:nvPr/>
        </p:nvPicPr>
        <p:blipFill rotWithShape="1">
          <a:blip r:embed="rId3">
            <a:alphaModFix/>
          </a:blip>
          <a:srcRect l="84055" t="3260" b="88440"/>
          <a:stretch/>
        </p:blipFill>
        <p:spPr>
          <a:xfrm>
            <a:off x="3680669" y="3439813"/>
            <a:ext cx="554425" cy="2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1"/>
          <p:cNvPicPr preferRelativeResize="0"/>
          <p:nvPr/>
        </p:nvPicPr>
        <p:blipFill rotWithShape="1">
          <a:blip r:embed="rId5">
            <a:alphaModFix/>
          </a:blip>
          <a:srcRect l="86598" t="17944" b="74521"/>
          <a:stretch/>
        </p:blipFill>
        <p:spPr>
          <a:xfrm>
            <a:off x="4904083" y="3456650"/>
            <a:ext cx="469999" cy="2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>
            <a:spLocks noGrp="1"/>
          </p:cNvSpPr>
          <p:nvPr>
            <p:ph type="body" idx="1"/>
          </p:nvPr>
        </p:nvSpPr>
        <p:spPr>
          <a:xfrm>
            <a:off x="311700" y="1117975"/>
            <a:ext cx="8520600" cy="29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Initialize </a:t>
            </a:r>
            <a:r>
              <a:rPr lang="en" dirty="0">
                <a:solidFill>
                  <a:schemeClr val="dk1"/>
                </a:solidFill>
              </a:rPr>
              <a:t>𝜃 randomly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for</a:t>
            </a:r>
            <a:r>
              <a:rPr lang="en" dirty="0"/>
              <a:t> iteration 1, 2, 3, … </a:t>
            </a:r>
            <a:r>
              <a:rPr lang="en" b="1" dirty="0"/>
              <a:t>do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Sample batch of tasks                     where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</a:t>
            </a:r>
            <a:r>
              <a:rPr lang="en" b="1" dirty="0"/>
              <a:t>for</a:t>
            </a:r>
            <a:r>
              <a:rPr lang="en" dirty="0"/>
              <a:t> </a:t>
            </a:r>
            <a:r>
              <a:rPr lang="en" b="1" dirty="0"/>
              <a:t>all        </a:t>
            </a:r>
            <a:r>
              <a:rPr lang="en" dirty="0"/>
              <a:t>     </a:t>
            </a:r>
            <a:r>
              <a:rPr lang="en" b="1" dirty="0"/>
              <a:t>do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Initialize </a:t>
            </a:r>
            <a:endParaRPr dirty="0"/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Collect rollout            using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Collect rollout          using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</a:t>
            </a:r>
            <a:r>
              <a:rPr lang="en" b="1" dirty="0"/>
              <a:t>end for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end for</a:t>
            </a:r>
            <a:endParaRPr b="1" dirty="0"/>
          </a:p>
        </p:txBody>
      </p:sp>
      <p:pic>
        <p:nvPicPr>
          <p:cNvPr id="232" name="Google Shape;232;p32"/>
          <p:cNvPicPr preferRelativeResize="0"/>
          <p:nvPr/>
        </p:nvPicPr>
        <p:blipFill rotWithShape="1">
          <a:blip r:embed="rId3">
            <a:alphaModFix/>
          </a:blip>
          <a:srcRect l="51053" t="19206" r="33002" b="72494"/>
          <a:stretch/>
        </p:blipFill>
        <p:spPr>
          <a:xfrm>
            <a:off x="4146942" y="3027892"/>
            <a:ext cx="554425" cy="28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790FF"/>
                </a:solidFill>
              </a:rPr>
              <a:t>CAVIA</a:t>
            </a:r>
            <a:r>
              <a:rPr lang="en" b="1"/>
              <a:t> for Reinforcement Learning</a:t>
            </a:r>
            <a:endParaRPr b="1"/>
          </a:p>
        </p:txBody>
      </p:sp>
      <p:sp>
        <p:nvSpPr>
          <p:cNvPr id="234" name="Google Shape;234;p3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4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Let         be a distribution over tasks, 𝛼 and 𝛽 be step sizes.</a:t>
            </a:r>
            <a:endParaRPr b="1"/>
          </a:p>
        </p:txBody>
      </p:sp>
      <p:pic>
        <p:nvPicPr>
          <p:cNvPr id="235" name="Google Shape;235;p32"/>
          <p:cNvPicPr preferRelativeResize="0"/>
          <p:nvPr/>
        </p:nvPicPr>
        <p:blipFill rotWithShape="1">
          <a:blip r:embed="rId4">
            <a:alphaModFix/>
          </a:blip>
          <a:srcRect l="68740" t="31091" b="60289"/>
          <a:stretch/>
        </p:blipFill>
        <p:spPr>
          <a:xfrm>
            <a:off x="735950" y="1153125"/>
            <a:ext cx="554425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 rotWithShape="1">
          <a:blip r:embed="rId4">
            <a:alphaModFix/>
          </a:blip>
          <a:srcRect l="60853" t="60834" b="30545"/>
          <a:stretch/>
        </p:blipFill>
        <p:spPr>
          <a:xfrm>
            <a:off x="2007858" y="2449142"/>
            <a:ext cx="694300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2"/>
          <p:cNvPicPr preferRelativeResize="0"/>
          <p:nvPr/>
        </p:nvPicPr>
        <p:blipFill rotWithShape="1">
          <a:blip r:embed="rId4">
            <a:alphaModFix/>
          </a:blip>
          <a:srcRect l="30099" t="74113" b="13190"/>
          <a:stretch/>
        </p:blipFill>
        <p:spPr>
          <a:xfrm>
            <a:off x="3193642" y="2109304"/>
            <a:ext cx="1239724" cy="42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2"/>
          <p:cNvPicPr preferRelativeResize="0"/>
          <p:nvPr/>
        </p:nvPicPr>
        <p:blipFill rotWithShape="1">
          <a:blip r:embed="rId4">
            <a:alphaModFix/>
          </a:blip>
          <a:srcRect l="62580" t="91379"/>
          <a:stretch/>
        </p:blipFill>
        <p:spPr>
          <a:xfrm>
            <a:off x="5158333" y="2177167"/>
            <a:ext cx="663675" cy="2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2"/>
          <p:cNvPicPr preferRelativeResize="0"/>
          <p:nvPr/>
        </p:nvPicPr>
        <p:blipFill rotWithShape="1">
          <a:blip r:embed="rId3">
            <a:alphaModFix/>
          </a:blip>
          <a:srcRect l="12838" t="32343" b="57441"/>
          <a:stretch/>
        </p:blipFill>
        <p:spPr>
          <a:xfrm>
            <a:off x="2238266" y="3322217"/>
            <a:ext cx="3030876" cy="353200"/>
          </a:xfrm>
          <a:prstGeom prst="rect">
            <a:avLst/>
          </a:prstGeom>
          <a:noFill/>
          <a:ln w="19050" cap="flat" cmpd="sng">
            <a:solidFill>
              <a:srgbClr val="4790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0" name="Google Shape;240;p32"/>
          <p:cNvPicPr preferRelativeResize="0"/>
          <p:nvPr/>
        </p:nvPicPr>
        <p:blipFill rotWithShape="1">
          <a:blip r:embed="rId4">
            <a:alphaModFix/>
          </a:blip>
          <a:srcRect l="60853" t="15537" b="74354"/>
          <a:stretch/>
        </p:blipFill>
        <p:spPr>
          <a:xfrm>
            <a:off x="3119219" y="2701966"/>
            <a:ext cx="694300" cy="33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2"/>
          <p:cNvPicPr preferRelativeResize="0"/>
          <p:nvPr/>
        </p:nvPicPr>
        <p:blipFill rotWithShape="1">
          <a:blip r:embed="rId3">
            <a:alphaModFix/>
          </a:blip>
          <a:srcRect l="64560" t="3260" r="19494" b="88440"/>
          <a:stretch/>
        </p:blipFill>
        <p:spPr>
          <a:xfrm>
            <a:off x="2834042" y="2998458"/>
            <a:ext cx="554425" cy="2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2"/>
          <p:cNvPicPr preferRelativeResize="0"/>
          <p:nvPr/>
        </p:nvPicPr>
        <p:blipFill rotWithShape="1">
          <a:blip r:embed="rId3">
            <a:alphaModFix/>
          </a:blip>
          <a:srcRect l="1613" t="45297" b="37198"/>
          <a:stretch/>
        </p:blipFill>
        <p:spPr>
          <a:xfrm>
            <a:off x="860538" y="4276242"/>
            <a:ext cx="3421374" cy="605251"/>
          </a:xfrm>
          <a:prstGeom prst="rect">
            <a:avLst/>
          </a:prstGeom>
          <a:noFill/>
          <a:ln w="19050" cap="flat" cmpd="sng">
            <a:solidFill>
              <a:srgbClr val="4790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3" name="Google Shape;243;p32"/>
          <p:cNvSpPr/>
          <p:nvPr/>
        </p:nvSpPr>
        <p:spPr>
          <a:xfrm>
            <a:off x="2171674" y="2714825"/>
            <a:ext cx="1714500" cy="287100"/>
          </a:xfrm>
          <a:prstGeom prst="rect">
            <a:avLst/>
          </a:prstGeom>
          <a:noFill/>
          <a:ln w="19050" cap="flat" cmpd="sng">
            <a:solidFill>
              <a:srgbClr val="47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32"/>
          <p:cNvPicPr preferRelativeResize="0"/>
          <p:nvPr/>
        </p:nvPicPr>
        <p:blipFill rotWithShape="1">
          <a:blip r:embed="rId3">
            <a:alphaModFix/>
          </a:blip>
          <a:srcRect l="84055" t="3260" b="88440"/>
          <a:stretch/>
        </p:blipFill>
        <p:spPr>
          <a:xfrm>
            <a:off x="3646116" y="3726950"/>
            <a:ext cx="554425" cy="2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/>
          <p:cNvPicPr preferRelativeResize="0"/>
          <p:nvPr/>
        </p:nvPicPr>
        <p:blipFill rotWithShape="1">
          <a:blip r:embed="rId3">
            <a:alphaModFix/>
          </a:blip>
          <a:srcRect l="71193" t="19206" r="12862" b="72494"/>
          <a:stretch/>
        </p:blipFill>
        <p:spPr>
          <a:xfrm>
            <a:off x="4912716" y="3756375"/>
            <a:ext cx="554425" cy="28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33"/>
          <p:cNvCxnSpPr>
            <a:stCxn id="251" idx="0"/>
            <a:endCxn id="252" idx="3"/>
          </p:cNvCxnSpPr>
          <p:nvPr/>
        </p:nvCxnSpPr>
        <p:spPr>
          <a:xfrm rot="10800000">
            <a:off x="6096225" y="335222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3" name="Google Shape;253;p33"/>
          <p:cNvCxnSpPr>
            <a:stCxn id="254" idx="3"/>
            <a:endCxn id="252" idx="1"/>
          </p:cNvCxnSpPr>
          <p:nvPr/>
        </p:nvCxnSpPr>
        <p:spPr>
          <a:xfrm>
            <a:off x="4889675" y="3352225"/>
            <a:ext cx="423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5" name="Google Shape;25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Conditioning on Context Parameters</a:t>
            </a:r>
            <a:endParaRPr b="1"/>
          </a:p>
        </p:txBody>
      </p:sp>
      <p:sp>
        <p:nvSpPr>
          <p:cNvPr id="256" name="Google Shape;25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9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lang="en" b="1"/>
              <a:t>Lecture 2</a:t>
            </a:r>
            <a:r>
              <a:rPr lang="en"/>
              <a:t>, we saw some common choices for conditioning.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For fully connected networks, the authors of CAVIA concatenate </a:t>
            </a:r>
            <a:r>
              <a:rPr lang="en">
                <a:solidFill>
                  <a:schemeClr val="dk1"/>
                </a:solidFill>
              </a:rPr>
              <a:t>𝜙</a:t>
            </a:r>
            <a:r>
              <a:rPr lang="en"/>
              <a:t> to the inputs.</a:t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2446775" y="22596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2446775" y="24288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33"/>
          <p:cNvSpPr/>
          <p:nvPr/>
        </p:nvSpPr>
        <p:spPr>
          <a:xfrm>
            <a:off x="2446775" y="25980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1086875" y="30984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1086875" y="32676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1086875" y="34368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3" name="Google Shape;263;p33"/>
          <p:cNvCxnSpPr/>
          <p:nvPr/>
        </p:nvCxnSpPr>
        <p:spPr>
          <a:xfrm>
            <a:off x="1256075" y="3352225"/>
            <a:ext cx="74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4" name="Google Shape;264;p33"/>
          <p:cNvCxnSpPr>
            <a:stCxn id="259" idx="2"/>
          </p:cNvCxnSpPr>
          <p:nvPr/>
        </p:nvCxnSpPr>
        <p:spPr>
          <a:xfrm>
            <a:off x="2531375" y="2767225"/>
            <a:ext cx="0" cy="39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5" name="Google Shape;265;p33"/>
          <p:cNvSpPr txBox="1"/>
          <p:nvPr/>
        </p:nvSpPr>
        <p:spPr>
          <a:xfrm>
            <a:off x="2001575" y="3157225"/>
            <a:ext cx="1059600" cy="3900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concatenate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6" name="Google Shape;266;p33"/>
          <p:cNvSpPr/>
          <p:nvPr/>
        </p:nvSpPr>
        <p:spPr>
          <a:xfrm>
            <a:off x="6408825" y="28446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3"/>
          <p:cNvSpPr/>
          <p:nvPr/>
        </p:nvSpPr>
        <p:spPr>
          <a:xfrm>
            <a:off x="6408825" y="30138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3"/>
          <p:cNvSpPr/>
          <p:nvPr/>
        </p:nvSpPr>
        <p:spPr>
          <a:xfrm>
            <a:off x="6408825" y="31830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3"/>
          <p:cNvSpPr/>
          <p:nvPr/>
        </p:nvSpPr>
        <p:spPr>
          <a:xfrm>
            <a:off x="6408825" y="33522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3"/>
          <p:cNvSpPr/>
          <p:nvPr/>
        </p:nvSpPr>
        <p:spPr>
          <a:xfrm>
            <a:off x="6408825" y="35214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3"/>
          <p:cNvSpPr/>
          <p:nvPr/>
        </p:nvSpPr>
        <p:spPr>
          <a:xfrm>
            <a:off x="6408825" y="36906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3"/>
          <p:cNvSpPr txBox="1"/>
          <p:nvPr/>
        </p:nvSpPr>
        <p:spPr>
          <a:xfrm>
            <a:off x="2058217" y="2255625"/>
            <a:ext cx="3261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endParaRPr/>
          </a:p>
        </p:txBody>
      </p:sp>
      <p:sp>
        <p:nvSpPr>
          <p:cNvPr id="272" name="Google Shape;272;p33"/>
          <p:cNvSpPr txBox="1"/>
          <p:nvPr/>
        </p:nvSpPr>
        <p:spPr>
          <a:xfrm>
            <a:off x="309375" y="3165875"/>
            <a:ext cx="7137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 </a:t>
            </a:r>
            <a:r>
              <a:rPr lang="en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73" name="Google Shape;273;p33"/>
          <p:cNvCxnSpPr>
            <a:stCxn id="265" idx="3"/>
            <a:endCxn id="266" idx="0"/>
          </p:cNvCxnSpPr>
          <p:nvPr/>
        </p:nvCxnSpPr>
        <p:spPr>
          <a:xfrm rot="10800000" flipH="1">
            <a:off x="3061175" y="2844625"/>
            <a:ext cx="3432300" cy="507600"/>
          </a:xfrm>
          <a:prstGeom prst="bentConnector4">
            <a:avLst>
              <a:gd name="adj1" fmla="val 12435"/>
              <a:gd name="adj2" fmla="val 181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4" name="Google Shape;274;p33"/>
          <p:cNvSpPr/>
          <p:nvPr/>
        </p:nvSpPr>
        <p:spPr>
          <a:xfrm rot="-5400000">
            <a:off x="3957675" y="2844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3"/>
          <p:cNvSpPr/>
          <p:nvPr/>
        </p:nvSpPr>
        <p:spPr>
          <a:xfrm rot="-5400000">
            <a:off x="4126875" y="2844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3"/>
          <p:cNvSpPr/>
          <p:nvPr/>
        </p:nvSpPr>
        <p:spPr>
          <a:xfrm rot="-5400000">
            <a:off x="4296075" y="2844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3"/>
          <p:cNvSpPr/>
          <p:nvPr/>
        </p:nvSpPr>
        <p:spPr>
          <a:xfrm rot="-5400000">
            <a:off x="4465275" y="2844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3"/>
          <p:cNvSpPr/>
          <p:nvPr/>
        </p:nvSpPr>
        <p:spPr>
          <a:xfrm rot="-5400000">
            <a:off x="4634475" y="2844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3"/>
          <p:cNvSpPr/>
          <p:nvPr/>
        </p:nvSpPr>
        <p:spPr>
          <a:xfrm rot="-5400000">
            <a:off x="4803675" y="2844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3"/>
          <p:cNvSpPr/>
          <p:nvPr/>
        </p:nvSpPr>
        <p:spPr>
          <a:xfrm rot="-5400000">
            <a:off x="3959075" y="3013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3"/>
          <p:cNvSpPr/>
          <p:nvPr/>
        </p:nvSpPr>
        <p:spPr>
          <a:xfrm rot="-5400000">
            <a:off x="4128275" y="3013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3"/>
          <p:cNvSpPr/>
          <p:nvPr/>
        </p:nvSpPr>
        <p:spPr>
          <a:xfrm rot="-5400000">
            <a:off x="4297475" y="3013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3"/>
          <p:cNvSpPr/>
          <p:nvPr/>
        </p:nvSpPr>
        <p:spPr>
          <a:xfrm rot="-5400000">
            <a:off x="4466675" y="3013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3"/>
          <p:cNvSpPr/>
          <p:nvPr/>
        </p:nvSpPr>
        <p:spPr>
          <a:xfrm rot="-5400000">
            <a:off x="4635875" y="3013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3"/>
          <p:cNvSpPr/>
          <p:nvPr/>
        </p:nvSpPr>
        <p:spPr>
          <a:xfrm rot="-5400000">
            <a:off x="4805075" y="3013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3"/>
          <p:cNvSpPr/>
          <p:nvPr/>
        </p:nvSpPr>
        <p:spPr>
          <a:xfrm rot="-5400000">
            <a:off x="3959075" y="3183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3"/>
          <p:cNvSpPr/>
          <p:nvPr/>
        </p:nvSpPr>
        <p:spPr>
          <a:xfrm rot="-5400000">
            <a:off x="4128275" y="3183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3"/>
          <p:cNvSpPr/>
          <p:nvPr/>
        </p:nvSpPr>
        <p:spPr>
          <a:xfrm rot="-5400000">
            <a:off x="4297475" y="3183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3"/>
          <p:cNvSpPr/>
          <p:nvPr/>
        </p:nvSpPr>
        <p:spPr>
          <a:xfrm rot="-5400000">
            <a:off x="4466675" y="3183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3"/>
          <p:cNvSpPr/>
          <p:nvPr/>
        </p:nvSpPr>
        <p:spPr>
          <a:xfrm rot="-5400000">
            <a:off x="4635875" y="3183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3"/>
          <p:cNvSpPr/>
          <p:nvPr/>
        </p:nvSpPr>
        <p:spPr>
          <a:xfrm rot="-5400000">
            <a:off x="4805075" y="3183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3"/>
          <p:cNvSpPr/>
          <p:nvPr/>
        </p:nvSpPr>
        <p:spPr>
          <a:xfrm rot="-5400000">
            <a:off x="3959075" y="3352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3"/>
          <p:cNvSpPr/>
          <p:nvPr/>
        </p:nvSpPr>
        <p:spPr>
          <a:xfrm rot="-5400000">
            <a:off x="4128275" y="3352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3"/>
          <p:cNvSpPr/>
          <p:nvPr/>
        </p:nvSpPr>
        <p:spPr>
          <a:xfrm rot="-5400000">
            <a:off x="4297475" y="3352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3"/>
          <p:cNvSpPr/>
          <p:nvPr/>
        </p:nvSpPr>
        <p:spPr>
          <a:xfrm rot="-5400000">
            <a:off x="4466675" y="3352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3"/>
          <p:cNvSpPr/>
          <p:nvPr/>
        </p:nvSpPr>
        <p:spPr>
          <a:xfrm rot="-5400000">
            <a:off x="4635875" y="3352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33"/>
          <p:cNvSpPr/>
          <p:nvPr/>
        </p:nvSpPr>
        <p:spPr>
          <a:xfrm rot="-5400000">
            <a:off x="4805075" y="3352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3"/>
          <p:cNvSpPr/>
          <p:nvPr/>
        </p:nvSpPr>
        <p:spPr>
          <a:xfrm rot="-5400000">
            <a:off x="3959075" y="3521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3"/>
          <p:cNvSpPr/>
          <p:nvPr/>
        </p:nvSpPr>
        <p:spPr>
          <a:xfrm rot="-5400000">
            <a:off x="4128275" y="3521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3"/>
          <p:cNvSpPr/>
          <p:nvPr/>
        </p:nvSpPr>
        <p:spPr>
          <a:xfrm rot="-5400000">
            <a:off x="4297475" y="3521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3"/>
          <p:cNvSpPr/>
          <p:nvPr/>
        </p:nvSpPr>
        <p:spPr>
          <a:xfrm rot="-5400000">
            <a:off x="4466675" y="3521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3"/>
          <p:cNvSpPr/>
          <p:nvPr/>
        </p:nvSpPr>
        <p:spPr>
          <a:xfrm rot="-5400000">
            <a:off x="4635875" y="3521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3"/>
          <p:cNvSpPr/>
          <p:nvPr/>
        </p:nvSpPr>
        <p:spPr>
          <a:xfrm rot="-5400000">
            <a:off x="4805075" y="3521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3"/>
          <p:cNvSpPr/>
          <p:nvPr/>
        </p:nvSpPr>
        <p:spPr>
          <a:xfrm rot="-5400000">
            <a:off x="3957675" y="3690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3"/>
          <p:cNvSpPr/>
          <p:nvPr/>
        </p:nvSpPr>
        <p:spPr>
          <a:xfrm rot="-5400000">
            <a:off x="4126875" y="3690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3"/>
          <p:cNvSpPr/>
          <p:nvPr/>
        </p:nvSpPr>
        <p:spPr>
          <a:xfrm rot="-5400000">
            <a:off x="4296075" y="3690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3"/>
          <p:cNvSpPr/>
          <p:nvPr/>
        </p:nvSpPr>
        <p:spPr>
          <a:xfrm rot="-5400000">
            <a:off x="4465275" y="3690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3"/>
          <p:cNvSpPr/>
          <p:nvPr/>
        </p:nvSpPr>
        <p:spPr>
          <a:xfrm rot="-5400000">
            <a:off x="4634475" y="3690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3"/>
          <p:cNvSpPr/>
          <p:nvPr/>
        </p:nvSpPr>
        <p:spPr>
          <a:xfrm rot="-5400000">
            <a:off x="4803675" y="3690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3"/>
          <p:cNvSpPr/>
          <p:nvPr/>
        </p:nvSpPr>
        <p:spPr>
          <a:xfrm rot="-5400000">
            <a:off x="3957675" y="3859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3"/>
          <p:cNvSpPr/>
          <p:nvPr/>
        </p:nvSpPr>
        <p:spPr>
          <a:xfrm rot="-5400000">
            <a:off x="4126875" y="3859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"/>
          <p:cNvSpPr/>
          <p:nvPr/>
        </p:nvSpPr>
        <p:spPr>
          <a:xfrm rot="-5400000">
            <a:off x="4296075" y="3859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3"/>
          <p:cNvSpPr/>
          <p:nvPr/>
        </p:nvSpPr>
        <p:spPr>
          <a:xfrm rot="-5400000">
            <a:off x="4465275" y="3859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3"/>
          <p:cNvSpPr/>
          <p:nvPr/>
        </p:nvSpPr>
        <p:spPr>
          <a:xfrm rot="-5400000">
            <a:off x="4634475" y="3859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3"/>
          <p:cNvSpPr/>
          <p:nvPr/>
        </p:nvSpPr>
        <p:spPr>
          <a:xfrm rot="-5400000">
            <a:off x="4803675" y="3859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3"/>
          <p:cNvSpPr/>
          <p:nvPr/>
        </p:nvSpPr>
        <p:spPr>
          <a:xfrm rot="-5400000">
            <a:off x="3957675" y="4029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3"/>
          <p:cNvSpPr/>
          <p:nvPr/>
        </p:nvSpPr>
        <p:spPr>
          <a:xfrm rot="-5400000">
            <a:off x="4126875" y="4029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3"/>
          <p:cNvSpPr/>
          <p:nvPr/>
        </p:nvSpPr>
        <p:spPr>
          <a:xfrm rot="-5400000">
            <a:off x="4296075" y="4029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3"/>
          <p:cNvSpPr/>
          <p:nvPr/>
        </p:nvSpPr>
        <p:spPr>
          <a:xfrm rot="-5400000">
            <a:off x="4465275" y="4029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3"/>
          <p:cNvSpPr/>
          <p:nvPr/>
        </p:nvSpPr>
        <p:spPr>
          <a:xfrm rot="-5400000">
            <a:off x="4634475" y="4029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3"/>
          <p:cNvSpPr/>
          <p:nvPr/>
        </p:nvSpPr>
        <p:spPr>
          <a:xfrm rot="-5400000">
            <a:off x="4803675" y="4029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3"/>
          <p:cNvSpPr txBox="1"/>
          <p:nvPr/>
        </p:nvSpPr>
        <p:spPr>
          <a:xfrm>
            <a:off x="5312675" y="3157225"/>
            <a:ext cx="783600" cy="3900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multiply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1" name="Google Shape;321;p33"/>
          <p:cNvCxnSpPr>
            <a:stCxn id="252" idx="2"/>
          </p:cNvCxnSpPr>
          <p:nvPr/>
        </p:nvCxnSpPr>
        <p:spPr>
          <a:xfrm rot="-5400000" flipH="1">
            <a:off x="6012725" y="3238975"/>
            <a:ext cx="780000" cy="1396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2" name="Google Shape;322;p33"/>
          <p:cNvSpPr txBox="1"/>
          <p:nvPr/>
        </p:nvSpPr>
        <p:spPr>
          <a:xfrm>
            <a:off x="7221275" y="3835825"/>
            <a:ext cx="713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3763125" y="4457375"/>
            <a:ext cx="7322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(1,𝜙)</a:t>
            </a:r>
            <a:endParaRPr i="1" baseline="30000"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4" name="Google Shape;324;p33"/>
          <p:cNvSpPr txBox="1"/>
          <p:nvPr/>
        </p:nvSpPr>
        <p:spPr>
          <a:xfrm>
            <a:off x="4445925" y="4457375"/>
            <a:ext cx="6039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(1,x)</a:t>
            </a:r>
            <a:endParaRPr i="1" baseline="30000"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5" name="Google Shape;325;p33"/>
          <p:cNvSpPr/>
          <p:nvPr/>
        </p:nvSpPr>
        <p:spPr>
          <a:xfrm rot="-5400000">
            <a:off x="4120667" y="4150450"/>
            <a:ext cx="147000" cy="500700"/>
          </a:xfrm>
          <a:prstGeom prst="leftBrace">
            <a:avLst>
              <a:gd name="adj1" fmla="val 8333"/>
              <a:gd name="adj2" fmla="val 500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3"/>
          <p:cNvSpPr/>
          <p:nvPr/>
        </p:nvSpPr>
        <p:spPr>
          <a:xfrm rot="-5400000">
            <a:off x="4660300" y="4150450"/>
            <a:ext cx="147000" cy="500700"/>
          </a:xfrm>
          <a:prstGeom prst="leftBrace">
            <a:avLst>
              <a:gd name="adj1" fmla="val 8333"/>
              <a:gd name="adj2" fmla="val 500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Context Parameter Initialization</a:t>
            </a:r>
            <a:endParaRPr b="1"/>
          </a:p>
        </p:txBody>
      </p:sp>
      <p:sp>
        <p:nvSpPr>
          <p:cNvPr id="332" name="Google Shape;33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1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should </a:t>
            </a:r>
            <a:r>
              <a:rPr lang="en">
                <a:solidFill>
                  <a:schemeClr val="dk1"/>
                </a:solidFill>
              </a:rPr>
              <a:t>𝜙 be initialized? Should 𝜙</a:t>
            </a:r>
            <a:r>
              <a:rPr lang="en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">
                <a:solidFill>
                  <a:schemeClr val="dk1"/>
                </a:solidFill>
              </a:rPr>
              <a:t> be meta-learned?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Suppose 𝜙</a:t>
            </a:r>
            <a:r>
              <a:rPr lang="en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">
                <a:solidFill>
                  <a:schemeClr val="dk1"/>
                </a:solidFill>
              </a:rPr>
              <a:t> are learned in the outer loop.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</a:rPr>
              <a:t>Notice: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3" name="Google Shape;333;p34"/>
          <p:cNvSpPr/>
          <p:nvPr/>
        </p:nvSpPr>
        <p:spPr>
          <a:xfrm>
            <a:off x="2675025" y="28446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4"/>
          <p:cNvSpPr/>
          <p:nvPr/>
        </p:nvSpPr>
        <p:spPr>
          <a:xfrm>
            <a:off x="2675025" y="30138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4"/>
          <p:cNvSpPr/>
          <p:nvPr/>
        </p:nvSpPr>
        <p:spPr>
          <a:xfrm>
            <a:off x="2675025" y="31830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4"/>
          <p:cNvSpPr/>
          <p:nvPr/>
        </p:nvSpPr>
        <p:spPr>
          <a:xfrm rot="-5400000">
            <a:off x="2052675" y="2844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4"/>
          <p:cNvSpPr/>
          <p:nvPr/>
        </p:nvSpPr>
        <p:spPr>
          <a:xfrm rot="-5400000">
            <a:off x="2221875" y="2844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4"/>
          <p:cNvSpPr/>
          <p:nvPr/>
        </p:nvSpPr>
        <p:spPr>
          <a:xfrm rot="-5400000">
            <a:off x="2391075" y="2844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4"/>
          <p:cNvSpPr/>
          <p:nvPr/>
        </p:nvSpPr>
        <p:spPr>
          <a:xfrm rot="-5400000">
            <a:off x="2054075" y="3013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4"/>
          <p:cNvSpPr/>
          <p:nvPr/>
        </p:nvSpPr>
        <p:spPr>
          <a:xfrm rot="-5400000">
            <a:off x="2223275" y="3013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4"/>
          <p:cNvSpPr/>
          <p:nvPr/>
        </p:nvSpPr>
        <p:spPr>
          <a:xfrm rot="-5400000">
            <a:off x="2392475" y="3013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4"/>
          <p:cNvSpPr/>
          <p:nvPr/>
        </p:nvSpPr>
        <p:spPr>
          <a:xfrm rot="-5400000">
            <a:off x="2054075" y="3183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4"/>
          <p:cNvSpPr/>
          <p:nvPr/>
        </p:nvSpPr>
        <p:spPr>
          <a:xfrm rot="-5400000">
            <a:off x="2223275" y="3183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4"/>
          <p:cNvSpPr/>
          <p:nvPr/>
        </p:nvSpPr>
        <p:spPr>
          <a:xfrm rot="-5400000">
            <a:off x="2392475" y="3183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4"/>
          <p:cNvSpPr/>
          <p:nvPr/>
        </p:nvSpPr>
        <p:spPr>
          <a:xfrm rot="-5400000">
            <a:off x="2054075" y="3352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4"/>
          <p:cNvSpPr/>
          <p:nvPr/>
        </p:nvSpPr>
        <p:spPr>
          <a:xfrm rot="-5400000">
            <a:off x="2223275" y="3352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4"/>
          <p:cNvSpPr/>
          <p:nvPr/>
        </p:nvSpPr>
        <p:spPr>
          <a:xfrm rot="-5400000">
            <a:off x="2392475" y="3352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4"/>
          <p:cNvSpPr/>
          <p:nvPr/>
        </p:nvSpPr>
        <p:spPr>
          <a:xfrm rot="-5400000">
            <a:off x="2054075" y="3521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4"/>
          <p:cNvSpPr/>
          <p:nvPr/>
        </p:nvSpPr>
        <p:spPr>
          <a:xfrm rot="-5400000">
            <a:off x="2223275" y="3521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4"/>
          <p:cNvSpPr/>
          <p:nvPr/>
        </p:nvSpPr>
        <p:spPr>
          <a:xfrm rot="-5400000">
            <a:off x="2392475" y="3521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4"/>
          <p:cNvSpPr/>
          <p:nvPr/>
        </p:nvSpPr>
        <p:spPr>
          <a:xfrm rot="-5400000">
            <a:off x="2052675" y="3690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4"/>
          <p:cNvSpPr/>
          <p:nvPr/>
        </p:nvSpPr>
        <p:spPr>
          <a:xfrm rot="-5400000">
            <a:off x="2221875" y="3690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4"/>
          <p:cNvSpPr/>
          <p:nvPr/>
        </p:nvSpPr>
        <p:spPr>
          <a:xfrm rot="-5400000">
            <a:off x="2391075" y="3690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4"/>
          <p:cNvSpPr/>
          <p:nvPr/>
        </p:nvSpPr>
        <p:spPr>
          <a:xfrm rot="-5400000">
            <a:off x="2052675" y="3859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4"/>
          <p:cNvSpPr/>
          <p:nvPr/>
        </p:nvSpPr>
        <p:spPr>
          <a:xfrm rot="-5400000">
            <a:off x="2221875" y="3859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4"/>
          <p:cNvSpPr/>
          <p:nvPr/>
        </p:nvSpPr>
        <p:spPr>
          <a:xfrm rot="-5400000">
            <a:off x="2391075" y="3859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4"/>
          <p:cNvSpPr/>
          <p:nvPr/>
        </p:nvSpPr>
        <p:spPr>
          <a:xfrm rot="-5400000">
            <a:off x="2052675" y="4029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4"/>
          <p:cNvSpPr/>
          <p:nvPr/>
        </p:nvSpPr>
        <p:spPr>
          <a:xfrm rot="-5400000">
            <a:off x="2221875" y="4029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4"/>
          <p:cNvSpPr/>
          <p:nvPr/>
        </p:nvSpPr>
        <p:spPr>
          <a:xfrm rot="-5400000">
            <a:off x="2391075" y="4029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4"/>
          <p:cNvSpPr txBox="1"/>
          <p:nvPr/>
        </p:nvSpPr>
        <p:spPr>
          <a:xfrm>
            <a:off x="2830975" y="2789925"/>
            <a:ext cx="4731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r>
              <a:rPr lang="en" sz="1800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361" name="Google Shape;361;p34"/>
          <p:cNvSpPr/>
          <p:nvPr/>
        </p:nvSpPr>
        <p:spPr>
          <a:xfrm rot="-5400000">
            <a:off x="3795775" y="2834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4"/>
          <p:cNvSpPr/>
          <p:nvPr/>
        </p:nvSpPr>
        <p:spPr>
          <a:xfrm rot="-5400000">
            <a:off x="3797175" y="3003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4"/>
          <p:cNvSpPr/>
          <p:nvPr/>
        </p:nvSpPr>
        <p:spPr>
          <a:xfrm rot="-5400000">
            <a:off x="3797175" y="3172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4"/>
          <p:cNvSpPr txBox="1"/>
          <p:nvPr/>
        </p:nvSpPr>
        <p:spPr>
          <a:xfrm>
            <a:off x="4034199" y="2834025"/>
            <a:ext cx="707225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" sz="1800" i="1" baseline="300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(1,𝜙)</a:t>
            </a:r>
            <a:endParaRPr i="1" baseline="300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baseline="300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5" name="Google Shape;365;p34"/>
          <p:cNvSpPr txBox="1"/>
          <p:nvPr/>
        </p:nvSpPr>
        <p:spPr>
          <a:xfrm>
            <a:off x="3228300" y="2652775"/>
            <a:ext cx="228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34"/>
          <p:cNvSpPr txBox="1"/>
          <p:nvPr/>
        </p:nvSpPr>
        <p:spPr>
          <a:xfrm>
            <a:off x="1333775" y="2816425"/>
            <a:ext cx="7021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(1,𝜙)</a:t>
            </a:r>
            <a:endParaRPr i="1" baseline="30000"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7" name="Google Shape;367;p34"/>
          <p:cNvSpPr/>
          <p:nvPr/>
        </p:nvSpPr>
        <p:spPr>
          <a:xfrm rot="-5400000">
            <a:off x="3797875" y="3344867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4"/>
          <p:cNvSpPr/>
          <p:nvPr/>
        </p:nvSpPr>
        <p:spPr>
          <a:xfrm rot="-5400000">
            <a:off x="3797875" y="3514067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4"/>
          <p:cNvSpPr/>
          <p:nvPr/>
        </p:nvSpPr>
        <p:spPr>
          <a:xfrm rot="-5400000">
            <a:off x="3796475" y="3683267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4"/>
          <p:cNvSpPr/>
          <p:nvPr/>
        </p:nvSpPr>
        <p:spPr>
          <a:xfrm rot="-5400000">
            <a:off x="3796475" y="3852467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4"/>
          <p:cNvSpPr/>
          <p:nvPr/>
        </p:nvSpPr>
        <p:spPr>
          <a:xfrm rot="-5400000">
            <a:off x="3796475" y="4021667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4"/>
          <p:cNvSpPr txBox="1"/>
          <p:nvPr/>
        </p:nvSpPr>
        <p:spPr>
          <a:xfrm>
            <a:off x="4643725" y="2635442"/>
            <a:ext cx="228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6328575" y="2857254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4"/>
          <p:cNvSpPr/>
          <p:nvPr/>
        </p:nvSpPr>
        <p:spPr>
          <a:xfrm>
            <a:off x="6328575" y="3026454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4"/>
          <p:cNvSpPr/>
          <p:nvPr/>
        </p:nvSpPr>
        <p:spPr>
          <a:xfrm>
            <a:off x="6328575" y="3195654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4"/>
          <p:cNvSpPr/>
          <p:nvPr/>
        </p:nvSpPr>
        <p:spPr>
          <a:xfrm rot="-5400000">
            <a:off x="5706225" y="28572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4"/>
          <p:cNvSpPr/>
          <p:nvPr/>
        </p:nvSpPr>
        <p:spPr>
          <a:xfrm rot="-5400000">
            <a:off x="5875425" y="28572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4"/>
          <p:cNvSpPr/>
          <p:nvPr/>
        </p:nvSpPr>
        <p:spPr>
          <a:xfrm rot="-5400000">
            <a:off x="6044625" y="28572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4"/>
          <p:cNvSpPr/>
          <p:nvPr/>
        </p:nvSpPr>
        <p:spPr>
          <a:xfrm rot="-5400000">
            <a:off x="5707625" y="30264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4"/>
          <p:cNvSpPr/>
          <p:nvPr/>
        </p:nvSpPr>
        <p:spPr>
          <a:xfrm rot="-5400000">
            <a:off x="5876825" y="30264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4"/>
          <p:cNvSpPr/>
          <p:nvPr/>
        </p:nvSpPr>
        <p:spPr>
          <a:xfrm rot="-5400000">
            <a:off x="6046025" y="30264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4"/>
          <p:cNvSpPr/>
          <p:nvPr/>
        </p:nvSpPr>
        <p:spPr>
          <a:xfrm rot="-5400000">
            <a:off x="5707625" y="31956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4"/>
          <p:cNvSpPr/>
          <p:nvPr/>
        </p:nvSpPr>
        <p:spPr>
          <a:xfrm rot="-5400000">
            <a:off x="5876825" y="31956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4"/>
          <p:cNvSpPr/>
          <p:nvPr/>
        </p:nvSpPr>
        <p:spPr>
          <a:xfrm rot="-5400000">
            <a:off x="6046025" y="31956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4"/>
          <p:cNvSpPr/>
          <p:nvPr/>
        </p:nvSpPr>
        <p:spPr>
          <a:xfrm rot="-5400000">
            <a:off x="5707625" y="33648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4"/>
          <p:cNvSpPr/>
          <p:nvPr/>
        </p:nvSpPr>
        <p:spPr>
          <a:xfrm rot="-5400000">
            <a:off x="5876825" y="33648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4"/>
          <p:cNvSpPr/>
          <p:nvPr/>
        </p:nvSpPr>
        <p:spPr>
          <a:xfrm rot="-5400000">
            <a:off x="6046025" y="33648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4"/>
          <p:cNvSpPr/>
          <p:nvPr/>
        </p:nvSpPr>
        <p:spPr>
          <a:xfrm rot="-5400000">
            <a:off x="5707625" y="35340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4"/>
          <p:cNvSpPr/>
          <p:nvPr/>
        </p:nvSpPr>
        <p:spPr>
          <a:xfrm rot="-5400000">
            <a:off x="5876825" y="35340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4"/>
          <p:cNvSpPr/>
          <p:nvPr/>
        </p:nvSpPr>
        <p:spPr>
          <a:xfrm rot="-5400000">
            <a:off x="6046025" y="35340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4"/>
          <p:cNvSpPr/>
          <p:nvPr/>
        </p:nvSpPr>
        <p:spPr>
          <a:xfrm rot="-5400000">
            <a:off x="5706225" y="37032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4"/>
          <p:cNvSpPr/>
          <p:nvPr/>
        </p:nvSpPr>
        <p:spPr>
          <a:xfrm rot="-5400000">
            <a:off x="5875425" y="37032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4"/>
          <p:cNvSpPr/>
          <p:nvPr/>
        </p:nvSpPr>
        <p:spPr>
          <a:xfrm rot="-5400000">
            <a:off x="6044625" y="37032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4"/>
          <p:cNvSpPr/>
          <p:nvPr/>
        </p:nvSpPr>
        <p:spPr>
          <a:xfrm rot="-5400000">
            <a:off x="5706225" y="38724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4"/>
          <p:cNvSpPr/>
          <p:nvPr/>
        </p:nvSpPr>
        <p:spPr>
          <a:xfrm rot="-5400000">
            <a:off x="5875425" y="38724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4"/>
          <p:cNvSpPr/>
          <p:nvPr/>
        </p:nvSpPr>
        <p:spPr>
          <a:xfrm rot="-5400000">
            <a:off x="6044625" y="38724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4"/>
          <p:cNvSpPr/>
          <p:nvPr/>
        </p:nvSpPr>
        <p:spPr>
          <a:xfrm rot="-5400000">
            <a:off x="5706225" y="40416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4"/>
          <p:cNvSpPr/>
          <p:nvPr/>
        </p:nvSpPr>
        <p:spPr>
          <a:xfrm rot="-5400000">
            <a:off x="5875425" y="40416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4"/>
          <p:cNvSpPr/>
          <p:nvPr/>
        </p:nvSpPr>
        <p:spPr>
          <a:xfrm rot="-5400000">
            <a:off x="6044625" y="40416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4"/>
          <p:cNvSpPr txBox="1"/>
          <p:nvPr/>
        </p:nvSpPr>
        <p:spPr>
          <a:xfrm>
            <a:off x="6484525" y="2802554"/>
            <a:ext cx="4731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1" name="Google Shape;401;p34"/>
          <p:cNvSpPr/>
          <p:nvPr/>
        </p:nvSpPr>
        <p:spPr>
          <a:xfrm rot="-5400000">
            <a:off x="7449325" y="28466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4"/>
          <p:cNvSpPr/>
          <p:nvPr/>
        </p:nvSpPr>
        <p:spPr>
          <a:xfrm rot="-5400000">
            <a:off x="7450725" y="30158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4"/>
          <p:cNvSpPr/>
          <p:nvPr/>
        </p:nvSpPr>
        <p:spPr>
          <a:xfrm rot="-5400000">
            <a:off x="7450725" y="3185054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4"/>
          <p:cNvSpPr txBox="1"/>
          <p:nvPr/>
        </p:nvSpPr>
        <p:spPr>
          <a:xfrm>
            <a:off x="7687749" y="2846650"/>
            <a:ext cx="707225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" sz="1800" dirty="0">
                <a:solidFill>
                  <a:srgbClr val="222222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′</a:t>
            </a:r>
            <a:r>
              <a:rPr lang="en" sz="1800" i="1" baseline="300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(1,𝜙)</a:t>
            </a:r>
            <a:endParaRPr i="1" baseline="300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baseline="300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6881850" y="2665404"/>
            <a:ext cx="228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6" name="Google Shape;406;p34"/>
          <p:cNvSpPr txBox="1"/>
          <p:nvPr/>
        </p:nvSpPr>
        <p:spPr>
          <a:xfrm>
            <a:off x="5097525" y="2829050"/>
            <a:ext cx="6681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(1,𝜙)</a:t>
            </a:r>
            <a:endParaRPr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7" name="Google Shape;407;p34"/>
          <p:cNvSpPr/>
          <p:nvPr/>
        </p:nvSpPr>
        <p:spPr>
          <a:xfrm rot="-5400000">
            <a:off x="7451425" y="3357496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4"/>
          <p:cNvSpPr/>
          <p:nvPr/>
        </p:nvSpPr>
        <p:spPr>
          <a:xfrm rot="-5400000">
            <a:off x="7451425" y="3526696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4"/>
          <p:cNvSpPr/>
          <p:nvPr/>
        </p:nvSpPr>
        <p:spPr>
          <a:xfrm rot="-5400000">
            <a:off x="7450025" y="3695896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4"/>
          <p:cNvSpPr/>
          <p:nvPr/>
        </p:nvSpPr>
        <p:spPr>
          <a:xfrm rot="-5400000">
            <a:off x="7450025" y="3865096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4"/>
          <p:cNvSpPr/>
          <p:nvPr/>
        </p:nvSpPr>
        <p:spPr>
          <a:xfrm rot="-5400000">
            <a:off x="7450025" y="4034296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2" name="Google Shape;412;p34"/>
          <p:cNvCxnSpPr/>
          <p:nvPr/>
        </p:nvCxnSpPr>
        <p:spPr>
          <a:xfrm>
            <a:off x="6563775" y="2905900"/>
            <a:ext cx="201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13" name="Google Shape;413;p34"/>
          <p:cNvCxnSpPr>
            <a:endCxn id="401" idx="3"/>
          </p:cNvCxnSpPr>
          <p:nvPr/>
        </p:nvCxnSpPr>
        <p:spPr>
          <a:xfrm rot="10800000" flipH="1">
            <a:off x="2759425" y="2846654"/>
            <a:ext cx="4774500" cy="1500"/>
          </a:xfrm>
          <a:prstGeom prst="curvedConnector4">
            <a:avLst>
              <a:gd name="adj1" fmla="val 3854"/>
              <a:gd name="adj2" fmla="val 4365860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4" name="Google Shape;414;p34"/>
          <p:cNvSpPr txBox="1"/>
          <p:nvPr/>
        </p:nvSpPr>
        <p:spPr>
          <a:xfrm>
            <a:off x="1452325" y="4269975"/>
            <a:ext cx="72045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learned for 𝜙</a:t>
            </a:r>
            <a:r>
              <a:rPr lang="en" sz="1800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subsumed into the bias parameter </a:t>
            </a:r>
            <a:r>
              <a:rPr lang="en" sz="18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no need to meta-learn 𝜙</a:t>
            </a:r>
            <a:r>
              <a:rPr lang="en" sz="1800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Authors just initialize to zero.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" name="Google Shape;419;p35"/>
          <p:cNvCxnSpPr>
            <a:stCxn id="420" idx="0"/>
            <a:endCxn id="421" idx="3"/>
          </p:cNvCxnSpPr>
          <p:nvPr/>
        </p:nvCxnSpPr>
        <p:spPr>
          <a:xfrm rot="10800000">
            <a:off x="6096225" y="312362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2" name="Google Shape;422;p35"/>
          <p:cNvCxnSpPr>
            <a:stCxn id="423" idx="3"/>
            <a:endCxn id="421" idx="1"/>
          </p:cNvCxnSpPr>
          <p:nvPr/>
        </p:nvCxnSpPr>
        <p:spPr>
          <a:xfrm>
            <a:off x="4889675" y="3123625"/>
            <a:ext cx="423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4" name="Google Shape;42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CAVIA Visualization</a:t>
            </a:r>
            <a:endParaRPr b="1"/>
          </a:p>
        </p:txBody>
      </p:sp>
      <p:sp>
        <p:nvSpPr>
          <p:cNvPr id="425" name="Google Shape;425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9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Initialize </a:t>
            </a:r>
            <a:r>
              <a:rPr lang="en">
                <a:solidFill>
                  <a:schemeClr val="dk1"/>
                </a:solidFill>
              </a:rPr>
              <a:t>𝜃 randomly and 𝜙</a:t>
            </a:r>
            <a:r>
              <a:rPr lang="en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">
                <a:solidFill>
                  <a:schemeClr val="dk1"/>
                </a:solidFill>
              </a:rPr>
              <a:t> to zeros.</a:t>
            </a:r>
            <a:endParaRPr/>
          </a:p>
        </p:txBody>
      </p:sp>
      <p:sp>
        <p:nvSpPr>
          <p:cNvPr id="426" name="Google Shape;426;p35"/>
          <p:cNvSpPr/>
          <p:nvPr/>
        </p:nvSpPr>
        <p:spPr>
          <a:xfrm>
            <a:off x="2446775" y="20310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5"/>
          <p:cNvSpPr/>
          <p:nvPr/>
        </p:nvSpPr>
        <p:spPr>
          <a:xfrm>
            <a:off x="2446775" y="22002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5"/>
          <p:cNvSpPr/>
          <p:nvPr/>
        </p:nvSpPr>
        <p:spPr>
          <a:xfrm>
            <a:off x="2446775" y="23694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5"/>
          <p:cNvSpPr/>
          <p:nvPr/>
        </p:nvSpPr>
        <p:spPr>
          <a:xfrm>
            <a:off x="1086875" y="28698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5"/>
          <p:cNvSpPr/>
          <p:nvPr/>
        </p:nvSpPr>
        <p:spPr>
          <a:xfrm>
            <a:off x="1086875" y="30390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5"/>
          <p:cNvSpPr/>
          <p:nvPr/>
        </p:nvSpPr>
        <p:spPr>
          <a:xfrm>
            <a:off x="1086875" y="32082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2" name="Google Shape;432;p35"/>
          <p:cNvCxnSpPr/>
          <p:nvPr/>
        </p:nvCxnSpPr>
        <p:spPr>
          <a:xfrm>
            <a:off x="1256075" y="3123625"/>
            <a:ext cx="74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" name="Google Shape;433;p35"/>
          <p:cNvCxnSpPr>
            <a:stCxn id="428" idx="2"/>
          </p:cNvCxnSpPr>
          <p:nvPr/>
        </p:nvCxnSpPr>
        <p:spPr>
          <a:xfrm>
            <a:off x="2531375" y="2538625"/>
            <a:ext cx="0" cy="39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4" name="Google Shape;434;p35"/>
          <p:cNvSpPr txBox="1"/>
          <p:nvPr/>
        </p:nvSpPr>
        <p:spPr>
          <a:xfrm>
            <a:off x="2001575" y="2928625"/>
            <a:ext cx="1059600" cy="3900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concatenate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5" name="Google Shape;435;p35"/>
          <p:cNvSpPr/>
          <p:nvPr/>
        </p:nvSpPr>
        <p:spPr>
          <a:xfrm>
            <a:off x="6408825" y="26160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5"/>
          <p:cNvSpPr/>
          <p:nvPr/>
        </p:nvSpPr>
        <p:spPr>
          <a:xfrm>
            <a:off x="6408825" y="27852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5"/>
          <p:cNvSpPr/>
          <p:nvPr/>
        </p:nvSpPr>
        <p:spPr>
          <a:xfrm>
            <a:off x="6408825" y="29544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5"/>
          <p:cNvSpPr/>
          <p:nvPr/>
        </p:nvSpPr>
        <p:spPr>
          <a:xfrm>
            <a:off x="6408825" y="31236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5"/>
          <p:cNvSpPr/>
          <p:nvPr/>
        </p:nvSpPr>
        <p:spPr>
          <a:xfrm>
            <a:off x="6408825" y="32928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5"/>
          <p:cNvSpPr/>
          <p:nvPr/>
        </p:nvSpPr>
        <p:spPr>
          <a:xfrm>
            <a:off x="6408825" y="3462025"/>
            <a:ext cx="169200" cy="169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35"/>
          <p:cNvSpPr txBox="1"/>
          <p:nvPr/>
        </p:nvSpPr>
        <p:spPr>
          <a:xfrm>
            <a:off x="2058217" y="2027025"/>
            <a:ext cx="3261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r>
              <a:rPr lang="en" sz="1800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441" name="Google Shape;441;p35"/>
          <p:cNvSpPr txBox="1"/>
          <p:nvPr/>
        </p:nvSpPr>
        <p:spPr>
          <a:xfrm>
            <a:off x="309375" y="2937275"/>
            <a:ext cx="7137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 </a:t>
            </a:r>
            <a:r>
              <a:rPr lang="en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442" name="Google Shape;442;p35"/>
          <p:cNvCxnSpPr>
            <a:stCxn id="434" idx="3"/>
            <a:endCxn id="435" idx="0"/>
          </p:cNvCxnSpPr>
          <p:nvPr/>
        </p:nvCxnSpPr>
        <p:spPr>
          <a:xfrm rot="10800000" flipH="1">
            <a:off x="3061175" y="2616025"/>
            <a:ext cx="3432300" cy="507600"/>
          </a:xfrm>
          <a:prstGeom prst="bentConnector4">
            <a:avLst>
              <a:gd name="adj1" fmla="val 12435"/>
              <a:gd name="adj2" fmla="val 181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3" name="Google Shape;443;p35"/>
          <p:cNvSpPr/>
          <p:nvPr/>
        </p:nvSpPr>
        <p:spPr>
          <a:xfrm rot="-5400000">
            <a:off x="3957675" y="2616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5"/>
          <p:cNvSpPr/>
          <p:nvPr/>
        </p:nvSpPr>
        <p:spPr>
          <a:xfrm rot="-5400000">
            <a:off x="4126875" y="2616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5"/>
          <p:cNvSpPr/>
          <p:nvPr/>
        </p:nvSpPr>
        <p:spPr>
          <a:xfrm rot="-5400000">
            <a:off x="4296075" y="2616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5"/>
          <p:cNvSpPr/>
          <p:nvPr/>
        </p:nvSpPr>
        <p:spPr>
          <a:xfrm rot="-5400000">
            <a:off x="4465275" y="2616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5"/>
          <p:cNvSpPr/>
          <p:nvPr/>
        </p:nvSpPr>
        <p:spPr>
          <a:xfrm rot="-5400000">
            <a:off x="4634475" y="2616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5"/>
          <p:cNvSpPr/>
          <p:nvPr/>
        </p:nvSpPr>
        <p:spPr>
          <a:xfrm rot="-5400000">
            <a:off x="4803675" y="2616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5"/>
          <p:cNvSpPr/>
          <p:nvPr/>
        </p:nvSpPr>
        <p:spPr>
          <a:xfrm rot="-5400000">
            <a:off x="3959075" y="2785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5"/>
          <p:cNvSpPr/>
          <p:nvPr/>
        </p:nvSpPr>
        <p:spPr>
          <a:xfrm rot="-5400000">
            <a:off x="4128275" y="2785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5"/>
          <p:cNvSpPr/>
          <p:nvPr/>
        </p:nvSpPr>
        <p:spPr>
          <a:xfrm rot="-5400000">
            <a:off x="4297475" y="2785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5"/>
          <p:cNvSpPr/>
          <p:nvPr/>
        </p:nvSpPr>
        <p:spPr>
          <a:xfrm rot="-5400000">
            <a:off x="4466675" y="2785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35"/>
          <p:cNvSpPr/>
          <p:nvPr/>
        </p:nvSpPr>
        <p:spPr>
          <a:xfrm rot="-5400000">
            <a:off x="4635875" y="2785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5"/>
          <p:cNvSpPr/>
          <p:nvPr/>
        </p:nvSpPr>
        <p:spPr>
          <a:xfrm rot="-5400000">
            <a:off x="4805075" y="2785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5"/>
          <p:cNvSpPr/>
          <p:nvPr/>
        </p:nvSpPr>
        <p:spPr>
          <a:xfrm rot="-5400000">
            <a:off x="3959075" y="2954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5"/>
          <p:cNvSpPr/>
          <p:nvPr/>
        </p:nvSpPr>
        <p:spPr>
          <a:xfrm rot="-5400000">
            <a:off x="4128275" y="2954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5"/>
          <p:cNvSpPr/>
          <p:nvPr/>
        </p:nvSpPr>
        <p:spPr>
          <a:xfrm rot="-5400000">
            <a:off x="4297475" y="2954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5"/>
          <p:cNvSpPr/>
          <p:nvPr/>
        </p:nvSpPr>
        <p:spPr>
          <a:xfrm rot="-5400000">
            <a:off x="4466675" y="2954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5"/>
          <p:cNvSpPr/>
          <p:nvPr/>
        </p:nvSpPr>
        <p:spPr>
          <a:xfrm rot="-5400000">
            <a:off x="4635875" y="2954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5"/>
          <p:cNvSpPr/>
          <p:nvPr/>
        </p:nvSpPr>
        <p:spPr>
          <a:xfrm rot="-5400000">
            <a:off x="4805075" y="2954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5"/>
          <p:cNvSpPr/>
          <p:nvPr/>
        </p:nvSpPr>
        <p:spPr>
          <a:xfrm rot="-5400000">
            <a:off x="3959075" y="3123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5"/>
          <p:cNvSpPr/>
          <p:nvPr/>
        </p:nvSpPr>
        <p:spPr>
          <a:xfrm rot="-5400000">
            <a:off x="4128275" y="3123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5"/>
          <p:cNvSpPr/>
          <p:nvPr/>
        </p:nvSpPr>
        <p:spPr>
          <a:xfrm rot="-5400000">
            <a:off x="4297475" y="3123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5"/>
          <p:cNvSpPr/>
          <p:nvPr/>
        </p:nvSpPr>
        <p:spPr>
          <a:xfrm rot="-5400000">
            <a:off x="4466675" y="3123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5"/>
          <p:cNvSpPr/>
          <p:nvPr/>
        </p:nvSpPr>
        <p:spPr>
          <a:xfrm rot="-5400000">
            <a:off x="4635875" y="3123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5"/>
          <p:cNvSpPr/>
          <p:nvPr/>
        </p:nvSpPr>
        <p:spPr>
          <a:xfrm rot="-5400000">
            <a:off x="4805075" y="3123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 rot="-5400000">
            <a:off x="3959075" y="3292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5400000">
            <a:off x="4128275" y="3292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5400000">
            <a:off x="4297475" y="3292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5400000">
            <a:off x="4466675" y="3292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5"/>
          <p:cNvSpPr/>
          <p:nvPr/>
        </p:nvSpPr>
        <p:spPr>
          <a:xfrm rot="-5400000">
            <a:off x="4635875" y="3292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5"/>
          <p:cNvSpPr/>
          <p:nvPr/>
        </p:nvSpPr>
        <p:spPr>
          <a:xfrm rot="-5400000">
            <a:off x="4805075" y="3292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5"/>
          <p:cNvSpPr/>
          <p:nvPr/>
        </p:nvSpPr>
        <p:spPr>
          <a:xfrm rot="-5400000">
            <a:off x="3957675" y="3462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5"/>
          <p:cNvSpPr/>
          <p:nvPr/>
        </p:nvSpPr>
        <p:spPr>
          <a:xfrm rot="-5400000">
            <a:off x="4126875" y="3462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5"/>
          <p:cNvSpPr/>
          <p:nvPr/>
        </p:nvSpPr>
        <p:spPr>
          <a:xfrm rot="-5400000">
            <a:off x="4296075" y="3462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5"/>
          <p:cNvSpPr/>
          <p:nvPr/>
        </p:nvSpPr>
        <p:spPr>
          <a:xfrm rot="-5400000">
            <a:off x="4465275" y="3462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5"/>
          <p:cNvSpPr/>
          <p:nvPr/>
        </p:nvSpPr>
        <p:spPr>
          <a:xfrm rot="-5400000">
            <a:off x="4634475" y="3462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5"/>
          <p:cNvSpPr/>
          <p:nvPr/>
        </p:nvSpPr>
        <p:spPr>
          <a:xfrm rot="-5400000">
            <a:off x="4803675" y="3462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5"/>
          <p:cNvSpPr/>
          <p:nvPr/>
        </p:nvSpPr>
        <p:spPr>
          <a:xfrm rot="-5400000">
            <a:off x="3957675" y="3631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5"/>
          <p:cNvSpPr/>
          <p:nvPr/>
        </p:nvSpPr>
        <p:spPr>
          <a:xfrm rot="-5400000">
            <a:off x="4126875" y="3631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35"/>
          <p:cNvSpPr/>
          <p:nvPr/>
        </p:nvSpPr>
        <p:spPr>
          <a:xfrm rot="-5400000">
            <a:off x="4296075" y="3631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35"/>
          <p:cNvSpPr/>
          <p:nvPr/>
        </p:nvSpPr>
        <p:spPr>
          <a:xfrm rot="-5400000">
            <a:off x="4465275" y="3631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5"/>
          <p:cNvSpPr/>
          <p:nvPr/>
        </p:nvSpPr>
        <p:spPr>
          <a:xfrm rot="-5400000">
            <a:off x="4634475" y="3631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5"/>
          <p:cNvSpPr/>
          <p:nvPr/>
        </p:nvSpPr>
        <p:spPr>
          <a:xfrm rot="-5400000">
            <a:off x="4803675" y="3631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5"/>
          <p:cNvSpPr/>
          <p:nvPr/>
        </p:nvSpPr>
        <p:spPr>
          <a:xfrm rot="-5400000">
            <a:off x="3957675" y="3800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5"/>
          <p:cNvSpPr/>
          <p:nvPr/>
        </p:nvSpPr>
        <p:spPr>
          <a:xfrm rot="-5400000">
            <a:off x="4126875" y="3800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5"/>
          <p:cNvSpPr/>
          <p:nvPr/>
        </p:nvSpPr>
        <p:spPr>
          <a:xfrm rot="-5400000">
            <a:off x="4296075" y="3800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5"/>
          <p:cNvSpPr/>
          <p:nvPr/>
        </p:nvSpPr>
        <p:spPr>
          <a:xfrm rot="-5400000">
            <a:off x="4465275" y="3800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5"/>
          <p:cNvSpPr/>
          <p:nvPr/>
        </p:nvSpPr>
        <p:spPr>
          <a:xfrm rot="-5400000">
            <a:off x="4634475" y="3800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5"/>
          <p:cNvSpPr/>
          <p:nvPr/>
        </p:nvSpPr>
        <p:spPr>
          <a:xfrm rot="-5400000">
            <a:off x="4803675" y="3800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5312675" y="2928625"/>
            <a:ext cx="783600" cy="3900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multiply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0" name="Google Shape;490;p35"/>
          <p:cNvCxnSpPr>
            <a:stCxn id="421" idx="2"/>
          </p:cNvCxnSpPr>
          <p:nvPr/>
        </p:nvCxnSpPr>
        <p:spPr>
          <a:xfrm rot="-5400000" flipH="1">
            <a:off x="6012725" y="3010375"/>
            <a:ext cx="780000" cy="1396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1" name="Google Shape;491;p35"/>
          <p:cNvSpPr txBox="1"/>
          <p:nvPr/>
        </p:nvSpPr>
        <p:spPr>
          <a:xfrm>
            <a:off x="7221275" y="3607225"/>
            <a:ext cx="713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35"/>
          <p:cNvSpPr txBox="1"/>
          <p:nvPr/>
        </p:nvSpPr>
        <p:spPr>
          <a:xfrm>
            <a:off x="3763125" y="4228775"/>
            <a:ext cx="7322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(1,𝜙)</a:t>
            </a:r>
            <a:endParaRPr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93" name="Google Shape;493;p35"/>
          <p:cNvSpPr txBox="1"/>
          <p:nvPr/>
        </p:nvSpPr>
        <p:spPr>
          <a:xfrm>
            <a:off x="4445925" y="4228775"/>
            <a:ext cx="6039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(1,x)</a:t>
            </a:r>
            <a:endParaRPr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94" name="Google Shape;494;p35"/>
          <p:cNvSpPr/>
          <p:nvPr/>
        </p:nvSpPr>
        <p:spPr>
          <a:xfrm rot="-5400000">
            <a:off x="4120667" y="3921850"/>
            <a:ext cx="147000" cy="500700"/>
          </a:xfrm>
          <a:prstGeom prst="leftBrace">
            <a:avLst>
              <a:gd name="adj1" fmla="val 8333"/>
              <a:gd name="adj2" fmla="val 500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5"/>
          <p:cNvSpPr/>
          <p:nvPr/>
        </p:nvSpPr>
        <p:spPr>
          <a:xfrm rot="-5400000">
            <a:off x="4660300" y="3921850"/>
            <a:ext cx="147000" cy="500700"/>
          </a:xfrm>
          <a:prstGeom prst="leftBrace">
            <a:avLst>
              <a:gd name="adj1" fmla="val 8333"/>
              <a:gd name="adj2" fmla="val 500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0" name="Google Shape;500;p36"/>
          <p:cNvCxnSpPr>
            <a:stCxn id="501" idx="0"/>
            <a:endCxn id="502" idx="3"/>
          </p:cNvCxnSpPr>
          <p:nvPr/>
        </p:nvCxnSpPr>
        <p:spPr>
          <a:xfrm rot="10800000">
            <a:off x="6096225" y="312362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3" name="Google Shape;503;p36"/>
          <p:cNvCxnSpPr>
            <a:stCxn id="504" idx="3"/>
            <a:endCxn id="502" idx="1"/>
          </p:cNvCxnSpPr>
          <p:nvPr/>
        </p:nvCxnSpPr>
        <p:spPr>
          <a:xfrm>
            <a:off x="4889675" y="3123625"/>
            <a:ext cx="423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5" name="Google Shape;50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CAVIA Visualization</a:t>
            </a:r>
            <a:endParaRPr b="1"/>
          </a:p>
        </p:txBody>
      </p:sp>
      <p:sp>
        <p:nvSpPr>
          <p:cNvPr id="506" name="Google Shape;50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9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 the </a:t>
            </a:r>
            <a:r>
              <a:rPr lang="en" b="1"/>
              <a:t>inner loop</a:t>
            </a:r>
            <a:r>
              <a:rPr lang="en"/>
              <a:t>, we fix </a:t>
            </a:r>
            <a:r>
              <a:rPr lang="en">
                <a:solidFill>
                  <a:schemeClr val="dk1"/>
                </a:solidFill>
              </a:rPr>
              <a:t>𝜃 and</a:t>
            </a:r>
            <a:r>
              <a:rPr lang="en"/>
              <a:t> learn </a:t>
            </a:r>
            <a:r>
              <a:rPr lang="en">
                <a:solidFill>
                  <a:schemeClr val="dk1"/>
                </a:solidFill>
              </a:rPr>
              <a:t>𝜙</a:t>
            </a:r>
            <a:r>
              <a:rPr lang="en" i="1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r>
              <a:rPr lang="en">
                <a:solidFill>
                  <a:schemeClr val="dk1"/>
                </a:solidFill>
              </a:rPr>
              <a:t> on           .</a:t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2446775" y="20310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6"/>
          <p:cNvSpPr/>
          <p:nvPr/>
        </p:nvSpPr>
        <p:spPr>
          <a:xfrm>
            <a:off x="2446775" y="22002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2446775" y="23694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6"/>
          <p:cNvSpPr/>
          <p:nvPr/>
        </p:nvSpPr>
        <p:spPr>
          <a:xfrm>
            <a:off x="1086875" y="2869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6"/>
          <p:cNvSpPr/>
          <p:nvPr/>
        </p:nvSpPr>
        <p:spPr>
          <a:xfrm>
            <a:off x="1086875" y="3039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36"/>
          <p:cNvSpPr/>
          <p:nvPr/>
        </p:nvSpPr>
        <p:spPr>
          <a:xfrm>
            <a:off x="1086875" y="3208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3" name="Google Shape;513;p36"/>
          <p:cNvCxnSpPr/>
          <p:nvPr/>
        </p:nvCxnSpPr>
        <p:spPr>
          <a:xfrm>
            <a:off x="1256075" y="3123625"/>
            <a:ext cx="74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Google Shape;514;p36"/>
          <p:cNvCxnSpPr>
            <a:stCxn id="509" idx="2"/>
          </p:cNvCxnSpPr>
          <p:nvPr/>
        </p:nvCxnSpPr>
        <p:spPr>
          <a:xfrm>
            <a:off x="2531375" y="2538625"/>
            <a:ext cx="0" cy="39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36"/>
          <p:cNvSpPr txBox="1"/>
          <p:nvPr/>
        </p:nvSpPr>
        <p:spPr>
          <a:xfrm>
            <a:off x="2001575" y="2928625"/>
            <a:ext cx="1059600" cy="3900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concatenate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6408825" y="26160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6"/>
          <p:cNvSpPr/>
          <p:nvPr/>
        </p:nvSpPr>
        <p:spPr>
          <a:xfrm>
            <a:off x="6408825" y="27852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6"/>
          <p:cNvSpPr/>
          <p:nvPr/>
        </p:nvSpPr>
        <p:spPr>
          <a:xfrm>
            <a:off x="6408825" y="2954425"/>
            <a:ext cx="169200" cy="16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6"/>
          <p:cNvSpPr/>
          <p:nvPr/>
        </p:nvSpPr>
        <p:spPr>
          <a:xfrm>
            <a:off x="6408825" y="31236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6408825" y="3292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6"/>
          <p:cNvSpPr/>
          <p:nvPr/>
        </p:nvSpPr>
        <p:spPr>
          <a:xfrm>
            <a:off x="6408825" y="3462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6"/>
          <p:cNvSpPr txBox="1"/>
          <p:nvPr/>
        </p:nvSpPr>
        <p:spPr>
          <a:xfrm>
            <a:off x="2001575" y="2027025"/>
            <a:ext cx="382742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r>
              <a:rPr lang="en" sz="1800" i="1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2" name="Google Shape;522;p36"/>
          <p:cNvSpPr txBox="1"/>
          <p:nvPr/>
        </p:nvSpPr>
        <p:spPr>
          <a:xfrm>
            <a:off x="309375" y="2937275"/>
            <a:ext cx="7137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 </a:t>
            </a:r>
            <a:r>
              <a:rPr lang="en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523" name="Google Shape;523;p36"/>
          <p:cNvCxnSpPr>
            <a:stCxn id="515" idx="3"/>
            <a:endCxn id="516" idx="0"/>
          </p:cNvCxnSpPr>
          <p:nvPr/>
        </p:nvCxnSpPr>
        <p:spPr>
          <a:xfrm rot="10800000" flipH="1">
            <a:off x="3061175" y="2616025"/>
            <a:ext cx="3432300" cy="507600"/>
          </a:xfrm>
          <a:prstGeom prst="bentConnector4">
            <a:avLst>
              <a:gd name="adj1" fmla="val 12435"/>
              <a:gd name="adj2" fmla="val 181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4" name="Google Shape;524;p36"/>
          <p:cNvSpPr/>
          <p:nvPr/>
        </p:nvSpPr>
        <p:spPr>
          <a:xfrm rot="-5400000">
            <a:off x="3957675" y="2616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6"/>
          <p:cNvSpPr/>
          <p:nvPr/>
        </p:nvSpPr>
        <p:spPr>
          <a:xfrm rot="-5400000">
            <a:off x="4126875" y="2616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6"/>
          <p:cNvSpPr/>
          <p:nvPr/>
        </p:nvSpPr>
        <p:spPr>
          <a:xfrm rot="-5400000">
            <a:off x="4296075" y="2616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6"/>
          <p:cNvSpPr/>
          <p:nvPr/>
        </p:nvSpPr>
        <p:spPr>
          <a:xfrm rot="-5400000">
            <a:off x="4465275" y="2616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36"/>
          <p:cNvSpPr/>
          <p:nvPr/>
        </p:nvSpPr>
        <p:spPr>
          <a:xfrm rot="-5400000">
            <a:off x="4634475" y="2616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6"/>
          <p:cNvSpPr/>
          <p:nvPr/>
        </p:nvSpPr>
        <p:spPr>
          <a:xfrm rot="-5400000">
            <a:off x="4803675" y="2616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6"/>
          <p:cNvSpPr/>
          <p:nvPr/>
        </p:nvSpPr>
        <p:spPr>
          <a:xfrm rot="-5400000">
            <a:off x="3959075" y="2785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6"/>
          <p:cNvSpPr/>
          <p:nvPr/>
        </p:nvSpPr>
        <p:spPr>
          <a:xfrm rot="-5400000">
            <a:off x="4128275" y="2785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36"/>
          <p:cNvSpPr/>
          <p:nvPr/>
        </p:nvSpPr>
        <p:spPr>
          <a:xfrm rot="-5400000">
            <a:off x="4297475" y="2785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6"/>
          <p:cNvSpPr/>
          <p:nvPr/>
        </p:nvSpPr>
        <p:spPr>
          <a:xfrm rot="-5400000">
            <a:off x="4466675" y="2785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6"/>
          <p:cNvSpPr/>
          <p:nvPr/>
        </p:nvSpPr>
        <p:spPr>
          <a:xfrm rot="-5400000">
            <a:off x="4635875" y="2785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36"/>
          <p:cNvSpPr/>
          <p:nvPr/>
        </p:nvSpPr>
        <p:spPr>
          <a:xfrm rot="-5400000">
            <a:off x="4805075" y="2785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6"/>
          <p:cNvSpPr/>
          <p:nvPr/>
        </p:nvSpPr>
        <p:spPr>
          <a:xfrm rot="-5400000">
            <a:off x="3959075" y="2954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6"/>
          <p:cNvSpPr/>
          <p:nvPr/>
        </p:nvSpPr>
        <p:spPr>
          <a:xfrm rot="-5400000">
            <a:off x="4128275" y="2954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36"/>
          <p:cNvSpPr/>
          <p:nvPr/>
        </p:nvSpPr>
        <p:spPr>
          <a:xfrm rot="-5400000">
            <a:off x="4297475" y="2954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6"/>
          <p:cNvSpPr/>
          <p:nvPr/>
        </p:nvSpPr>
        <p:spPr>
          <a:xfrm rot="-5400000">
            <a:off x="4466675" y="2954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6"/>
          <p:cNvSpPr/>
          <p:nvPr/>
        </p:nvSpPr>
        <p:spPr>
          <a:xfrm rot="-5400000">
            <a:off x="4635875" y="2954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6"/>
          <p:cNvSpPr/>
          <p:nvPr/>
        </p:nvSpPr>
        <p:spPr>
          <a:xfrm rot="-5400000">
            <a:off x="4805075" y="2954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36"/>
          <p:cNvSpPr/>
          <p:nvPr/>
        </p:nvSpPr>
        <p:spPr>
          <a:xfrm rot="-5400000">
            <a:off x="3959075" y="31236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6"/>
          <p:cNvSpPr/>
          <p:nvPr/>
        </p:nvSpPr>
        <p:spPr>
          <a:xfrm rot="-5400000">
            <a:off x="4128275" y="31236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36"/>
          <p:cNvSpPr/>
          <p:nvPr/>
        </p:nvSpPr>
        <p:spPr>
          <a:xfrm rot="-5400000">
            <a:off x="4297475" y="31236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36"/>
          <p:cNvSpPr/>
          <p:nvPr/>
        </p:nvSpPr>
        <p:spPr>
          <a:xfrm rot="-5400000">
            <a:off x="4466675" y="31236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6"/>
          <p:cNvSpPr/>
          <p:nvPr/>
        </p:nvSpPr>
        <p:spPr>
          <a:xfrm rot="-5400000">
            <a:off x="4635875" y="31236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6"/>
          <p:cNvSpPr/>
          <p:nvPr/>
        </p:nvSpPr>
        <p:spPr>
          <a:xfrm rot="-5400000">
            <a:off x="4805075" y="31236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36"/>
          <p:cNvSpPr/>
          <p:nvPr/>
        </p:nvSpPr>
        <p:spPr>
          <a:xfrm rot="-5400000">
            <a:off x="3959075" y="3292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6"/>
          <p:cNvSpPr/>
          <p:nvPr/>
        </p:nvSpPr>
        <p:spPr>
          <a:xfrm rot="-5400000">
            <a:off x="4128275" y="3292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6"/>
          <p:cNvSpPr/>
          <p:nvPr/>
        </p:nvSpPr>
        <p:spPr>
          <a:xfrm rot="-5400000">
            <a:off x="4297475" y="3292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6"/>
          <p:cNvSpPr/>
          <p:nvPr/>
        </p:nvSpPr>
        <p:spPr>
          <a:xfrm rot="-5400000">
            <a:off x="4466675" y="3292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6"/>
          <p:cNvSpPr/>
          <p:nvPr/>
        </p:nvSpPr>
        <p:spPr>
          <a:xfrm rot="-5400000">
            <a:off x="4635875" y="3292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6"/>
          <p:cNvSpPr/>
          <p:nvPr/>
        </p:nvSpPr>
        <p:spPr>
          <a:xfrm rot="-5400000">
            <a:off x="4805075" y="3292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6"/>
          <p:cNvSpPr/>
          <p:nvPr/>
        </p:nvSpPr>
        <p:spPr>
          <a:xfrm rot="-5400000">
            <a:off x="3957675" y="3462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6"/>
          <p:cNvSpPr/>
          <p:nvPr/>
        </p:nvSpPr>
        <p:spPr>
          <a:xfrm rot="-5400000">
            <a:off x="4126875" y="3462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6"/>
          <p:cNvSpPr/>
          <p:nvPr/>
        </p:nvSpPr>
        <p:spPr>
          <a:xfrm rot="-5400000">
            <a:off x="4296075" y="3462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6"/>
          <p:cNvSpPr/>
          <p:nvPr/>
        </p:nvSpPr>
        <p:spPr>
          <a:xfrm rot="-5400000">
            <a:off x="4465275" y="3462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6"/>
          <p:cNvSpPr/>
          <p:nvPr/>
        </p:nvSpPr>
        <p:spPr>
          <a:xfrm rot="-5400000">
            <a:off x="4634475" y="3462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36"/>
          <p:cNvSpPr/>
          <p:nvPr/>
        </p:nvSpPr>
        <p:spPr>
          <a:xfrm rot="-5400000">
            <a:off x="4803675" y="3462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6"/>
          <p:cNvSpPr/>
          <p:nvPr/>
        </p:nvSpPr>
        <p:spPr>
          <a:xfrm rot="-5400000">
            <a:off x="3957675" y="3631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6"/>
          <p:cNvSpPr/>
          <p:nvPr/>
        </p:nvSpPr>
        <p:spPr>
          <a:xfrm rot="-5400000">
            <a:off x="4126875" y="3631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6"/>
          <p:cNvSpPr/>
          <p:nvPr/>
        </p:nvSpPr>
        <p:spPr>
          <a:xfrm rot="-5400000">
            <a:off x="4296075" y="3631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6"/>
          <p:cNvSpPr/>
          <p:nvPr/>
        </p:nvSpPr>
        <p:spPr>
          <a:xfrm rot="-5400000">
            <a:off x="4465275" y="3631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6"/>
          <p:cNvSpPr/>
          <p:nvPr/>
        </p:nvSpPr>
        <p:spPr>
          <a:xfrm rot="-5400000">
            <a:off x="4634475" y="3631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36"/>
          <p:cNvSpPr/>
          <p:nvPr/>
        </p:nvSpPr>
        <p:spPr>
          <a:xfrm rot="-5400000">
            <a:off x="4803675" y="3631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36"/>
          <p:cNvSpPr/>
          <p:nvPr/>
        </p:nvSpPr>
        <p:spPr>
          <a:xfrm rot="-5400000">
            <a:off x="3957675" y="3800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6"/>
          <p:cNvSpPr/>
          <p:nvPr/>
        </p:nvSpPr>
        <p:spPr>
          <a:xfrm rot="-5400000">
            <a:off x="4126875" y="3800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6"/>
          <p:cNvSpPr/>
          <p:nvPr/>
        </p:nvSpPr>
        <p:spPr>
          <a:xfrm rot="-5400000">
            <a:off x="4296075" y="3800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6"/>
          <p:cNvSpPr/>
          <p:nvPr/>
        </p:nvSpPr>
        <p:spPr>
          <a:xfrm rot="-5400000">
            <a:off x="4465275" y="3800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6"/>
          <p:cNvSpPr/>
          <p:nvPr/>
        </p:nvSpPr>
        <p:spPr>
          <a:xfrm rot="-5400000">
            <a:off x="4634475" y="3800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6"/>
          <p:cNvSpPr/>
          <p:nvPr/>
        </p:nvSpPr>
        <p:spPr>
          <a:xfrm rot="-5400000">
            <a:off x="4803675" y="3800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6"/>
          <p:cNvSpPr txBox="1"/>
          <p:nvPr/>
        </p:nvSpPr>
        <p:spPr>
          <a:xfrm>
            <a:off x="5312675" y="2928625"/>
            <a:ext cx="783600" cy="3900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multiply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71" name="Google Shape;571;p36"/>
          <p:cNvCxnSpPr>
            <a:stCxn id="502" idx="2"/>
          </p:cNvCxnSpPr>
          <p:nvPr/>
        </p:nvCxnSpPr>
        <p:spPr>
          <a:xfrm rot="-5400000" flipH="1">
            <a:off x="6012725" y="3010375"/>
            <a:ext cx="780000" cy="1396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2" name="Google Shape;572;p36"/>
          <p:cNvSpPr txBox="1"/>
          <p:nvPr/>
        </p:nvSpPr>
        <p:spPr>
          <a:xfrm>
            <a:off x="7221275" y="3607225"/>
            <a:ext cx="713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3" name="Google Shape;573;p36"/>
          <p:cNvSpPr txBox="1"/>
          <p:nvPr/>
        </p:nvSpPr>
        <p:spPr>
          <a:xfrm>
            <a:off x="3763125" y="4228775"/>
            <a:ext cx="7322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(1,𝜙)</a:t>
            </a:r>
            <a:endParaRPr i="1" baseline="30000"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74" name="Google Shape;574;p36"/>
          <p:cNvSpPr txBox="1"/>
          <p:nvPr/>
        </p:nvSpPr>
        <p:spPr>
          <a:xfrm>
            <a:off x="4445925" y="4228775"/>
            <a:ext cx="6039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(1,x)</a:t>
            </a:r>
            <a:endParaRPr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75" name="Google Shape;575;p36"/>
          <p:cNvSpPr/>
          <p:nvPr/>
        </p:nvSpPr>
        <p:spPr>
          <a:xfrm rot="-5400000">
            <a:off x="4120667" y="3921850"/>
            <a:ext cx="147000" cy="500700"/>
          </a:xfrm>
          <a:prstGeom prst="leftBrace">
            <a:avLst>
              <a:gd name="adj1" fmla="val 8333"/>
              <a:gd name="adj2" fmla="val 500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6"/>
          <p:cNvSpPr/>
          <p:nvPr/>
        </p:nvSpPr>
        <p:spPr>
          <a:xfrm rot="-5400000">
            <a:off x="4660300" y="3921850"/>
            <a:ext cx="147000" cy="500700"/>
          </a:xfrm>
          <a:prstGeom prst="leftBrace">
            <a:avLst>
              <a:gd name="adj1" fmla="val 8333"/>
              <a:gd name="adj2" fmla="val 500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7" name="Google Shape;577;p36"/>
          <p:cNvPicPr preferRelativeResize="0"/>
          <p:nvPr/>
        </p:nvPicPr>
        <p:blipFill rotWithShape="1">
          <a:blip r:embed="rId3">
            <a:alphaModFix/>
          </a:blip>
          <a:srcRect r="65950" b="89892"/>
          <a:stretch/>
        </p:blipFill>
        <p:spPr>
          <a:xfrm>
            <a:off x="4714391" y="1208900"/>
            <a:ext cx="603899" cy="33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2" name="Google Shape;582;p37"/>
          <p:cNvCxnSpPr>
            <a:stCxn id="583" idx="0"/>
            <a:endCxn id="584" idx="3"/>
          </p:cNvCxnSpPr>
          <p:nvPr/>
        </p:nvCxnSpPr>
        <p:spPr>
          <a:xfrm rot="10800000">
            <a:off x="6096225" y="312362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5" name="Google Shape;585;p37"/>
          <p:cNvCxnSpPr>
            <a:stCxn id="586" idx="3"/>
            <a:endCxn id="584" idx="1"/>
          </p:cNvCxnSpPr>
          <p:nvPr/>
        </p:nvCxnSpPr>
        <p:spPr>
          <a:xfrm>
            <a:off x="4889675" y="3123625"/>
            <a:ext cx="423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7" name="Google Shape;58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CAVIA Visualization</a:t>
            </a:r>
            <a:endParaRPr b="1"/>
          </a:p>
        </p:txBody>
      </p:sp>
      <p:sp>
        <p:nvSpPr>
          <p:cNvPr id="588" name="Google Shape;588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9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 the </a:t>
            </a:r>
            <a:r>
              <a:rPr lang="en" b="1"/>
              <a:t>outer loop</a:t>
            </a:r>
            <a:r>
              <a:rPr lang="en"/>
              <a:t>, we evaluate the model on          using </a:t>
            </a:r>
            <a:r>
              <a:rPr lang="en">
                <a:solidFill>
                  <a:schemeClr val="dk1"/>
                </a:solidFill>
              </a:rPr>
              <a:t>𝜃, 𝜙</a:t>
            </a:r>
            <a:r>
              <a:rPr lang="en" i="1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r>
              <a:rPr lang="en">
                <a:solidFill>
                  <a:schemeClr val="dk1"/>
                </a:solidFill>
              </a:rPr>
              <a:t> and update 𝜃.</a:t>
            </a:r>
            <a:endParaRPr/>
          </a:p>
        </p:txBody>
      </p:sp>
      <p:sp>
        <p:nvSpPr>
          <p:cNvPr id="589" name="Google Shape;589;p37"/>
          <p:cNvSpPr/>
          <p:nvPr/>
        </p:nvSpPr>
        <p:spPr>
          <a:xfrm>
            <a:off x="2446775" y="2031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37"/>
          <p:cNvSpPr/>
          <p:nvPr/>
        </p:nvSpPr>
        <p:spPr>
          <a:xfrm>
            <a:off x="2446775" y="2200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7"/>
          <p:cNvSpPr/>
          <p:nvPr/>
        </p:nvSpPr>
        <p:spPr>
          <a:xfrm>
            <a:off x="2446775" y="2369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7"/>
          <p:cNvSpPr/>
          <p:nvPr/>
        </p:nvSpPr>
        <p:spPr>
          <a:xfrm>
            <a:off x="1086875" y="2869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7"/>
          <p:cNvSpPr/>
          <p:nvPr/>
        </p:nvSpPr>
        <p:spPr>
          <a:xfrm>
            <a:off x="1086875" y="3039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7"/>
          <p:cNvSpPr/>
          <p:nvPr/>
        </p:nvSpPr>
        <p:spPr>
          <a:xfrm>
            <a:off x="1086875" y="3208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5" name="Google Shape;595;p37"/>
          <p:cNvCxnSpPr/>
          <p:nvPr/>
        </p:nvCxnSpPr>
        <p:spPr>
          <a:xfrm>
            <a:off x="1256075" y="3123625"/>
            <a:ext cx="74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6" name="Google Shape;596;p37"/>
          <p:cNvCxnSpPr>
            <a:stCxn id="591" idx="2"/>
          </p:cNvCxnSpPr>
          <p:nvPr/>
        </p:nvCxnSpPr>
        <p:spPr>
          <a:xfrm>
            <a:off x="2531375" y="2538625"/>
            <a:ext cx="0" cy="39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7" name="Google Shape;597;p37"/>
          <p:cNvSpPr txBox="1"/>
          <p:nvPr/>
        </p:nvSpPr>
        <p:spPr>
          <a:xfrm>
            <a:off x="2001575" y="2928625"/>
            <a:ext cx="1059600" cy="3900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concatenate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8" name="Google Shape;598;p37"/>
          <p:cNvSpPr/>
          <p:nvPr/>
        </p:nvSpPr>
        <p:spPr>
          <a:xfrm>
            <a:off x="6408825" y="2616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7"/>
          <p:cNvSpPr/>
          <p:nvPr/>
        </p:nvSpPr>
        <p:spPr>
          <a:xfrm>
            <a:off x="6408825" y="27852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7"/>
          <p:cNvSpPr/>
          <p:nvPr/>
        </p:nvSpPr>
        <p:spPr>
          <a:xfrm>
            <a:off x="6408825" y="29544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7"/>
          <p:cNvSpPr/>
          <p:nvPr/>
        </p:nvSpPr>
        <p:spPr>
          <a:xfrm>
            <a:off x="6408825" y="31236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37"/>
          <p:cNvSpPr/>
          <p:nvPr/>
        </p:nvSpPr>
        <p:spPr>
          <a:xfrm>
            <a:off x="6408825" y="32928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37"/>
          <p:cNvSpPr/>
          <p:nvPr/>
        </p:nvSpPr>
        <p:spPr>
          <a:xfrm>
            <a:off x="6408825" y="3462025"/>
            <a:ext cx="169200" cy="169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7"/>
          <p:cNvSpPr txBox="1"/>
          <p:nvPr/>
        </p:nvSpPr>
        <p:spPr>
          <a:xfrm>
            <a:off x="1933575" y="2027025"/>
            <a:ext cx="450742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r>
              <a:rPr lang="en" sz="1800" i="1" baseline="-25000" dirty="0" err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 dirty="0"/>
          </a:p>
        </p:txBody>
      </p:sp>
      <p:sp>
        <p:nvSpPr>
          <p:cNvPr id="604" name="Google Shape;604;p37"/>
          <p:cNvSpPr txBox="1"/>
          <p:nvPr/>
        </p:nvSpPr>
        <p:spPr>
          <a:xfrm>
            <a:off x="309375" y="2937275"/>
            <a:ext cx="7137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 </a:t>
            </a:r>
            <a:r>
              <a:rPr lang="en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605" name="Google Shape;605;p37"/>
          <p:cNvCxnSpPr>
            <a:stCxn id="597" idx="3"/>
            <a:endCxn id="598" idx="0"/>
          </p:cNvCxnSpPr>
          <p:nvPr/>
        </p:nvCxnSpPr>
        <p:spPr>
          <a:xfrm rot="10800000" flipH="1">
            <a:off x="3061175" y="2616025"/>
            <a:ext cx="3432300" cy="507600"/>
          </a:xfrm>
          <a:prstGeom prst="bentConnector4">
            <a:avLst>
              <a:gd name="adj1" fmla="val 12435"/>
              <a:gd name="adj2" fmla="val 181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4" name="Google Shape;584;p37"/>
          <p:cNvSpPr txBox="1"/>
          <p:nvPr/>
        </p:nvSpPr>
        <p:spPr>
          <a:xfrm>
            <a:off x="5312675" y="2928625"/>
            <a:ext cx="783600" cy="3900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multiply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06" name="Google Shape;606;p37"/>
          <p:cNvCxnSpPr>
            <a:stCxn id="584" idx="2"/>
          </p:cNvCxnSpPr>
          <p:nvPr/>
        </p:nvCxnSpPr>
        <p:spPr>
          <a:xfrm rot="-5400000" flipH="1">
            <a:off x="6012725" y="3010375"/>
            <a:ext cx="780000" cy="1396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7" name="Google Shape;607;p37"/>
          <p:cNvSpPr txBox="1"/>
          <p:nvPr/>
        </p:nvSpPr>
        <p:spPr>
          <a:xfrm>
            <a:off x="7221275" y="3607225"/>
            <a:ext cx="713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8" name="Google Shape;608;p37"/>
          <p:cNvSpPr txBox="1"/>
          <p:nvPr/>
        </p:nvSpPr>
        <p:spPr>
          <a:xfrm>
            <a:off x="3763125" y="4228775"/>
            <a:ext cx="7322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(1,𝜙)</a:t>
            </a:r>
            <a:endParaRPr i="1" baseline="30000"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09" name="Google Shape;609;p37"/>
          <p:cNvSpPr txBox="1"/>
          <p:nvPr/>
        </p:nvSpPr>
        <p:spPr>
          <a:xfrm>
            <a:off x="4445925" y="4228775"/>
            <a:ext cx="6039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𝜃</a:t>
            </a:r>
            <a:r>
              <a:rPr lang="en" sz="1800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(1,x)</a:t>
            </a:r>
            <a:endParaRPr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10" name="Google Shape;610;p37"/>
          <p:cNvSpPr/>
          <p:nvPr/>
        </p:nvSpPr>
        <p:spPr>
          <a:xfrm rot="-5400000">
            <a:off x="4120667" y="3921850"/>
            <a:ext cx="147000" cy="500700"/>
          </a:xfrm>
          <a:prstGeom prst="leftBrace">
            <a:avLst>
              <a:gd name="adj1" fmla="val 8333"/>
              <a:gd name="adj2" fmla="val 500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7"/>
          <p:cNvSpPr/>
          <p:nvPr/>
        </p:nvSpPr>
        <p:spPr>
          <a:xfrm rot="-5400000">
            <a:off x="4660300" y="3921850"/>
            <a:ext cx="147000" cy="500700"/>
          </a:xfrm>
          <a:prstGeom prst="leftBrace">
            <a:avLst>
              <a:gd name="adj1" fmla="val 8333"/>
              <a:gd name="adj2" fmla="val 500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2" name="Google Shape;612;p37"/>
          <p:cNvPicPr preferRelativeResize="0"/>
          <p:nvPr/>
        </p:nvPicPr>
        <p:blipFill rotWithShape="1">
          <a:blip r:embed="rId3">
            <a:alphaModFix/>
          </a:blip>
          <a:srcRect l="38161" r="33608" b="89892"/>
          <a:stretch/>
        </p:blipFill>
        <p:spPr>
          <a:xfrm>
            <a:off x="4972873" y="1209208"/>
            <a:ext cx="500699" cy="3365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3" name="Google Shape;613;p37"/>
          <p:cNvCxnSpPr>
            <a:stCxn id="614" idx="3"/>
          </p:cNvCxnSpPr>
          <p:nvPr/>
        </p:nvCxnSpPr>
        <p:spPr>
          <a:xfrm>
            <a:off x="4889675" y="3123625"/>
            <a:ext cx="423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5" name="Google Shape;615;p37"/>
          <p:cNvSpPr/>
          <p:nvPr/>
        </p:nvSpPr>
        <p:spPr>
          <a:xfrm rot="-5400000">
            <a:off x="3957675" y="2616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37"/>
          <p:cNvSpPr/>
          <p:nvPr/>
        </p:nvSpPr>
        <p:spPr>
          <a:xfrm rot="-5400000">
            <a:off x="4126875" y="2616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37"/>
          <p:cNvSpPr/>
          <p:nvPr/>
        </p:nvSpPr>
        <p:spPr>
          <a:xfrm rot="-5400000">
            <a:off x="4296075" y="2616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7"/>
          <p:cNvSpPr/>
          <p:nvPr/>
        </p:nvSpPr>
        <p:spPr>
          <a:xfrm rot="-5400000">
            <a:off x="4465275" y="2616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7"/>
          <p:cNvSpPr/>
          <p:nvPr/>
        </p:nvSpPr>
        <p:spPr>
          <a:xfrm rot="-5400000">
            <a:off x="4634475" y="2616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7"/>
          <p:cNvSpPr/>
          <p:nvPr/>
        </p:nvSpPr>
        <p:spPr>
          <a:xfrm rot="-5400000">
            <a:off x="4803675" y="2616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37"/>
          <p:cNvSpPr/>
          <p:nvPr/>
        </p:nvSpPr>
        <p:spPr>
          <a:xfrm rot="-5400000">
            <a:off x="3959075" y="2785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7"/>
          <p:cNvSpPr/>
          <p:nvPr/>
        </p:nvSpPr>
        <p:spPr>
          <a:xfrm rot="-5400000">
            <a:off x="4128275" y="2785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7"/>
          <p:cNvSpPr/>
          <p:nvPr/>
        </p:nvSpPr>
        <p:spPr>
          <a:xfrm rot="-5400000">
            <a:off x="4297475" y="2785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37"/>
          <p:cNvSpPr/>
          <p:nvPr/>
        </p:nvSpPr>
        <p:spPr>
          <a:xfrm rot="-5400000">
            <a:off x="4466675" y="2785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37"/>
          <p:cNvSpPr/>
          <p:nvPr/>
        </p:nvSpPr>
        <p:spPr>
          <a:xfrm rot="-5400000">
            <a:off x="4635875" y="2785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37"/>
          <p:cNvSpPr/>
          <p:nvPr/>
        </p:nvSpPr>
        <p:spPr>
          <a:xfrm rot="-5400000">
            <a:off x="4805075" y="2785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37"/>
          <p:cNvSpPr/>
          <p:nvPr/>
        </p:nvSpPr>
        <p:spPr>
          <a:xfrm rot="-5400000">
            <a:off x="3959075" y="2954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7"/>
          <p:cNvSpPr/>
          <p:nvPr/>
        </p:nvSpPr>
        <p:spPr>
          <a:xfrm rot="-5400000">
            <a:off x="4128275" y="2954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37"/>
          <p:cNvSpPr/>
          <p:nvPr/>
        </p:nvSpPr>
        <p:spPr>
          <a:xfrm rot="-5400000">
            <a:off x="4297475" y="2954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37"/>
          <p:cNvSpPr/>
          <p:nvPr/>
        </p:nvSpPr>
        <p:spPr>
          <a:xfrm rot="-5400000">
            <a:off x="4466675" y="2954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37"/>
          <p:cNvSpPr/>
          <p:nvPr/>
        </p:nvSpPr>
        <p:spPr>
          <a:xfrm rot="-5400000">
            <a:off x="4635875" y="2954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37"/>
          <p:cNvSpPr/>
          <p:nvPr/>
        </p:nvSpPr>
        <p:spPr>
          <a:xfrm rot="-5400000">
            <a:off x="4805075" y="2954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37"/>
          <p:cNvSpPr/>
          <p:nvPr/>
        </p:nvSpPr>
        <p:spPr>
          <a:xfrm rot="-5400000">
            <a:off x="3959075" y="3123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37"/>
          <p:cNvSpPr/>
          <p:nvPr/>
        </p:nvSpPr>
        <p:spPr>
          <a:xfrm rot="-5400000">
            <a:off x="4128275" y="3123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37"/>
          <p:cNvSpPr/>
          <p:nvPr/>
        </p:nvSpPr>
        <p:spPr>
          <a:xfrm rot="-5400000">
            <a:off x="4297475" y="31236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37"/>
          <p:cNvSpPr/>
          <p:nvPr/>
        </p:nvSpPr>
        <p:spPr>
          <a:xfrm rot="-5400000">
            <a:off x="4466675" y="3123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37"/>
          <p:cNvSpPr/>
          <p:nvPr/>
        </p:nvSpPr>
        <p:spPr>
          <a:xfrm rot="-5400000">
            <a:off x="4635875" y="3123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7"/>
          <p:cNvSpPr/>
          <p:nvPr/>
        </p:nvSpPr>
        <p:spPr>
          <a:xfrm rot="-5400000">
            <a:off x="4805075" y="31236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37"/>
          <p:cNvSpPr/>
          <p:nvPr/>
        </p:nvSpPr>
        <p:spPr>
          <a:xfrm rot="-5400000">
            <a:off x="3959075" y="3292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7"/>
          <p:cNvSpPr/>
          <p:nvPr/>
        </p:nvSpPr>
        <p:spPr>
          <a:xfrm rot="-5400000">
            <a:off x="4128275" y="3292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37"/>
          <p:cNvSpPr/>
          <p:nvPr/>
        </p:nvSpPr>
        <p:spPr>
          <a:xfrm rot="-5400000">
            <a:off x="4297475" y="32928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7"/>
          <p:cNvSpPr/>
          <p:nvPr/>
        </p:nvSpPr>
        <p:spPr>
          <a:xfrm rot="-5400000">
            <a:off x="4466675" y="3292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37"/>
          <p:cNvSpPr/>
          <p:nvPr/>
        </p:nvSpPr>
        <p:spPr>
          <a:xfrm rot="-5400000">
            <a:off x="4635875" y="3292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37"/>
          <p:cNvSpPr/>
          <p:nvPr/>
        </p:nvSpPr>
        <p:spPr>
          <a:xfrm rot="-5400000">
            <a:off x="4805075" y="32928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7"/>
          <p:cNvSpPr/>
          <p:nvPr/>
        </p:nvSpPr>
        <p:spPr>
          <a:xfrm rot="-5400000">
            <a:off x="3957675" y="3462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37"/>
          <p:cNvSpPr/>
          <p:nvPr/>
        </p:nvSpPr>
        <p:spPr>
          <a:xfrm rot="-5400000">
            <a:off x="4126875" y="3462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37"/>
          <p:cNvSpPr/>
          <p:nvPr/>
        </p:nvSpPr>
        <p:spPr>
          <a:xfrm rot="-5400000">
            <a:off x="4296075" y="34620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37"/>
          <p:cNvSpPr/>
          <p:nvPr/>
        </p:nvSpPr>
        <p:spPr>
          <a:xfrm rot="-5400000">
            <a:off x="4465275" y="3462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37"/>
          <p:cNvSpPr/>
          <p:nvPr/>
        </p:nvSpPr>
        <p:spPr>
          <a:xfrm rot="-5400000">
            <a:off x="4634475" y="3462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37"/>
          <p:cNvSpPr/>
          <p:nvPr/>
        </p:nvSpPr>
        <p:spPr>
          <a:xfrm rot="-5400000">
            <a:off x="4803675" y="34620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37"/>
          <p:cNvSpPr/>
          <p:nvPr/>
        </p:nvSpPr>
        <p:spPr>
          <a:xfrm rot="-5400000">
            <a:off x="3957675" y="3631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37"/>
          <p:cNvSpPr/>
          <p:nvPr/>
        </p:nvSpPr>
        <p:spPr>
          <a:xfrm rot="-5400000">
            <a:off x="4126875" y="3631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37"/>
          <p:cNvSpPr/>
          <p:nvPr/>
        </p:nvSpPr>
        <p:spPr>
          <a:xfrm rot="-5400000">
            <a:off x="4296075" y="36312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7"/>
          <p:cNvSpPr/>
          <p:nvPr/>
        </p:nvSpPr>
        <p:spPr>
          <a:xfrm rot="-5400000">
            <a:off x="4465275" y="3631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7"/>
          <p:cNvSpPr/>
          <p:nvPr/>
        </p:nvSpPr>
        <p:spPr>
          <a:xfrm rot="-5400000">
            <a:off x="4634475" y="3631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37"/>
          <p:cNvSpPr/>
          <p:nvPr/>
        </p:nvSpPr>
        <p:spPr>
          <a:xfrm rot="-5400000">
            <a:off x="4803675" y="36312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7"/>
          <p:cNvSpPr/>
          <p:nvPr/>
        </p:nvSpPr>
        <p:spPr>
          <a:xfrm rot="-5400000">
            <a:off x="3957675" y="3800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37"/>
          <p:cNvSpPr/>
          <p:nvPr/>
        </p:nvSpPr>
        <p:spPr>
          <a:xfrm rot="-5400000">
            <a:off x="4126875" y="3800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37"/>
          <p:cNvSpPr/>
          <p:nvPr/>
        </p:nvSpPr>
        <p:spPr>
          <a:xfrm rot="-5400000">
            <a:off x="4296075" y="3800425"/>
            <a:ext cx="169200" cy="169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37"/>
          <p:cNvSpPr/>
          <p:nvPr/>
        </p:nvSpPr>
        <p:spPr>
          <a:xfrm rot="-5400000">
            <a:off x="4465275" y="3800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37"/>
          <p:cNvSpPr/>
          <p:nvPr/>
        </p:nvSpPr>
        <p:spPr>
          <a:xfrm rot="-5400000">
            <a:off x="4634475" y="3800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37"/>
          <p:cNvSpPr/>
          <p:nvPr/>
        </p:nvSpPr>
        <p:spPr>
          <a:xfrm rot="-5400000">
            <a:off x="4803675" y="3800425"/>
            <a:ext cx="169200" cy="169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Experiments</a:t>
            </a:r>
            <a:endParaRPr b="1"/>
          </a:p>
        </p:txBody>
      </p:sp>
      <p:sp>
        <p:nvSpPr>
          <p:cNvPr id="667" name="Google Shape;667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/>
              <a:t>Regression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Sine curves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Image completion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/>
              <a:t>Classification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Mini-ImageNet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/>
              <a:t>Reinforcement Learning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MuJoCo Cheetah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Regression:</a:t>
            </a:r>
            <a:r>
              <a:rPr lang="en"/>
              <a:t> Sine Curves</a:t>
            </a:r>
            <a:endParaRPr/>
          </a:p>
        </p:txBody>
      </p:sp>
      <p:sp>
        <p:nvSpPr>
          <p:cNvPr id="673" name="Google Shape;673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Problem:</a:t>
            </a:r>
            <a:r>
              <a:rPr lang="en"/>
              <a:t> Fit sine curve with randomly sampled </a:t>
            </a:r>
            <a:br>
              <a:rPr lang="en"/>
            </a:br>
            <a:r>
              <a:rPr lang="en"/>
              <a:t>amplitude and phase.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Train on k=10 training points, test on rest of curve. </a:t>
            </a:r>
            <a:br>
              <a:rPr lang="en"/>
            </a:br>
            <a:r>
              <a:rPr lang="en"/>
              <a:t>Loss is MSE.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To test CAVIA, use between 2 and 50 context </a:t>
            </a:r>
            <a:br>
              <a:rPr lang="en"/>
            </a:br>
            <a:r>
              <a:rPr lang="en"/>
              <a:t>parameters.</a:t>
            </a:r>
            <a:endParaRPr/>
          </a:p>
        </p:txBody>
      </p:sp>
      <p:pic>
        <p:nvPicPr>
          <p:cNvPr id="674" name="Google Shape;674;p39"/>
          <p:cNvPicPr preferRelativeResize="0"/>
          <p:nvPr/>
        </p:nvPicPr>
        <p:blipFill rotWithShape="1">
          <a:blip r:embed="rId3">
            <a:alphaModFix/>
          </a:blip>
          <a:srcRect t="2600"/>
          <a:stretch/>
        </p:blipFill>
        <p:spPr>
          <a:xfrm>
            <a:off x="5669275" y="852583"/>
            <a:ext cx="3139450" cy="25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84725"/>
            <a:ext cx="8839200" cy="104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Google Shape;68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438" y="941525"/>
            <a:ext cx="7333126" cy="20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Regression:</a:t>
            </a:r>
            <a:r>
              <a:rPr lang="en"/>
              <a:t> Sine Curves</a:t>
            </a:r>
            <a:endParaRPr/>
          </a:p>
        </p:txBody>
      </p:sp>
      <p:pic>
        <p:nvPicPr>
          <p:cNvPr id="682" name="Google Shape;68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600" y="3023150"/>
            <a:ext cx="4422793" cy="21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Classification:</a:t>
            </a:r>
            <a:r>
              <a:rPr lang="en"/>
              <a:t> Mini-Imagenet (5-way, 1- or 5-shot)</a:t>
            </a:r>
            <a:endParaRPr/>
          </a:p>
        </p:txBody>
      </p:sp>
      <p:sp>
        <p:nvSpPr>
          <p:cNvPr id="688" name="Google Shape;688;p41"/>
          <p:cNvSpPr txBox="1">
            <a:spLocks noGrp="1"/>
          </p:cNvSpPr>
          <p:nvPr>
            <p:ph type="body" idx="1"/>
          </p:nvPr>
        </p:nvSpPr>
        <p:spPr>
          <a:xfrm>
            <a:off x="524550" y="1374100"/>
            <a:ext cx="8094900" cy="4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/>
              <a:t>Architecture: </a:t>
            </a:r>
            <a:endParaRPr sz="2100" i="1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2100" i="1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2100" b="1"/>
          </a:p>
        </p:txBody>
      </p:sp>
      <p:sp>
        <p:nvSpPr>
          <p:cNvPr id="689" name="Google Shape;689;p41"/>
          <p:cNvSpPr/>
          <p:nvPr/>
        </p:nvSpPr>
        <p:spPr>
          <a:xfrm>
            <a:off x="3129825" y="2587350"/>
            <a:ext cx="216900" cy="1910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1"/>
          <p:cNvSpPr/>
          <p:nvPr/>
        </p:nvSpPr>
        <p:spPr>
          <a:xfrm>
            <a:off x="3780160" y="2587350"/>
            <a:ext cx="216900" cy="1910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1"/>
          <p:cNvSpPr/>
          <p:nvPr/>
        </p:nvSpPr>
        <p:spPr>
          <a:xfrm>
            <a:off x="4430495" y="2587350"/>
            <a:ext cx="216900" cy="1910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1"/>
          <p:cNvSpPr/>
          <p:nvPr/>
        </p:nvSpPr>
        <p:spPr>
          <a:xfrm>
            <a:off x="5080830" y="2587350"/>
            <a:ext cx="216900" cy="1910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1"/>
          <p:cNvSpPr/>
          <p:nvPr/>
        </p:nvSpPr>
        <p:spPr>
          <a:xfrm>
            <a:off x="5731165" y="2587350"/>
            <a:ext cx="216900" cy="1910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1"/>
          <p:cNvSpPr/>
          <p:nvPr/>
        </p:nvSpPr>
        <p:spPr>
          <a:xfrm>
            <a:off x="6381500" y="2587350"/>
            <a:ext cx="385500" cy="191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5" name="Google Shape;695;p41"/>
          <p:cNvCxnSpPr>
            <a:stCxn id="689" idx="3"/>
            <a:endCxn id="690" idx="1"/>
          </p:cNvCxnSpPr>
          <p:nvPr/>
        </p:nvCxnSpPr>
        <p:spPr>
          <a:xfrm>
            <a:off x="3346725" y="3542700"/>
            <a:ext cx="43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6" name="Google Shape;696;p41"/>
          <p:cNvCxnSpPr>
            <a:stCxn id="690" idx="3"/>
            <a:endCxn id="691" idx="1"/>
          </p:cNvCxnSpPr>
          <p:nvPr/>
        </p:nvCxnSpPr>
        <p:spPr>
          <a:xfrm>
            <a:off x="3997060" y="3542700"/>
            <a:ext cx="43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7" name="Google Shape;697;p41"/>
          <p:cNvCxnSpPr>
            <a:stCxn id="691" idx="3"/>
            <a:endCxn id="692" idx="1"/>
          </p:cNvCxnSpPr>
          <p:nvPr/>
        </p:nvCxnSpPr>
        <p:spPr>
          <a:xfrm>
            <a:off x="4647395" y="3542700"/>
            <a:ext cx="43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" name="Google Shape;698;p41"/>
          <p:cNvCxnSpPr>
            <a:endCxn id="693" idx="1"/>
          </p:cNvCxnSpPr>
          <p:nvPr/>
        </p:nvCxnSpPr>
        <p:spPr>
          <a:xfrm>
            <a:off x="5297665" y="3542700"/>
            <a:ext cx="43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9" name="Google Shape;699;p41"/>
          <p:cNvCxnSpPr/>
          <p:nvPr/>
        </p:nvCxnSpPr>
        <p:spPr>
          <a:xfrm>
            <a:off x="6767000" y="3542700"/>
            <a:ext cx="400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" name="Google Shape;700;p41"/>
          <p:cNvCxnSpPr>
            <a:endCxn id="694" idx="1"/>
          </p:cNvCxnSpPr>
          <p:nvPr/>
        </p:nvCxnSpPr>
        <p:spPr>
          <a:xfrm>
            <a:off x="5942000" y="3542700"/>
            <a:ext cx="43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1" name="Google Shape;701;p41"/>
          <p:cNvCxnSpPr>
            <a:endCxn id="689" idx="1"/>
          </p:cNvCxnSpPr>
          <p:nvPr/>
        </p:nvCxnSpPr>
        <p:spPr>
          <a:xfrm>
            <a:off x="2605725" y="3542700"/>
            <a:ext cx="5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02" name="Google Shape;70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500" y="2885542"/>
            <a:ext cx="1762175" cy="1174783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1"/>
          <p:cNvSpPr txBox="1"/>
          <p:nvPr/>
        </p:nvSpPr>
        <p:spPr>
          <a:xfrm>
            <a:off x="1011600" y="4124600"/>
            <a:ext cx="1454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image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4" name="Google Shape;704;p41"/>
          <p:cNvSpPr txBox="1"/>
          <p:nvPr/>
        </p:nvSpPr>
        <p:spPr>
          <a:xfrm>
            <a:off x="3161238" y="4438700"/>
            <a:ext cx="1454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Helvetica Neue"/>
                <a:ea typeface="Helvetica Neue"/>
                <a:cs typeface="Helvetica Neue"/>
                <a:sym typeface="Helvetica Neue"/>
              </a:rPr>
              <a:t>3x conv</a:t>
            </a:r>
            <a:endParaRPr sz="1500" i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5" name="Google Shape;705;p41"/>
          <p:cNvSpPr txBox="1"/>
          <p:nvPr/>
        </p:nvSpPr>
        <p:spPr>
          <a:xfrm>
            <a:off x="4461925" y="4438700"/>
            <a:ext cx="1454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Helvetica Neue"/>
                <a:ea typeface="Helvetica Neue"/>
                <a:cs typeface="Helvetica Neue"/>
                <a:sym typeface="Helvetica Neue"/>
              </a:rPr>
              <a:t>FiLM</a:t>
            </a:r>
            <a:endParaRPr sz="1500" i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6" name="Google Shape;706;p41"/>
          <p:cNvSpPr txBox="1"/>
          <p:nvPr/>
        </p:nvSpPr>
        <p:spPr>
          <a:xfrm>
            <a:off x="5112275" y="4438700"/>
            <a:ext cx="1454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Helvetica Neue"/>
                <a:ea typeface="Helvetica Neue"/>
                <a:cs typeface="Helvetica Neue"/>
                <a:sym typeface="Helvetica Neue"/>
              </a:rPr>
              <a:t>conv</a:t>
            </a:r>
            <a:endParaRPr sz="1500" i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7" name="Google Shape;707;p41"/>
          <p:cNvSpPr txBox="1"/>
          <p:nvPr/>
        </p:nvSpPr>
        <p:spPr>
          <a:xfrm>
            <a:off x="5846900" y="4438700"/>
            <a:ext cx="1454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Helvetica Neue"/>
                <a:ea typeface="Helvetica Neue"/>
                <a:cs typeface="Helvetica Neue"/>
                <a:sym typeface="Helvetica Neue"/>
              </a:rPr>
              <a:t>FC</a:t>
            </a:r>
            <a:endParaRPr sz="1500" i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8" name="Google Shape;708;p41"/>
          <p:cNvSpPr/>
          <p:nvPr/>
        </p:nvSpPr>
        <p:spPr>
          <a:xfrm>
            <a:off x="7470075" y="2379075"/>
            <a:ext cx="314100" cy="3141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1"/>
          <p:cNvSpPr/>
          <p:nvPr/>
        </p:nvSpPr>
        <p:spPr>
          <a:xfrm>
            <a:off x="7470075" y="2693175"/>
            <a:ext cx="314100" cy="314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1"/>
          <p:cNvSpPr/>
          <p:nvPr/>
        </p:nvSpPr>
        <p:spPr>
          <a:xfrm>
            <a:off x="7470075" y="3007275"/>
            <a:ext cx="314100" cy="3141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1"/>
          <p:cNvSpPr/>
          <p:nvPr/>
        </p:nvSpPr>
        <p:spPr>
          <a:xfrm>
            <a:off x="7470075" y="3315888"/>
            <a:ext cx="314100" cy="3141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1"/>
          <p:cNvSpPr/>
          <p:nvPr/>
        </p:nvSpPr>
        <p:spPr>
          <a:xfrm>
            <a:off x="7470075" y="3635463"/>
            <a:ext cx="314100" cy="314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1"/>
          <p:cNvSpPr/>
          <p:nvPr/>
        </p:nvSpPr>
        <p:spPr>
          <a:xfrm>
            <a:off x="7470075" y="3955038"/>
            <a:ext cx="314100" cy="314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1"/>
          <p:cNvSpPr/>
          <p:nvPr/>
        </p:nvSpPr>
        <p:spPr>
          <a:xfrm>
            <a:off x="7470075" y="4263663"/>
            <a:ext cx="314100" cy="314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1"/>
          <p:cNvSpPr txBox="1"/>
          <p:nvPr/>
        </p:nvSpPr>
        <p:spPr>
          <a:xfrm>
            <a:off x="6899775" y="4744375"/>
            <a:ext cx="1454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Helvetica Neue"/>
                <a:ea typeface="Helvetica Neue"/>
                <a:cs typeface="Helvetica Neue"/>
                <a:sym typeface="Helvetica Neue"/>
              </a:rPr>
              <a:t>output</a:t>
            </a:r>
            <a:endParaRPr sz="1500" i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6" name="Google Shape;716;p41"/>
          <p:cNvSpPr txBox="1"/>
          <p:nvPr/>
        </p:nvSpPr>
        <p:spPr>
          <a:xfrm>
            <a:off x="4079325" y="2016450"/>
            <a:ext cx="919200" cy="8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𝜙</a:t>
            </a:r>
            <a:endParaRPr sz="300"/>
          </a:p>
        </p:txBody>
      </p:sp>
      <p:cxnSp>
        <p:nvCxnSpPr>
          <p:cNvPr id="717" name="Google Shape;717;p41"/>
          <p:cNvCxnSpPr>
            <a:endCxn id="692" idx="0"/>
          </p:cNvCxnSpPr>
          <p:nvPr/>
        </p:nvCxnSpPr>
        <p:spPr>
          <a:xfrm>
            <a:off x="4736280" y="2347050"/>
            <a:ext cx="453000" cy="2403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8" name="Google Shape;718;p41"/>
          <p:cNvSpPr txBox="1"/>
          <p:nvPr/>
        </p:nvSpPr>
        <p:spPr>
          <a:xfrm>
            <a:off x="2747100" y="2192800"/>
            <a:ext cx="1824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Helvetica Neue"/>
                <a:ea typeface="Helvetica Neue"/>
                <a:cs typeface="Helvetica Neue"/>
                <a:sym typeface="Helvetica Neue"/>
              </a:rPr>
              <a:t>context params</a:t>
            </a:r>
            <a:endParaRPr sz="1500" i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Classification:</a:t>
            </a:r>
            <a:r>
              <a:rPr lang="en"/>
              <a:t> Mini-Imagenet Results</a:t>
            </a:r>
            <a:endParaRPr/>
          </a:p>
        </p:txBody>
      </p:sp>
      <p:pic>
        <p:nvPicPr>
          <p:cNvPr id="724" name="Google Shape;72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640" y="1120950"/>
            <a:ext cx="6672127" cy="3820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Image Completion: </a:t>
            </a:r>
            <a:r>
              <a:rPr lang="en"/>
              <a:t>Example</a:t>
            </a:r>
            <a:endParaRPr/>
          </a:p>
        </p:txBody>
      </p:sp>
      <p:grpSp>
        <p:nvGrpSpPr>
          <p:cNvPr id="730" name="Google Shape;730;p43"/>
          <p:cNvGrpSpPr/>
          <p:nvPr/>
        </p:nvGrpSpPr>
        <p:grpSpPr>
          <a:xfrm>
            <a:off x="622143" y="1352275"/>
            <a:ext cx="7719032" cy="3246350"/>
            <a:chOff x="-108357" y="1195325"/>
            <a:chExt cx="7719032" cy="3246350"/>
          </a:xfrm>
        </p:grpSpPr>
        <p:pic>
          <p:nvPicPr>
            <p:cNvPr id="731" name="Google Shape;73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33325" y="1518725"/>
              <a:ext cx="6077349" cy="2922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43"/>
            <p:cNvSpPr txBox="1"/>
            <p:nvPr/>
          </p:nvSpPr>
          <p:spPr>
            <a:xfrm>
              <a:off x="1533325" y="1195325"/>
              <a:ext cx="146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Helvetica Neue"/>
                  <a:ea typeface="Helvetica Neue"/>
                  <a:cs typeface="Helvetica Neue"/>
                  <a:sym typeface="Helvetica Neue"/>
                </a:rPr>
                <a:t>Full image</a:t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3" name="Google Shape;733;p43"/>
            <p:cNvSpPr txBox="1"/>
            <p:nvPr/>
          </p:nvSpPr>
          <p:spPr>
            <a:xfrm>
              <a:off x="3111000" y="1195325"/>
              <a:ext cx="146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Helvetica Neue"/>
                  <a:ea typeface="Helvetica Neue"/>
                  <a:cs typeface="Helvetica Neue"/>
                  <a:sym typeface="Helvetica Neue"/>
                </a:rPr>
                <a:t>K=10</a:t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4" name="Google Shape;734;p43"/>
            <p:cNvSpPr txBox="1"/>
            <p:nvPr/>
          </p:nvSpPr>
          <p:spPr>
            <a:xfrm>
              <a:off x="4572000" y="1195325"/>
              <a:ext cx="146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Helvetica Neue"/>
                  <a:ea typeface="Helvetica Neue"/>
                  <a:cs typeface="Helvetica Neue"/>
                  <a:sym typeface="Helvetica Neue"/>
                </a:rPr>
                <a:t>K=100</a:t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5" name="Google Shape;735;p43"/>
            <p:cNvSpPr txBox="1"/>
            <p:nvPr/>
          </p:nvSpPr>
          <p:spPr>
            <a:xfrm>
              <a:off x="6149675" y="1195325"/>
              <a:ext cx="146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Helvetica Neue"/>
                  <a:ea typeface="Helvetica Neue"/>
                  <a:cs typeface="Helvetica Neue"/>
                  <a:sym typeface="Helvetica Neue"/>
                </a:rPr>
                <a:t>K=1000</a:t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6" name="Google Shape;736;p43"/>
            <p:cNvSpPr txBox="1"/>
            <p:nvPr/>
          </p:nvSpPr>
          <p:spPr>
            <a:xfrm rot="-706">
              <a:off x="-108357" y="2097299"/>
              <a:ext cx="146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latin typeface="Helvetica Neue"/>
                  <a:ea typeface="Helvetica Neue"/>
                  <a:cs typeface="Helvetica Neue"/>
                  <a:sym typeface="Helvetica Neue"/>
                </a:rPr>
                <a:t>Input</a:t>
              </a:r>
              <a:endParaRPr b="1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7" name="Google Shape;737;p43"/>
            <p:cNvSpPr txBox="1"/>
            <p:nvPr/>
          </p:nvSpPr>
          <p:spPr>
            <a:xfrm>
              <a:off x="72325" y="3657225"/>
              <a:ext cx="146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latin typeface="Helvetica Neue"/>
                  <a:ea typeface="Helvetica Neue"/>
                  <a:cs typeface="Helvetica Neue"/>
                  <a:sym typeface="Helvetica Neue"/>
                </a:rPr>
                <a:t>Completion</a:t>
              </a:r>
              <a:endParaRPr b="1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Image Completion: </a:t>
            </a:r>
            <a:r>
              <a:rPr lang="en"/>
              <a:t>Results</a:t>
            </a:r>
            <a:endParaRPr/>
          </a:p>
        </p:txBody>
      </p:sp>
      <p:pic>
        <p:nvPicPr>
          <p:cNvPr id="743" name="Google Shape;74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25" y="1643400"/>
            <a:ext cx="7641149" cy="232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Reinforcement Learning: </a:t>
            </a:r>
            <a:r>
              <a:rPr lang="en"/>
              <a:t>Cheetah </a:t>
            </a:r>
            <a:endParaRPr/>
          </a:p>
        </p:txBody>
      </p:sp>
      <p:sp>
        <p:nvSpPr>
          <p:cNvPr id="749" name="Google Shape;749;p45"/>
          <p:cNvSpPr txBox="1">
            <a:spLocks noGrp="1"/>
          </p:cNvSpPr>
          <p:nvPr>
            <p:ph type="body" idx="1"/>
          </p:nvPr>
        </p:nvSpPr>
        <p:spPr>
          <a:xfrm>
            <a:off x="311700" y="1732225"/>
            <a:ext cx="3988500" cy="15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Task: </a:t>
            </a:r>
            <a:r>
              <a:rPr lang="en" sz="1900" dirty="0"/>
              <a:t>Move in desired direction or at desired velocity.</a:t>
            </a:r>
            <a:endParaRPr sz="19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 b="1" dirty="0"/>
              <a:t>Inner loop:</a:t>
            </a:r>
            <a:r>
              <a:rPr lang="en" sz="1900" dirty="0"/>
              <a:t> 1 step (20 rollouts) on policy gradient with advantage</a:t>
            </a:r>
            <a:br>
              <a:rPr lang="en" sz="1900" dirty="0"/>
            </a:br>
            <a:r>
              <a:rPr lang="en" sz="1900" b="1" dirty="0"/>
              <a:t>Outer loop:</a:t>
            </a:r>
            <a:r>
              <a:rPr lang="en" sz="1900" dirty="0"/>
              <a:t> TRPO</a:t>
            </a:r>
            <a:endParaRPr sz="1900" u="sng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900" dirty="0"/>
          </a:p>
        </p:txBody>
      </p:sp>
      <p:pic>
        <p:nvPicPr>
          <p:cNvPr id="2" name="Online Media 1" descr="CAVIA for HalfCheetahDir - Forward">
            <a:hlinkClick r:id="" action="ppaction://media"/>
            <a:extLst>
              <a:ext uri="{FF2B5EF4-FFF2-40B4-BE49-F238E27FC236}">
                <a16:creationId xmlns:a16="http://schemas.microsoft.com/office/drawing/2014/main" id="{292F9E7B-6CC1-5445-9473-54A487CFBF2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394468" y="1542237"/>
            <a:ext cx="4351689" cy="2447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Reinforcement Learning: </a:t>
            </a:r>
            <a:r>
              <a:rPr lang="en"/>
              <a:t>Cheetah Results</a:t>
            </a:r>
            <a:endParaRPr/>
          </a:p>
        </p:txBody>
      </p:sp>
      <p:pic>
        <p:nvPicPr>
          <p:cNvPr id="756" name="Google Shape;7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00" y="1603750"/>
            <a:ext cx="3739925" cy="28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350" y="1603738"/>
            <a:ext cx="3739925" cy="2804964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6"/>
          <p:cNvSpPr txBox="1"/>
          <p:nvPr/>
        </p:nvSpPr>
        <p:spPr>
          <a:xfrm>
            <a:off x="1709131" y="1166250"/>
            <a:ext cx="2109300" cy="14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Direction:</a:t>
            </a:r>
            <a:endParaRPr/>
          </a:p>
        </p:txBody>
      </p:sp>
      <p:sp>
        <p:nvSpPr>
          <p:cNvPr id="759" name="Google Shape;759;p46"/>
          <p:cNvSpPr txBox="1"/>
          <p:nvPr/>
        </p:nvSpPr>
        <p:spPr>
          <a:xfrm>
            <a:off x="5558669" y="1166250"/>
            <a:ext cx="2109300" cy="14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Velocity: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Summary:</a:t>
            </a:r>
            <a:endParaRPr/>
          </a:p>
        </p:txBody>
      </p:sp>
      <p:sp>
        <p:nvSpPr>
          <p:cNvPr id="765" name="Google Shape;765;p47"/>
          <p:cNvSpPr txBox="1">
            <a:spLocks noGrp="1"/>
          </p:cNvSpPr>
          <p:nvPr>
            <p:ph type="body" idx="1"/>
          </p:nvPr>
        </p:nvSpPr>
        <p:spPr>
          <a:xfrm>
            <a:off x="524550" y="1467250"/>
            <a:ext cx="8094900" cy="28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/>
              <a:t>CAVIA</a:t>
            </a:r>
            <a:r>
              <a:rPr lang="en" sz="2100"/>
              <a:t> is a variant of </a:t>
            </a:r>
            <a:r>
              <a:rPr lang="en" sz="2100" b="1"/>
              <a:t>MAML</a:t>
            </a:r>
            <a:r>
              <a:rPr lang="en" sz="2100"/>
              <a:t> which splits the model parameters into </a:t>
            </a:r>
            <a:r>
              <a:rPr lang="en" sz="2100" b="1"/>
              <a:t>context parameters</a:t>
            </a:r>
            <a:r>
              <a:rPr lang="en" sz="2100"/>
              <a:t> </a:t>
            </a:r>
            <a:r>
              <a:rPr lang="en" sz="2100" i="1"/>
              <a:t>(adapted to each task)</a:t>
            </a:r>
            <a:r>
              <a:rPr lang="en" sz="2100"/>
              <a:t> and </a:t>
            </a:r>
            <a:r>
              <a:rPr lang="en" sz="2100" b="1"/>
              <a:t>shared parameters</a:t>
            </a:r>
            <a:r>
              <a:rPr lang="en" sz="2100"/>
              <a:t> </a:t>
            </a:r>
            <a:r>
              <a:rPr lang="en" sz="2100" i="1"/>
              <a:t>(meta-learned across tasks).</a:t>
            </a:r>
            <a:endParaRPr sz="2100" i="1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2100" i="1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100" b="1"/>
              <a:t>Context parameters</a:t>
            </a:r>
            <a:r>
              <a:rPr lang="en" sz="2100"/>
              <a:t> yield a low-dimensional </a:t>
            </a:r>
            <a:r>
              <a:rPr lang="en" sz="2100" b="1"/>
              <a:t>task embedding</a:t>
            </a:r>
            <a:r>
              <a:rPr lang="en" sz="2100"/>
              <a:t>, which results in </a:t>
            </a:r>
            <a:r>
              <a:rPr lang="en" sz="2100" b="1"/>
              <a:t>less meta-overfitting</a:t>
            </a:r>
            <a:r>
              <a:rPr lang="en" sz="2100"/>
              <a:t> and more </a:t>
            </a:r>
            <a:r>
              <a:rPr lang="en" sz="2100" b="1"/>
              <a:t>interpretability.</a:t>
            </a:r>
            <a:endParaRPr sz="21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8"/>
          <p:cNvSpPr/>
          <p:nvPr/>
        </p:nvSpPr>
        <p:spPr>
          <a:xfrm>
            <a:off x="1047975" y="3041225"/>
            <a:ext cx="7916700" cy="176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8"/>
          <p:cNvSpPr/>
          <p:nvPr/>
        </p:nvSpPr>
        <p:spPr>
          <a:xfrm>
            <a:off x="1047975" y="1075325"/>
            <a:ext cx="7916700" cy="17649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Discussion: </a:t>
            </a:r>
            <a:r>
              <a:rPr lang="en"/>
              <a:t>Pros &amp; Cons</a:t>
            </a:r>
            <a:endParaRPr/>
          </a:p>
        </p:txBody>
      </p:sp>
      <p:sp>
        <p:nvSpPr>
          <p:cNvPr id="773" name="Google Shape;773;p48"/>
          <p:cNvSpPr txBox="1"/>
          <p:nvPr/>
        </p:nvSpPr>
        <p:spPr>
          <a:xfrm>
            <a:off x="4055450" y="1178375"/>
            <a:ext cx="44448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-"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easy to understand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-"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robustness to hyperparameters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-"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interpretability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-"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generalization (less meta-overfit)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-"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connections to multi-task learning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4" name="Google Shape;774;p48"/>
          <p:cNvSpPr txBox="1"/>
          <p:nvPr/>
        </p:nvSpPr>
        <p:spPr>
          <a:xfrm>
            <a:off x="4055450" y="3119825"/>
            <a:ext cx="4833000" cy="16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-"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novelty (largely the same as MAML)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-"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could use more experiments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-"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unclear performance gain over state-of-the-art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-"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introduces additional hyperparameters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5" name="Google Shape;775;p48"/>
          <p:cNvSpPr txBox="1">
            <a:spLocks noGrp="1"/>
          </p:cNvSpPr>
          <p:nvPr>
            <p:ph type="title"/>
          </p:nvPr>
        </p:nvSpPr>
        <p:spPr>
          <a:xfrm>
            <a:off x="1323550" y="1706225"/>
            <a:ext cx="23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/>
              <a:t>Strengths:</a:t>
            </a:r>
            <a:endParaRPr sz="2300"/>
          </a:p>
        </p:txBody>
      </p:sp>
      <p:sp>
        <p:nvSpPr>
          <p:cNvPr id="776" name="Google Shape;776;p48"/>
          <p:cNvSpPr txBox="1">
            <a:spLocks noGrp="1"/>
          </p:cNvSpPr>
          <p:nvPr>
            <p:ph type="title"/>
          </p:nvPr>
        </p:nvSpPr>
        <p:spPr>
          <a:xfrm>
            <a:off x="1323550" y="3646625"/>
            <a:ext cx="235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/>
              <a:t>Weaknesses:</a:t>
            </a:r>
            <a:endParaRPr sz="2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Discussion &amp; Future Work</a:t>
            </a:r>
            <a:endParaRPr/>
          </a:p>
        </p:txBody>
      </p:sp>
      <p:sp>
        <p:nvSpPr>
          <p:cNvPr id="782" name="Google Shape;782;p49"/>
          <p:cNvSpPr txBox="1">
            <a:spLocks noGrp="1"/>
          </p:cNvSpPr>
          <p:nvPr>
            <p:ph type="body" idx="1"/>
          </p:nvPr>
        </p:nvSpPr>
        <p:spPr>
          <a:xfrm>
            <a:off x="524550" y="1165500"/>
            <a:ext cx="8094900" cy="28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Is CAVIA more or less expressive than MAML? Why?</a:t>
            </a:r>
            <a:endParaRPr sz="21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100"/>
              <a:t>Could other architectures (e.g. multiplicative gating, concatenation) better leverage the learned task embedding?</a:t>
            </a:r>
            <a:endParaRPr sz="21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100"/>
              <a:t>Should CAVIA perform well in complex or unstructured domains? When does there exist a good embedding for a task?</a:t>
            </a:r>
            <a:endParaRPr sz="21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100"/>
              <a:t>How do we choose the size of the context parameters? </a:t>
            </a:r>
            <a:br>
              <a:rPr lang="en" sz="2100"/>
            </a:br>
            <a:r>
              <a:rPr lang="en" sz="2100"/>
              <a:t>What happens as we send the # of context parameters to zero?</a:t>
            </a:r>
            <a:endParaRPr sz="2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Conditioning on Context Parameters</a:t>
            </a:r>
            <a:endParaRPr b="1"/>
          </a:p>
        </p:txBody>
      </p:sp>
      <p:sp>
        <p:nvSpPr>
          <p:cNvPr id="793" name="Google Shape;793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9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For CNNs, the authors of CAVIA use </a:t>
            </a:r>
            <a:r>
              <a:rPr lang="en" b="1"/>
              <a:t>f</a:t>
            </a:r>
            <a:r>
              <a:rPr lang="en"/>
              <a:t>eature-w</a:t>
            </a:r>
            <a:r>
              <a:rPr lang="en" b="1"/>
              <a:t>i</a:t>
            </a:r>
            <a:r>
              <a:rPr lang="en"/>
              <a:t>se </a:t>
            </a:r>
            <a:r>
              <a:rPr lang="en" b="1"/>
              <a:t>l</a:t>
            </a:r>
            <a:r>
              <a:rPr lang="en"/>
              <a:t>inear </a:t>
            </a:r>
            <a:r>
              <a:rPr lang="en" b="1"/>
              <a:t>m</a:t>
            </a:r>
            <a:r>
              <a:rPr lang="en"/>
              <a:t>odulation (FiLM, Perez 2017).</a:t>
            </a:r>
            <a:endParaRPr/>
          </a:p>
        </p:txBody>
      </p:sp>
      <p:pic>
        <p:nvPicPr>
          <p:cNvPr id="794" name="Google Shape;7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571" y="1668600"/>
            <a:ext cx="1910925" cy="333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2"/>
          <p:cNvSpPr txBox="1">
            <a:spLocks noGrp="1"/>
          </p:cNvSpPr>
          <p:nvPr>
            <p:ph type="title"/>
          </p:nvPr>
        </p:nvSpPr>
        <p:spPr>
          <a:xfrm>
            <a:off x="1593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brainstorm</a:t>
            </a:r>
            <a:endParaRPr/>
          </a:p>
        </p:txBody>
      </p:sp>
      <p:sp>
        <p:nvSpPr>
          <p:cNvPr id="800" name="Google Shape;800;p52"/>
          <p:cNvSpPr txBox="1">
            <a:spLocks noGrp="1"/>
          </p:cNvSpPr>
          <p:nvPr>
            <p:ph type="body" idx="1"/>
          </p:nvPr>
        </p:nvSpPr>
        <p:spPr>
          <a:xfrm>
            <a:off x="6900" y="847675"/>
            <a:ext cx="5811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●"/>
            </a:pPr>
            <a:r>
              <a:rPr lang="en">
                <a:solidFill>
                  <a:srgbClr val="4A86E8"/>
                </a:solidFill>
              </a:rPr>
              <a:t>Motivation</a:t>
            </a:r>
            <a:endParaRPr>
              <a:solidFill>
                <a:srgbClr val="4A86E8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Char char="○"/>
            </a:pPr>
            <a:r>
              <a:rPr lang="en">
                <a:solidFill>
                  <a:srgbClr val="4A86E8"/>
                </a:solidFill>
              </a:rPr>
              <a:t>MAML optimization is hard</a:t>
            </a:r>
            <a:endParaRPr>
              <a:solidFill>
                <a:srgbClr val="4A86E8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Char char="○"/>
            </a:pPr>
            <a:r>
              <a:rPr lang="en">
                <a:solidFill>
                  <a:srgbClr val="4A86E8"/>
                </a:solidFill>
              </a:rPr>
              <a:t>MAML easily meta-overfits</a:t>
            </a:r>
            <a:endParaRPr>
              <a:solidFill>
                <a:srgbClr val="4A86E8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Char char="○"/>
            </a:pPr>
            <a:r>
              <a:rPr lang="en">
                <a:solidFill>
                  <a:srgbClr val="4A86E8"/>
                </a:solidFill>
              </a:rPr>
              <a:t>Task embeddings are useful and can be interpretable</a:t>
            </a:r>
            <a:endParaRPr>
              <a:solidFill>
                <a:srgbClr val="4A86E8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Char char="○"/>
            </a:pPr>
            <a:r>
              <a:rPr lang="en">
                <a:solidFill>
                  <a:srgbClr val="4A86E8"/>
                </a:solidFill>
              </a:rPr>
              <a:t>Related work &amp; background (MAML, …)</a:t>
            </a:r>
            <a:endParaRPr>
              <a:solidFill>
                <a:srgbClr val="4A86E8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800"/>
              <a:buChar char="●"/>
            </a:pPr>
            <a:r>
              <a:rPr lang="en">
                <a:solidFill>
                  <a:srgbClr val="C27BA0"/>
                </a:solidFill>
              </a:rPr>
              <a:t>Method overview</a:t>
            </a:r>
            <a:endParaRPr>
              <a:solidFill>
                <a:srgbClr val="C27BA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Char char="○"/>
            </a:pPr>
            <a:r>
              <a:rPr lang="en">
                <a:solidFill>
                  <a:srgbClr val="C27BA0"/>
                </a:solidFill>
              </a:rPr>
              <a:t>Separation of parameters into 2 parts:</a:t>
            </a:r>
            <a:endParaRPr>
              <a:solidFill>
                <a:srgbClr val="C27BA0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Char char="■"/>
            </a:pPr>
            <a:r>
              <a:rPr lang="en">
                <a:solidFill>
                  <a:srgbClr val="C27BA0"/>
                </a:solidFill>
              </a:rPr>
              <a:t>Context parameters (phi)</a:t>
            </a:r>
            <a:endParaRPr>
              <a:solidFill>
                <a:srgbClr val="C27BA0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Char char="■"/>
            </a:pPr>
            <a:r>
              <a:rPr lang="en">
                <a:solidFill>
                  <a:srgbClr val="C27BA0"/>
                </a:solidFill>
              </a:rPr>
              <a:t>Shared parameters (theta)</a:t>
            </a:r>
            <a:endParaRPr>
              <a:solidFill>
                <a:srgbClr val="C27BA0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Char char="■"/>
            </a:pPr>
            <a:r>
              <a:rPr lang="en">
                <a:solidFill>
                  <a:srgbClr val="C27BA0"/>
                </a:solidFill>
              </a:rPr>
              <a:t>Phi is initialized from zero and learned on each task</a:t>
            </a:r>
            <a:endParaRPr>
              <a:solidFill>
                <a:srgbClr val="C27BA0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Char char="■"/>
            </a:pPr>
            <a:r>
              <a:rPr lang="en">
                <a:solidFill>
                  <a:srgbClr val="C27BA0"/>
                </a:solidFill>
              </a:rPr>
              <a:t>Theta is updated after each meta-batch</a:t>
            </a:r>
            <a:endParaRPr>
              <a:solidFill>
                <a:srgbClr val="C27BA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Char char="○"/>
            </a:pPr>
            <a:r>
              <a:rPr lang="en">
                <a:solidFill>
                  <a:srgbClr val="C27BA0"/>
                </a:solidFill>
              </a:rPr>
              <a:t>Architecture</a:t>
            </a:r>
            <a:endParaRPr>
              <a:solidFill>
                <a:srgbClr val="C27BA0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Char char="■"/>
            </a:pPr>
            <a:r>
              <a:rPr lang="en">
                <a:solidFill>
                  <a:srgbClr val="C27BA0"/>
                </a:solidFill>
              </a:rPr>
              <a:t>Fully connected network: phi concatenated to input</a:t>
            </a:r>
            <a:endParaRPr>
              <a:solidFill>
                <a:srgbClr val="C27BA0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Char char="■"/>
            </a:pPr>
            <a:r>
              <a:rPr lang="en">
                <a:solidFill>
                  <a:srgbClr val="C27BA0"/>
                </a:solidFill>
              </a:rPr>
              <a:t>CNN: use FiLM, which performs affine transformation on feature maps</a:t>
            </a:r>
            <a:endParaRPr>
              <a:solidFill>
                <a:srgbClr val="C27BA0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Char char="■"/>
            </a:pPr>
            <a:r>
              <a:rPr lang="en">
                <a:solidFill>
                  <a:srgbClr val="C27BA0"/>
                </a:solidFill>
              </a:rPr>
              <a:t>Initialization to zeros</a:t>
            </a:r>
            <a:endParaRPr>
              <a:solidFill>
                <a:srgbClr val="C27BA0"/>
              </a:solidFill>
            </a:endParaRPr>
          </a:p>
        </p:txBody>
      </p:sp>
      <p:sp>
        <p:nvSpPr>
          <p:cNvPr id="801" name="Google Shape;801;p52"/>
          <p:cNvSpPr txBox="1"/>
          <p:nvPr/>
        </p:nvSpPr>
        <p:spPr>
          <a:xfrm>
            <a:off x="5666100" y="238075"/>
            <a:ext cx="33255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rgbClr val="C27B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Experiments</a:t>
            </a:r>
            <a:endParaRPr sz="1800">
              <a:solidFill>
                <a:srgbClr val="C27BA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7BA0"/>
              </a:buClr>
              <a:buSzPts val="1400"/>
              <a:buFont typeface="Helvetica Neue"/>
              <a:buChar char="○"/>
            </a:pPr>
            <a:r>
              <a:rPr lang="en">
                <a:solidFill>
                  <a:srgbClr val="C27B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Regression: sine curves</a:t>
            </a:r>
            <a:endParaRPr>
              <a:solidFill>
                <a:srgbClr val="C27BA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Helvetica Neue"/>
              <a:buChar char="○"/>
            </a:pPr>
            <a:r>
              <a:rPr lang="en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completion</a:t>
            </a:r>
            <a:endParaRPr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Helvetica Neue"/>
              <a:buChar char="○"/>
            </a:pPr>
            <a:r>
              <a:rPr lang="en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Classification</a:t>
            </a:r>
            <a:endParaRPr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Helvetica Neue"/>
              <a:buChar char="○"/>
            </a:pPr>
            <a:r>
              <a:rPr lang="en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Reinforcement learning</a:t>
            </a:r>
            <a:endParaRPr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Takeaways, strengths &amp; weaknesses, limitations</a:t>
            </a:r>
            <a:endParaRPr sz="1800"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Helvetica Neue"/>
              <a:buChar char="○"/>
            </a:pPr>
            <a:r>
              <a:rPr lang="en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reviews at </a:t>
            </a:r>
            <a:r>
              <a:rPr lang="en" sz="1100" u="sng">
                <a:solidFill>
                  <a:srgbClr val="6AA84F"/>
                </a:solidFill>
                <a:hlinkClick r:id="rId3"/>
              </a:rPr>
              <a:t>https://openreview.net/forum?id=BylBfnRqFm</a:t>
            </a:r>
            <a:endParaRPr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Helvetica Neue"/>
              <a:buChar char="○"/>
            </a:pPr>
            <a:r>
              <a:rPr lang="en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Still not enough experiments</a:t>
            </a:r>
            <a:endParaRPr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discussion points</a:t>
            </a:r>
            <a:endParaRPr sz="1800"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Helvetica Neue"/>
              <a:buChar char="○"/>
            </a:pPr>
            <a:r>
              <a:rPr lang="en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Worth mentioning some of the apparent instabilities? (e.g. 0.84 MSE on sine curves with 1 phi)</a:t>
            </a:r>
            <a:endParaRPr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1523</Words>
  <Application>Microsoft Macintosh PowerPoint</Application>
  <PresentationFormat>On-screen Show (16:9)</PresentationFormat>
  <Paragraphs>287</Paragraphs>
  <Slides>40</Slides>
  <Notes>40</Notes>
  <HiddenSlides>1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Helvetica Neue</vt:lpstr>
      <vt:lpstr>Roboto</vt:lpstr>
      <vt:lpstr>Times</vt:lpstr>
      <vt:lpstr>Simple Light</vt:lpstr>
      <vt:lpstr>Fast Context Adaptation via Meta-Learning</vt:lpstr>
      <vt:lpstr>Problem formulation</vt:lpstr>
      <vt:lpstr>Optimisation-based approaches</vt:lpstr>
      <vt:lpstr>Problems/questions</vt:lpstr>
      <vt:lpstr>Problems/questions</vt:lpstr>
      <vt:lpstr>Problems/questions</vt:lpstr>
      <vt:lpstr>Problems/questions</vt:lpstr>
      <vt:lpstr>Problems/questions</vt:lpstr>
      <vt:lpstr>Problems/questions</vt:lpstr>
      <vt:lpstr>Related Work (that might help)</vt:lpstr>
      <vt:lpstr>CAVIA: Context adaptation via meta-learning </vt:lpstr>
      <vt:lpstr>How does this answer those problems?</vt:lpstr>
      <vt:lpstr>Method Overview</vt:lpstr>
      <vt:lpstr>Method Overview</vt:lpstr>
      <vt:lpstr>Method Overview</vt:lpstr>
      <vt:lpstr>Method Overview</vt:lpstr>
      <vt:lpstr>MAML for Supervised Learning</vt:lpstr>
      <vt:lpstr>CAVIA for Supervised Learning</vt:lpstr>
      <vt:lpstr>MAML for Reinforcement Learning</vt:lpstr>
      <vt:lpstr>CAVIA for Reinforcement Learning</vt:lpstr>
      <vt:lpstr>Conditioning on Context Parameters</vt:lpstr>
      <vt:lpstr>Context Parameter Initialization</vt:lpstr>
      <vt:lpstr>CAVIA Visualization</vt:lpstr>
      <vt:lpstr>CAVIA Visualization</vt:lpstr>
      <vt:lpstr>CAVIA Visualization</vt:lpstr>
      <vt:lpstr>Experiments</vt:lpstr>
      <vt:lpstr>Regression: Sine Curves</vt:lpstr>
      <vt:lpstr>Regression: Sine Curves</vt:lpstr>
      <vt:lpstr>Classification: Mini-Imagenet (5-way, 1- or 5-shot)</vt:lpstr>
      <vt:lpstr>Classification: Mini-Imagenet Results</vt:lpstr>
      <vt:lpstr>Image Completion: Example</vt:lpstr>
      <vt:lpstr>Image Completion: Results</vt:lpstr>
      <vt:lpstr>Reinforcement Learning: Cheetah </vt:lpstr>
      <vt:lpstr>Reinforcement Learning: Cheetah Results</vt:lpstr>
      <vt:lpstr>Summary:</vt:lpstr>
      <vt:lpstr>Discussion: Pros &amp; Cons</vt:lpstr>
      <vt:lpstr>Discussion &amp; Future Work</vt:lpstr>
      <vt:lpstr>Appendix</vt:lpstr>
      <vt:lpstr>Conditioning on Context Parameters</vt:lpstr>
      <vt:lpstr>brainstorm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Context Adaptation via Meta-Learning</dc:title>
  <cp:lastModifiedBy>Abhishek Sinha</cp:lastModifiedBy>
  <cp:revision>3</cp:revision>
  <dcterms:modified xsi:type="dcterms:W3CDTF">2019-10-13T22:30:13Z</dcterms:modified>
</cp:coreProperties>
</file>