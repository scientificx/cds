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24"/>
  </p:normalViewPr>
  <p:slideViewPr>
    <p:cSldViewPr snapToGrid="0">
      <p:cViewPr varScale="1">
        <p:scale>
          <a:sx n="141" d="100"/>
          <a:sy n="141" d="100"/>
        </p:scale>
        <p:origin x="800" y="14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62f0115643_0_2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62f0115643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paper cites several papers that have tackled the few-shot learning problem. They can be split into two major groups: distance approximation and meta-learning. Note that these two groups align well with two of the three groups mentioned on Monday: non-parametric and optimization-based meta-learning.</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62f0115643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62f0115643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primary source of inspiration for this paper is from Vinyals et al’s approach. Described as the above. Note that this is in line with Monday’s lecture as a non-parametric approach, it is also similar to KNN.. Vinyals et al. framed the few shot learning task as the task of learning the similarities between each image in the support set with the unlabeled images.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62f0115643_0_4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62f0115643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we construct a fully connected graph where each node is an image and each edge is a weight describing how similar the two connect images are.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62f0115643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62f0115643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we use a graph, we are able to leverage graph neural networks (GNNs). These take in nodes and edges as input and can output information per node or for the entire graph.</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62f0115643_0_2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62f0115643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nice thing about GNNs is that they can learn both node features and node relationships beyond those given as input in order to make predictions. Learn relationships end to end is more efficient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62f0115643_0_27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62f0115643_0_2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with that high level understanding in mind, let’s take a look at this paper’s primary contributions. Reframes the few-shot learning problem as a supervised message-passing task. Matches SOTA performance on Omniglot and Mini-Imagenet tasks with fewer parameters. It does relatively well on Mini-imagenet, but does not beat TCML, something we will talk about in the results. Extends the model to semi-supervised and active learning regimes.</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2f0115643_0_3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62f0115643_0_3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Where MLP is a feedforward neural network outputting a scalar for the vector describing the differences between the features of node i and node j</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64ac597746_1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64ac597746_1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en">
                <a:solidFill>
                  <a:schemeClr val="dk1"/>
                </a:solidFill>
              </a:rPr>
              <a:t>Few shot learning as posterior inference using message passing with neural networks defined over graphs</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3"/>
        <p:cNvGrpSpPr/>
        <p:nvPr/>
      </p:nvGrpSpPr>
      <p:grpSpPr>
        <a:xfrm>
          <a:off x="0" y="0"/>
          <a:ext cx="0" cy="0"/>
          <a:chOff x="0" y="0"/>
          <a:chExt cx="0" cy="0"/>
        </a:xfrm>
      </p:grpSpPr>
      <p:sp>
        <p:nvSpPr>
          <p:cNvPr id="264" name="Google Shape;264;g64ac597746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5" name="Google Shape;265;g64ac597746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649f1f4b72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649f1f4b72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64ac597746_1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64ac597746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g64ac597746_1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5" name="Google Shape;285;g64ac597746_1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64ac597746_1_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64ac597746_1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a:solidFill>
                  <a:schemeClr val="dk1"/>
                </a:solidFill>
              </a:rPr>
              <a:t>There are other formulations . THe auhtors claim that they find this method suffice when stack multiple GCN layers together </a:t>
            </a:r>
            <a:r>
              <a:rPr lang="en" sz="1000">
                <a:solidFill>
                  <a:schemeClr val="dk1"/>
                </a:solidFill>
              </a:rPr>
              <a:t>Cascaded operations in the form (2) are able to approximate a wide range of graph inference tasks </a:t>
            </a:r>
            <a:endParaRPr sz="1000">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		</a:t>
            </a:r>
            <a:endParaRPr>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
        <p:cNvGrpSpPr/>
        <p:nvPr/>
      </p:nvGrpSpPr>
      <p:grpSpPr>
        <a:xfrm>
          <a:off x="0" y="0"/>
          <a:ext cx="0" cy="0"/>
          <a:chOff x="0" y="0"/>
          <a:chExt cx="0" cy="0"/>
        </a:xfrm>
      </p:grpSpPr>
      <p:sp>
        <p:nvSpPr>
          <p:cNvPr id="301" name="Google Shape;301;g64ac597746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2" name="Google Shape;302;g64ac597746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64ac597746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64ac59774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64ac597746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64ac597746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64aee54ea4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64aee54ea4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geoff</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64b6c5a33c_0_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64b6c5a33c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geoff</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64b6c5a33c_0_4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 name="Google Shape;349;g64b6c5a33c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geoff</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g64aee54ea4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g64aee54ea4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geoff</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g64aee54ea4_0_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9" name="Google Shape;379;g64aee54ea4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Semi supervised learning on Omniglot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647dcca45a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3" name="Google Shape;393;g647dcca45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7"/>
        <p:cNvGrpSpPr/>
        <p:nvPr/>
      </p:nvGrpSpPr>
      <p:grpSpPr>
        <a:xfrm>
          <a:off x="0" y="0"/>
          <a:ext cx="0" cy="0"/>
          <a:chOff x="0" y="0"/>
          <a:chExt cx="0" cy="0"/>
        </a:xfrm>
      </p:grpSpPr>
      <p:sp>
        <p:nvSpPr>
          <p:cNvPr id="398" name="Google Shape;398;g647dcca45a_0_5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9" name="Google Shape;399;g647dcca45a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One significant limitation to this paper is the use of the Omniglot dataset. The performance of all the models on the Omniglot dataset was so close to 100% that no real statistically significant improvements were demonstrated. The results would have been much more powerful on a dataset with lower performance were a statistically significant improvement could have been demonstrated.</a:t>
            </a:r>
            <a:endParaRPr/>
          </a:p>
          <a:p>
            <a:pPr marL="0" lvl="0" indent="0" algn="l" rtl="0">
              <a:spcBef>
                <a:spcPts val="0"/>
              </a:spcBef>
              <a:spcAft>
                <a:spcPts val="0"/>
              </a:spcAft>
              <a:buNone/>
            </a:pPr>
            <a:endParaRPr/>
          </a:p>
          <a:p>
            <a:pPr marL="0" lvl="0" indent="0" algn="l" rtl="0">
              <a:spcBef>
                <a:spcPts val="0"/>
              </a:spcBef>
              <a:spcAft>
                <a:spcPts val="0"/>
              </a:spcAft>
              <a:buNone/>
            </a:pPr>
            <a:r>
              <a:rPr lang="en"/>
              <a:t>In addition, likely because of the lack of statistically significant results, the author fail to address whether or not the improvements they show and discuss are significant or not.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3"/>
        <p:cNvGrpSpPr/>
        <p:nvPr/>
      </p:nvGrpSpPr>
      <p:grpSpPr>
        <a:xfrm>
          <a:off x="0" y="0"/>
          <a:ext cx="0" cy="0"/>
          <a:chOff x="0" y="0"/>
          <a:chExt cx="0" cy="0"/>
        </a:xfrm>
      </p:grpSpPr>
      <p:sp>
        <p:nvSpPr>
          <p:cNvPr id="404" name="Google Shape;404;g64b8041f79_5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5" name="Google Shape;405;g64b8041f79_5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g64b8041f79_5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1" name="Google Shape;411;g64b8041f79_5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1.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Few-Shot Learning with Graph Neural Networks</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CS 330 Paper Presentation</a:t>
            </a:r>
            <a:endParaRPr/>
          </a:p>
        </p:txBody>
      </p:sp>
      <p:sp>
        <p:nvSpPr>
          <p:cNvPr id="56" name="Google Shape;56;p13"/>
          <p:cNvSpPr txBox="1">
            <a:spLocks noGrp="1"/>
          </p:cNvSpPr>
          <p:nvPr>
            <p:ph type="subTitle" idx="1"/>
          </p:nvPr>
        </p:nvSpPr>
        <p:spPr>
          <a:xfrm>
            <a:off x="311700" y="3892275"/>
            <a:ext cx="8520600" cy="1409400"/>
          </a:xfrm>
          <a:prstGeom prst="rect">
            <a:avLst/>
          </a:prstGeom>
        </p:spPr>
        <p:txBody>
          <a:bodyPr spcFirstLastPara="1" wrap="square" lIns="91425" tIns="91425" rIns="91425" bIns="91425" anchor="t" anchorCtr="0">
            <a:noAutofit/>
          </a:bodyPr>
          <a:lstStyle/>
          <a:p>
            <a:pPr marL="0" lvl="0" indent="0" algn="ctr" rtl="0">
              <a:lnSpc>
                <a:spcPct val="150000"/>
              </a:lnSpc>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Problem</a:t>
            </a:r>
            <a:endParaRPr>
              <a:latin typeface="Open Sans"/>
              <a:ea typeface="Open Sans"/>
              <a:cs typeface="Open Sans"/>
              <a:sym typeface="Open Sans"/>
            </a:endParaRPr>
          </a:p>
        </p:txBody>
      </p:sp>
      <p:pic>
        <p:nvPicPr>
          <p:cNvPr id="62" name="Google Shape;62;p14"/>
          <p:cNvPicPr preferRelativeResize="0"/>
          <p:nvPr/>
        </p:nvPicPr>
        <p:blipFill>
          <a:blip r:embed="rId3">
            <a:alphaModFix/>
          </a:blip>
          <a:stretch>
            <a:fillRect/>
          </a:stretch>
        </p:blipFill>
        <p:spPr>
          <a:xfrm>
            <a:off x="152400" y="2425865"/>
            <a:ext cx="8839200" cy="2234445"/>
          </a:xfrm>
          <a:prstGeom prst="rect">
            <a:avLst/>
          </a:prstGeom>
          <a:noFill/>
          <a:ln>
            <a:noFill/>
          </a:ln>
        </p:spPr>
      </p:pic>
      <p:sp>
        <p:nvSpPr>
          <p:cNvPr id="63" name="Google Shape;63;p14"/>
          <p:cNvSpPr txBox="1"/>
          <p:nvPr/>
        </p:nvSpPr>
        <p:spPr>
          <a:xfrm>
            <a:off x="20700" y="4864175"/>
            <a:ext cx="9102600" cy="279300"/>
          </a:xfrm>
          <a:prstGeom prst="rect">
            <a:avLst/>
          </a:prstGeom>
          <a:noFill/>
          <a:ln>
            <a:noFill/>
          </a:ln>
        </p:spPr>
        <p:txBody>
          <a:bodyPr spcFirstLastPara="1" wrap="square" lIns="91425" tIns="91425" rIns="91425" bIns="91425" anchor="t" anchorCtr="0">
            <a:noAutofit/>
          </a:bodyPr>
          <a:lstStyle/>
          <a:p>
            <a:pPr marL="279400" lvl="0" indent="-279400" algn="l" rtl="0">
              <a:lnSpc>
                <a:spcPct val="135000"/>
              </a:lnSpc>
              <a:spcBef>
                <a:spcPts val="0"/>
              </a:spcBef>
              <a:spcAft>
                <a:spcPts val="0"/>
              </a:spcAft>
              <a:buNone/>
            </a:pPr>
            <a:r>
              <a:rPr lang="en" sz="1000"/>
              <a:t>Image source: Ravi, Sachin, and Hugo Larochelle. “Optimization as a model for few-shot learning,” 2017, 11.</a:t>
            </a:r>
            <a:endParaRPr sz="1000"/>
          </a:p>
        </p:txBody>
      </p:sp>
      <p:sp>
        <p:nvSpPr>
          <p:cNvPr id="64" name="Google Shape;64;p14"/>
          <p:cNvSpPr txBox="1"/>
          <p:nvPr/>
        </p:nvSpPr>
        <p:spPr>
          <a:xfrm>
            <a:off x="311700" y="924025"/>
            <a:ext cx="8520600" cy="1296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i="1">
                <a:latin typeface="Open Sans"/>
                <a:ea typeface="Open Sans"/>
                <a:cs typeface="Open Sans"/>
                <a:sym typeface="Open Sans"/>
              </a:rPr>
              <a:t>Some approaches to few-shot learning:</a:t>
            </a:r>
            <a:endParaRPr sz="1600" i="1">
              <a:latin typeface="Open Sans"/>
              <a:ea typeface="Open Sans"/>
              <a:cs typeface="Open Sans"/>
              <a:sym typeface="Open Sans"/>
            </a:endParaRPr>
          </a:p>
          <a:p>
            <a:pPr marL="0" lvl="0" indent="0" algn="l" rtl="0">
              <a:lnSpc>
                <a:spcPct val="150000"/>
              </a:lnSpc>
              <a:spcBef>
                <a:spcPts val="0"/>
              </a:spcBef>
              <a:spcAft>
                <a:spcPts val="0"/>
              </a:spcAft>
              <a:buNone/>
            </a:pPr>
            <a:r>
              <a:rPr lang="en" sz="1600" b="1">
                <a:latin typeface="Open Sans"/>
                <a:ea typeface="Open Sans"/>
                <a:cs typeface="Open Sans"/>
                <a:sym typeface="Open Sans"/>
              </a:rPr>
              <a:t>Support Set Distance Approximation: </a:t>
            </a:r>
            <a:r>
              <a:rPr lang="en" sz="1600" i="1">
                <a:latin typeface="Open Sans"/>
                <a:ea typeface="Open Sans"/>
                <a:cs typeface="Open Sans"/>
                <a:sym typeface="Open Sans"/>
              </a:rPr>
              <a:t>Koch et al. (2015), Snell et al. (2017)</a:t>
            </a:r>
            <a:endParaRPr sz="1600" i="1">
              <a:latin typeface="Open Sans"/>
              <a:ea typeface="Open Sans"/>
              <a:cs typeface="Open Sans"/>
              <a:sym typeface="Open Sans"/>
            </a:endParaRPr>
          </a:p>
          <a:p>
            <a:pPr marL="0" lvl="0" indent="0" algn="l" rtl="0">
              <a:lnSpc>
                <a:spcPct val="150000"/>
              </a:lnSpc>
              <a:spcBef>
                <a:spcPts val="0"/>
              </a:spcBef>
              <a:spcAft>
                <a:spcPts val="0"/>
              </a:spcAft>
              <a:buNone/>
            </a:pPr>
            <a:r>
              <a:rPr lang="en" sz="1600" b="1">
                <a:latin typeface="Open Sans"/>
                <a:ea typeface="Open Sans"/>
                <a:cs typeface="Open Sans"/>
                <a:sym typeface="Open Sans"/>
              </a:rPr>
              <a:t>Meta-learning: </a:t>
            </a:r>
            <a:r>
              <a:rPr lang="en" sz="1600" i="1">
                <a:latin typeface="Open Sans"/>
                <a:ea typeface="Open Sans"/>
                <a:cs typeface="Open Sans"/>
                <a:sym typeface="Open Sans"/>
              </a:rPr>
              <a:t>Ravi &amp; Larochelle (2016), Finn et al. (2017), Mishra et al. (2017)</a:t>
            </a:r>
            <a:endParaRPr sz="1600">
              <a:latin typeface="Open Sans"/>
              <a:ea typeface="Open Sans"/>
              <a:cs typeface="Open Sans"/>
              <a:sym typeface="Open Sans"/>
            </a:endParaRPr>
          </a:p>
          <a:p>
            <a:pPr marL="0" lvl="0" indent="0" algn="l" rtl="0">
              <a:lnSpc>
                <a:spcPct val="150000"/>
              </a:lnSpc>
              <a:spcBef>
                <a:spcPts val="0"/>
              </a:spcBef>
              <a:spcAft>
                <a:spcPts val="0"/>
              </a:spcAft>
              <a:buNone/>
            </a:pPr>
            <a:endParaRPr sz="1600">
              <a:latin typeface="Open Sans"/>
              <a:ea typeface="Open Sans"/>
              <a:cs typeface="Open Sans"/>
              <a:sym typeface="Open Sans"/>
            </a:endParaRPr>
          </a:p>
          <a:p>
            <a:pPr marL="0" lvl="0" indent="0" algn="l" rtl="0">
              <a:lnSpc>
                <a:spcPct val="150000"/>
              </a:lnSpc>
              <a:spcBef>
                <a:spcPts val="0"/>
              </a:spcBef>
              <a:spcAft>
                <a:spcPts val="0"/>
              </a:spcAft>
              <a:buNone/>
            </a:pPr>
            <a:endParaRPr sz="1600">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5"/>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Problem</a:t>
            </a:r>
            <a:endParaRPr>
              <a:latin typeface="Open Sans"/>
              <a:ea typeface="Open Sans"/>
              <a:cs typeface="Open Sans"/>
              <a:sym typeface="Open Sans"/>
            </a:endParaRPr>
          </a:p>
        </p:txBody>
      </p:sp>
      <p:pic>
        <p:nvPicPr>
          <p:cNvPr id="70" name="Google Shape;70;p15"/>
          <p:cNvPicPr preferRelativeResize="0"/>
          <p:nvPr/>
        </p:nvPicPr>
        <p:blipFill rotWithShape="1">
          <a:blip r:embed="rId3">
            <a:alphaModFix/>
          </a:blip>
          <a:srcRect b="49464"/>
          <a:stretch/>
        </p:blipFill>
        <p:spPr>
          <a:xfrm>
            <a:off x="152400" y="3711340"/>
            <a:ext cx="8839200" cy="1129175"/>
          </a:xfrm>
          <a:prstGeom prst="rect">
            <a:avLst/>
          </a:prstGeom>
          <a:noFill/>
          <a:ln>
            <a:noFill/>
          </a:ln>
        </p:spPr>
      </p:pic>
      <p:sp>
        <p:nvSpPr>
          <p:cNvPr id="71" name="Google Shape;71;p15"/>
          <p:cNvSpPr txBox="1"/>
          <p:nvPr/>
        </p:nvSpPr>
        <p:spPr>
          <a:xfrm>
            <a:off x="20700" y="4864175"/>
            <a:ext cx="9102600" cy="279300"/>
          </a:xfrm>
          <a:prstGeom prst="rect">
            <a:avLst/>
          </a:prstGeom>
          <a:noFill/>
          <a:ln>
            <a:noFill/>
          </a:ln>
        </p:spPr>
        <p:txBody>
          <a:bodyPr spcFirstLastPara="1" wrap="square" lIns="91425" tIns="91425" rIns="91425" bIns="91425" anchor="t" anchorCtr="0">
            <a:noAutofit/>
          </a:bodyPr>
          <a:lstStyle/>
          <a:p>
            <a:pPr marL="279400" lvl="0" indent="-279400" algn="l" rtl="0">
              <a:lnSpc>
                <a:spcPct val="135000"/>
              </a:lnSpc>
              <a:spcBef>
                <a:spcPts val="0"/>
              </a:spcBef>
              <a:spcAft>
                <a:spcPts val="0"/>
              </a:spcAft>
              <a:buNone/>
            </a:pPr>
            <a:r>
              <a:rPr lang="en" sz="1000"/>
              <a:t>Image source: Ravi, Sachin, and Hugo Larochelle. “Optimization as a model for few-shot learning,” 2017, 11.</a:t>
            </a:r>
            <a:endParaRPr sz="1000"/>
          </a:p>
        </p:txBody>
      </p:sp>
      <p:sp>
        <p:nvSpPr>
          <p:cNvPr id="72" name="Google Shape;72;p15"/>
          <p:cNvSpPr txBox="1"/>
          <p:nvPr/>
        </p:nvSpPr>
        <p:spPr>
          <a:xfrm>
            <a:off x="311700" y="980936"/>
            <a:ext cx="5439000" cy="17379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i="1">
                <a:solidFill>
                  <a:schemeClr val="dk1"/>
                </a:solidFill>
                <a:latin typeface="Open Sans"/>
                <a:ea typeface="Open Sans"/>
                <a:cs typeface="Open Sans"/>
                <a:sym typeface="Open Sans"/>
              </a:rPr>
              <a:t>Vinyals et al. </a:t>
            </a:r>
            <a:r>
              <a:rPr lang="en" sz="1600">
                <a:solidFill>
                  <a:schemeClr val="dk1"/>
                </a:solidFill>
                <a:latin typeface="Open Sans"/>
                <a:ea typeface="Open Sans"/>
                <a:cs typeface="Open Sans"/>
                <a:sym typeface="Open Sans"/>
              </a:rPr>
              <a:t>cast the few-shot learning problem as the task of </a:t>
            </a:r>
            <a:r>
              <a:rPr lang="en" sz="1600" b="1">
                <a:solidFill>
                  <a:schemeClr val="dk1"/>
                </a:solidFill>
                <a:latin typeface="Open Sans"/>
                <a:ea typeface="Open Sans"/>
                <a:cs typeface="Open Sans"/>
                <a:sym typeface="Open Sans"/>
              </a:rPr>
              <a:t>mapping a support set </a:t>
            </a:r>
            <a:r>
              <a:rPr lang="en" sz="1600">
                <a:solidFill>
                  <a:schemeClr val="dk1"/>
                </a:solidFill>
                <a:latin typeface="Open Sans"/>
                <a:ea typeface="Open Sans"/>
                <a:cs typeface="Open Sans"/>
                <a:sym typeface="Open Sans"/>
              </a:rPr>
              <a:t>of images</a:t>
            </a:r>
            <a:r>
              <a:rPr lang="en" sz="1600" b="1">
                <a:solidFill>
                  <a:schemeClr val="dk1"/>
                </a:solidFill>
                <a:latin typeface="Open Sans"/>
                <a:ea typeface="Open Sans"/>
                <a:cs typeface="Open Sans"/>
                <a:sym typeface="Open Sans"/>
              </a:rPr>
              <a:t> into </a:t>
            </a:r>
            <a:r>
              <a:rPr lang="en" sz="1600">
                <a:solidFill>
                  <a:schemeClr val="dk1"/>
                </a:solidFill>
                <a:latin typeface="Open Sans"/>
                <a:ea typeface="Open Sans"/>
                <a:cs typeface="Open Sans"/>
                <a:sym typeface="Open Sans"/>
              </a:rPr>
              <a:t>the desired</a:t>
            </a:r>
            <a:r>
              <a:rPr lang="en" sz="1600" b="1">
                <a:solidFill>
                  <a:schemeClr val="dk1"/>
                </a:solidFill>
                <a:latin typeface="Open Sans"/>
                <a:ea typeface="Open Sans"/>
                <a:cs typeface="Open Sans"/>
                <a:sym typeface="Open Sans"/>
              </a:rPr>
              <a:t> label</a:t>
            </a: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p:txBody>
      </p:sp>
      <p:pic>
        <p:nvPicPr>
          <p:cNvPr id="73" name="Google Shape;73;p15"/>
          <p:cNvPicPr preferRelativeResize="0"/>
          <p:nvPr/>
        </p:nvPicPr>
        <p:blipFill>
          <a:blip r:embed="rId4">
            <a:alphaModFix/>
          </a:blip>
          <a:stretch>
            <a:fillRect/>
          </a:stretch>
        </p:blipFill>
        <p:spPr>
          <a:xfrm>
            <a:off x="624339" y="2260799"/>
            <a:ext cx="2645925" cy="1207926"/>
          </a:xfrm>
          <a:prstGeom prst="rect">
            <a:avLst/>
          </a:prstGeom>
          <a:noFill/>
          <a:ln>
            <a:noFill/>
          </a:ln>
        </p:spPr>
      </p:pic>
      <p:grpSp>
        <p:nvGrpSpPr>
          <p:cNvPr id="74" name="Google Shape;74;p15"/>
          <p:cNvGrpSpPr/>
          <p:nvPr/>
        </p:nvGrpSpPr>
        <p:grpSpPr>
          <a:xfrm>
            <a:off x="3270263" y="2339500"/>
            <a:ext cx="5249400" cy="1129200"/>
            <a:chOff x="3742250" y="2032350"/>
            <a:chExt cx="5249400" cy="1129200"/>
          </a:xfrm>
        </p:grpSpPr>
        <p:sp>
          <p:nvSpPr>
            <p:cNvPr id="75" name="Google Shape;75;p15"/>
            <p:cNvSpPr txBox="1"/>
            <p:nvPr/>
          </p:nvSpPr>
          <p:spPr>
            <a:xfrm>
              <a:off x="3742250" y="2032350"/>
              <a:ext cx="5249400" cy="11292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i="1">
                  <a:solidFill>
                    <a:schemeClr val="dk1"/>
                  </a:solidFill>
                  <a:latin typeface="Open Sans"/>
                  <a:ea typeface="Open Sans"/>
                  <a:cs typeface="Open Sans"/>
                  <a:sym typeface="Open Sans"/>
                </a:rPr>
                <a:t>Where (     ,     ) is an unlabeled example, (       ,       ) are examples in the support set, and       is a </a:t>
              </a:r>
              <a:r>
                <a:rPr lang="en" sz="1600" b="1" i="1">
                  <a:solidFill>
                    <a:schemeClr val="dk1"/>
                  </a:solidFill>
                  <a:latin typeface="Open Sans"/>
                  <a:ea typeface="Open Sans"/>
                  <a:cs typeface="Open Sans"/>
                  <a:sym typeface="Open Sans"/>
                </a:rPr>
                <a:t>learned </a:t>
              </a:r>
              <a:r>
                <a:rPr lang="en" sz="1600" i="1">
                  <a:solidFill>
                    <a:schemeClr val="dk1"/>
                  </a:solidFill>
                  <a:latin typeface="Open Sans"/>
                  <a:ea typeface="Open Sans"/>
                  <a:cs typeface="Open Sans"/>
                  <a:sym typeface="Open Sans"/>
                </a:rPr>
                <a:t>similarity function.</a:t>
              </a:r>
              <a:endParaRPr sz="1600">
                <a:solidFill>
                  <a:srgbClr val="666666"/>
                </a:solidFill>
                <a:latin typeface="Open Sans"/>
                <a:ea typeface="Open Sans"/>
                <a:cs typeface="Open Sans"/>
                <a:sym typeface="Open Sans"/>
              </a:endParaRPr>
            </a:p>
          </p:txBody>
        </p:sp>
        <p:pic>
          <p:nvPicPr>
            <p:cNvPr id="76" name="Google Shape;76;p15"/>
            <p:cNvPicPr preferRelativeResize="0"/>
            <p:nvPr/>
          </p:nvPicPr>
          <p:blipFill rotWithShape="1">
            <a:blip r:embed="rId5">
              <a:alphaModFix/>
            </a:blip>
            <a:srcRect l="5880" r="77605"/>
            <a:stretch/>
          </p:blipFill>
          <p:spPr>
            <a:xfrm>
              <a:off x="4820500" y="2069275"/>
              <a:ext cx="213925" cy="438150"/>
            </a:xfrm>
            <a:prstGeom prst="rect">
              <a:avLst/>
            </a:prstGeom>
            <a:noFill/>
            <a:ln>
              <a:noFill/>
            </a:ln>
          </p:spPr>
        </p:pic>
        <p:pic>
          <p:nvPicPr>
            <p:cNvPr id="77" name="Google Shape;77;p15"/>
            <p:cNvPicPr preferRelativeResize="0"/>
            <p:nvPr/>
          </p:nvPicPr>
          <p:blipFill rotWithShape="1">
            <a:blip r:embed="rId5">
              <a:alphaModFix/>
            </a:blip>
            <a:srcRect l="21562" r="61923"/>
            <a:stretch/>
          </p:blipFill>
          <p:spPr>
            <a:xfrm>
              <a:off x="4551750" y="2069275"/>
              <a:ext cx="213925" cy="438150"/>
            </a:xfrm>
            <a:prstGeom prst="rect">
              <a:avLst/>
            </a:prstGeom>
            <a:noFill/>
            <a:ln>
              <a:noFill/>
            </a:ln>
          </p:spPr>
        </p:pic>
        <p:pic>
          <p:nvPicPr>
            <p:cNvPr id="78" name="Google Shape;78;p15"/>
            <p:cNvPicPr preferRelativeResize="0"/>
            <p:nvPr/>
          </p:nvPicPr>
          <p:blipFill rotWithShape="1">
            <a:blip r:embed="rId5">
              <a:alphaModFix/>
            </a:blip>
            <a:srcRect l="79371"/>
            <a:stretch/>
          </p:blipFill>
          <p:spPr>
            <a:xfrm>
              <a:off x="6811889" y="2406771"/>
              <a:ext cx="267225" cy="438150"/>
            </a:xfrm>
            <a:prstGeom prst="rect">
              <a:avLst/>
            </a:prstGeom>
            <a:noFill/>
            <a:ln>
              <a:noFill/>
            </a:ln>
          </p:spPr>
        </p:pic>
        <p:pic>
          <p:nvPicPr>
            <p:cNvPr id="79" name="Google Shape;79;p15"/>
            <p:cNvPicPr preferRelativeResize="0"/>
            <p:nvPr/>
          </p:nvPicPr>
          <p:blipFill rotWithShape="1">
            <a:blip r:embed="rId5">
              <a:alphaModFix/>
            </a:blip>
            <a:srcRect l="36044" r="43326"/>
            <a:stretch/>
          </p:blipFill>
          <p:spPr>
            <a:xfrm>
              <a:off x="7987725" y="2069275"/>
              <a:ext cx="267225" cy="438150"/>
            </a:xfrm>
            <a:prstGeom prst="rect">
              <a:avLst/>
            </a:prstGeom>
            <a:noFill/>
            <a:ln>
              <a:noFill/>
            </a:ln>
          </p:spPr>
        </p:pic>
        <p:pic>
          <p:nvPicPr>
            <p:cNvPr id="80" name="Google Shape;80;p15"/>
            <p:cNvPicPr preferRelativeResize="0"/>
            <p:nvPr/>
          </p:nvPicPr>
          <p:blipFill rotWithShape="1">
            <a:blip r:embed="rId5">
              <a:alphaModFix/>
            </a:blip>
            <a:srcRect l="56449" r="19013"/>
            <a:stretch/>
          </p:blipFill>
          <p:spPr>
            <a:xfrm>
              <a:off x="7545600" y="2063913"/>
              <a:ext cx="317850" cy="438150"/>
            </a:xfrm>
            <a:prstGeom prst="rect">
              <a:avLst/>
            </a:prstGeom>
            <a:noFill/>
            <a:ln>
              <a:noFill/>
            </a:ln>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p:nvPr/>
        </p:nvSpPr>
        <p:spPr>
          <a:xfrm>
            <a:off x="311700" y="980936"/>
            <a:ext cx="5439000" cy="17379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i="1">
                <a:solidFill>
                  <a:schemeClr val="dk1"/>
                </a:solidFill>
                <a:latin typeface="Open Sans"/>
                <a:ea typeface="Open Sans"/>
                <a:cs typeface="Open Sans"/>
                <a:sym typeface="Open Sans"/>
              </a:rPr>
              <a:t>Vinyals et al. </a:t>
            </a:r>
            <a:r>
              <a:rPr lang="en" sz="1600">
                <a:solidFill>
                  <a:schemeClr val="dk1"/>
                </a:solidFill>
                <a:latin typeface="Open Sans"/>
                <a:ea typeface="Open Sans"/>
                <a:cs typeface="Open Sans"/>
                <a:sym typeface="Open Sans"/>
              </a:rPr>
              <a:t>cast the few-shot learning problem as the task of </a:t>
            </a:r>
            <a:r>
              <a:rPr lang="en" sz="1600" b="1">
                <a:solidFill>
                  <a:schemeClr val="dk1"/>
                </a:solidFill>
                <a:latin typeface="Open Sans"/>
                <a:ea typeface="Open Sans"/>
                <a:cs typeface="Open Sans"/>
                <a:sym typeface="Open Sans"/>
              </a:rPr>
              <a:t>mapping a support set </a:t>
            </a:r>
            <a:r>
              <a:rPr lang="en" sz="1600">
                <a:solidFill>
                  <a:schemeClr val="dk1"/>
                </a:solidFill>
                <a:latin typeface="Open Sans"/>
                <a:ea typeface="Open Sans"/>
                <a:cs typeface="Open Sans"/>
                <a:sym typeface="Open Sans"/>
              </a:rPr>
              <a:t>of images</a:t>
            </a:r>
            <a:r>
              <a:rPr lang="en" sz="1600" b="1">
                <a:solidFill>
                  <a:schemeClr val="dk1"/>
                </a:solidFill>
                <a:latin typeface="Open Sans"/>
                <a:ea typeface="Open Sans"/>
                <a:cs typeface="Open Sans"/>
                <a:sym typeface="Open Sans"/>
              </a:rPr>
              <a:t> into </a:t>
            </a:r>
            <a:r>
              <a:rPr lang="en" sz="1600">
                <a:solidFill>
                  <a:schemeClr val="dk1"/>
                </a:solidFill>
                <a:latin typeface="Open Sans"/>
                <a:ea typeface="Open Sans"/>
                <a:cs typeface="Open Sans"/>
                <a:sym typeface="Open Sans"/>
              </a:rPr>
              <a:t>the desired</a:t>
            </a:r>
            <a:r>
              <a:rPr lang="en" sz="1600" b="1">
                <a:solidFill>
                  <a:schemeClr val="dk1"/>
                </a:solidFill>
                <a:latin typeface="Open Sans"/>
                <a:ea typeface="Open Sans"/>
                <a:cs typeface="Open Sans"/>
                <a:sym typeface="Open Sans"/>
              </a:rPr>
              <a:t> label</a:t>
            </a:r>
            <a:r>
              <a:rPr lang="en" sz="1600">
                <a:solidFill>
                  <a:srgbClr val="666666"/>
                </a:solidFill>
                <a:latin typeface="Open Sans"/>
                <a:ea typeface="Open Sans"/>
                <a:cs typeface="Open Sans"/>
                <a:sym typeface="Open Sans"/>
              </a:rPr>
              <a:t>:</a:t>
            </a:r>
            <a:endParaRPr sz="1600">
              <a:solidFill>
                <a:srgbClr val="666666"/>
              </a:solidFill>
              <a:latin typeface="Open Sans"/>
              <a:ea typeface="Open Sans"/>
              <a:cs typeface="Open Sans"/>
              <a:sym typeface="Open Sans"/>
            </a:endParaRPr>
          </a:p>
        </p:txBody>
      </p:sp>
      <p:pic>
        <p:nvPicPr>
          <p:cNvPr id="86" name="Google Shape;86;p16"/>
          <p:cNvPicPr preferRelativeResize="0"/>
          <p:nvPr/>
        </p:nvPicPr>
        <p:blipFill>
          <a:blip r:embed="rId3">
            <a:alphaModFix/>
          </a:blip>
          <a:stretch>
            <a:fillRect/>
          </a:stretch>
        </p:blipFill>
        <p:spPr>
          <a:xfrm>
            <a:off x="624339" y="2260799"/>
            <a:ext cx="2645925" cy="1207926"/>
          </a:xfrm>
          <a:prstGeom prst="rect">
            <a:avLst/>
          </a:prstGeom>
          <a:noFill/>
          <a:ln>
            <a:noFill/>
          </a:ln>
        </p:spPr>
      </p:pic>
      <p:grpSp>
        <p:nvGrpSpPr>
          <p:cNvPr id="87" name="Google Shape;87;p16"/>
          <p:cNvGrpSpPr/>
          <p:nvPr/>
        </p:nvGrpSpPr>
        <p:grpSpPr>
          <a:xfrm>
            <a:off x="3270263" y="2339500"/>
            <a:ext cx="5249400" cy="1129200"/>
            <a:chOff x="3742250" y="2032350"/>
            <a:chExt cx="5249400" cy="1129200"/>
          </a:xfrm>
        </p:grpSpPr>
        <p:sp>
          <p:nvSpPr>
            <p:cNvPr id="88" name="Google Shape;88;p16"/>
            <p:cNvSpPr txBox="1"/>
            <p:nvPr/>
          </p:nvSpPr>
          <p:spPr>
            <a:xfrm>
              <a:off x="3742250" y="2032350"/>
              <a:ext cx="5249400" cy="11292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600" i="1">
                  <a:solidFill>
                    <a:schemeClr val="dk1"/>
                  </a:solidFill>
                  <a:latin typeface="Open Sans"/>
                  <a:ea typeface="Open Sans"/>
                  <a:cs typeface="Open Sans"/>
                  <a:sym typeface="Open Sans"/>
                </a:rPr>
                <a:t>Where (     ,     ) is an unlabeled example, (       ,       ) are examples in the support set, and       is a </a:t>
              </a:r>
              <a:r>
                <a:rPr lang="en" sz="1600" b="1" i="1">
                  <a:solidFill>
                    <a:schemeClr val="dk1"/>
                  </a:solidFill>
                  <a:latin typeface="Open Sans"/>
                  <a:ea typeface="Open Sans"/>
                  <a:cs typeface="Open Sans"/>
                  <a:sym typeface="Open Sans"/>
                </a:rPr>
                <a:t>learned </a:t>
              </a:r>
              <a:r>
                <a:rPr lang="en" sz="1600" i="1">
                  <a:solidFill>
                    <a:schemeClr val="dk1"/>
                  </a:solidFill>
                  <a:latin typeface="Open Sans"/>
                  <a:ea typeface="Open Sans"/>
                  <a:cs typeface="Open Sans"/>
                  <a:sym typeface="Open Sans"/>
                </a:rPr>
                <a:t>similarity function.</a:t>
              </a:r>
              <a:endParaRPr sz="1600">
                <a:solidFill>
                  <a:srgbClr val="666666"/>
                </a:solidFill>
                <a:latin typeface="Open Sans"/>
                <a:ea typeface="Open Sans"/>
                <a:cs typeface="Open Sans"/>
                <a:sym typeface="Open Sans"/>
              </a:endParaRPr>
            </a:p>
          </p:txBody>
        </p:sp>
        <p:pic>
          <p:nvPicPr>
            <p:cNvPr id="89" name="Google Shape;89;p16"/>
            <p:cNvPicPr preferRelativeResize="0"/>
            <p:nvPr/>
          </p:nvPicPr>
          <p:blipFill rotWithShape="1">
            <a:blip r:embed="rId4">
              <a:alphaModFix/>
            </a:blip>
            <a:srcRect l="5880" r="77605"/>
            <a:stretch/>
          </p:blipFill>
          <p:spPr>
            <a:xfrm>
              <a:off x="4820500" y="2069275"/>
              <a:ext cx="213925" cy="438150"/>
            </a:xfrm>
            <a:prstGeom prst="rect">
              <a:avLst/>
            </a:prstGeom>
            <a:noFill/>
            <a:ln>
              <a:noFill/>
            </a:ln>
          </p:spPr>
        </p:pic>
        <p:pic>
          <p:nvPicPr>
            <p:cNvPr id="90" name="Google Shape;90;p16"/>
            <p:cNvPicPr preferRelativeResize="0"/>
            <p:nvPr/>
          </p:nvPicPr>
          <p:blipFill rotWithShape="1">
            <a:blip r:embed="rId4">
              <a:alphaModFix/>
            </a:blip>
            <a:srcRect l="21562" r="61923"/>
            <a:stretch/>
          </p:blipFill>
          <p:spPr>
            <a:xfrm>
              <a:off x="4551750" y="2069275"/>
              <a:ext cx="213925" cy="438150"/>
            </a:xfrm>
            <a:prstGeom prst="rect">
              <a:avLst/>
            </a:prstGeom>
            <a:noFill/>
            <a:ln>
              <a:noFill/>
            </a:ln>
          </p:spPr>
        </p:pic>
        <p:pic>
          <p:nvPicPr>
            <p:cNvPr id="91" name="Google Shape;91;p16"/>
            <p:cNvPicPr preferRelativeResize="0"/>
            <p:nvPr/>
          </p:nvPicPr>
          <p:blipFill rotWithShape="1">
            <a:blip r:embed="rId4">
              <a:alphaModFix/>
            </a:blip>
            <a:srcRect l="79371"/>
            <a:stretch/>
          </p:blipFill>
          <p:spPr>
            <a:xfrm>
              <a:off x="6811889" y="2406771"/>
              <a:ext cx="267225" cy="438150"/>
            </a:xfrm>
            <a:prstGeom prst="rect">
              <a:avLst/>
            </a:prstGeom>
            <a:noFill/>
            <a:ln>
              <a:noFill/>
            </a:ln>
          </p:spPr>
        </p:pic>
        <p:pic>
          <p:nvPicPr>
            <p:cNvPr id="92" name="Google Shape;92;p16"/>
            <p:cNvPicPr preferRelativeResize="0"/>
            <p:nvPr/>
          </p:nvPicPr>
          <p:blipFill rotWithShape="1">
            <a:blip r:embed="rId4">
              <a:alphaModFix/>
            </a:blip>
            <a:srcRect l="36044" r="43326"/>
            <a:stretch/>
          </p:blipFill>
          <p:spPr>
            <a:xfrm>
              <a:off x="7987725" y="2069275"/>
              <a:ext cx="267225" cy="438150"/>
            </a:xfrm>
            <a:prstGeom prst="rect">
              <a:avLst/>
            </a:prstGeom>
            <a:noFill/>
            <a:ln>
              <a:noFill/>
            </a:ln>
          </p:spPr>
        </p:pic>
        <p:pic>
          <p:nvPicPr>
            <p:cNvPr id="93" name="Google Shape;93;p16"/>
            <p:cNvPicPr preferRelativeResize="0"/>
            <p:nvPr/>
          </p:nvPicPr>
          <p:blipFill rotWithShape="1">
            <a:blip r:embed="rId4">
              <a:alphaModFix/>
            </a:blip>
            <a:srcRect l="56449" r="19013"/>
            <a:stretch/>
          </p:blipFill>
          <p:spPr>
            <a:xfrm>
              <a:off x="7545600" y="2063913"/>
              <a:ext cx="317850" cy="438150"/>
            </a:xfrm>
            <a:prstGeom prst="rect">
              <a:avLst/>
            </a:prstGeom>
            <a:noFill/>
            <a:ln>
              <a:noFill/>
            </a:ln>
          </p:spPr>
        </p:pic>
      </p:grpSp>
      <p:sp>
        <p:nvSpPr>
          <p:cNvPr id="94" name="Google Shape;94;p16"/>
          <p:cNvSpPr/>
          <p:nvPr/>
        </p:nvSpPr>
        <p:spPr>
          <a:xfrm>
            <a:off x="271650" y="915875"/>
            <a:ext cx="8600700" cy="2639100"/>
          </a:xfrm>
          <a:prstGeom prst="rect">
            <a:avLst/>
          </a:prstGeom>
          <a:solidFill>
            <a:srgbClr val="FFFFFF">
              <a:alpha val="976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 name="Google Shape;95;p16"/>
          <p:cNvGrpSpPr/>
          <p:nvPr/>
        </p:nvGrpSpPr>
        <p:grpSpPr>
          <a:xfrm>
            <a:off x="568600" y="3227575"/>
            <a:ext cx="7786800" cy="539374"/>
            <a:chOff x="568600" y="3227575"/>
            <a:chExt cx="7786800" cy="539374"/>
          </a:xfrm>
        </p:grpSpPr>
        <p:sp>
          <p:nvSpPr>
            <p:cNvPr id="96" name="Google Shape;96;p16"/>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chemeClr val="accent1"/>
              </a:solidFill>
              <a:prstDash val="solid"/>
              <a:round/>
              <a:headEnd type="none" w="med" len="med"/>
              <a:tailEnd type="none" w="med" len="med"/>
            </a:ln>
          </p:spPr>
        </p:sp>
        <p:sp>
          <p:nvSpPr>
            <p:cNvPr id="97" name="Google Shape;97;p16"/>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chemeClr val="accent1"/>
              </a:solidFill>
              <a:prstDash val="solid"/>
              <a:round/>
              <a:headEnd type="none" w="med" len="med"/>
              <a:tailEnd type="none" w="med" len="med"/>
            </a:ln>
          </p:spPr>
        </p:sp>
        <p:sp>
          <p:nvSpPr>
            <p:cNvPr id="98" name="Google Shape;98;p16"/>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chemeClr val="accent1"/>
              </a:solidFill>
              <a:prstDash val="solid"/>
              <a:round/>
              <a:headEnd type="none" w="med" len="med"/>
              <a:tailEnd type="none" w="med" len="med"/>
            </a:ln>
          </p:spPr>
        </p:sp>
        <p:sp>
          <p:nvSpPr>
            <p:cNvPr id="99" name="Google Shape;99;p16"/>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chemeClr val="accent1"/>
              </a:solidFill>
              <a:prstDash val="solid"/>
              <a:round/>
              <a:headEnd type="none" w="med" len="med"/>
              <a:tailEnd type="none" w="med" len="med"/>
            </a:ln>
          </p:spPr>
        </p:sp>
        <p:sp>
          <p:nvSpPr>
            <p:cNvPr id="100" name="Google Shape;100;p16"/>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chemeClr val="accent1"/>
              </a:solidFill>
              <a:prstDash val="solid"/>
              <a:round/>
              <a:headEnd type="none" w="med" len="med"/>
              <a:tailEnd type="none" w="med" len="med"/>
            </a:ln>
          </p:spPr>
        </p:sp>
        <p:sp>
          <p:nvSpPr>
            <p:cNvPr id="101" name="Google Shape;101;p16"/>
            <p:cNvSpPr/>
            <p:nvPr/>
          </p:nvSpPr>
          <p:spPr>
            <a:xfrm>
              <a:off x="645650" y="3256048"/>
              <a:ext cx="7709750" cy="491650"/>
            </a:xfrm>
            <a:custGeom>
              <a:avLst/>
              <a:gdLst/>
              <a:ahLst/>
              <a:cxnLst/>
              <a:rect l="l" t="t" r="r" b="b"/>
              <a:pathLst>
                <a:path w="308390" h="19666" extrusionOk="0">
                  <a:moveTo>
                    <a:pt x="0" y="19666"/>
                  </a:moveTo>
                  <a:cubicBezTo>
                    <a:pt x="45592" y="16391"/>
                    <a:pt x="222178" y="145"/>
                    <a:pt x="273549" y="16"/>
                  </a:cubicBezTo>
                  <a:cubicBezTo>
                    <a:pt x="324920" y="-112"/>
                    <a:pt x="302446" y="15749"/>
                    <a:pt x="308225" y="18895"/>
                  </a:cubicBezTo>
                </a:path>
              </a:pathLst>
            </a:custGeom>
            <a:noFill/>
            <a:ln w="19050" cap="flat" cmpd="sng">
              <a:solidFill>
                <a:schemeClr val="accent1"/>
              </a:solidFill>
              <a:prstDash val="solid"/>
              <a:round/>
              <a:headEnd type="none" w="med" len="med"/>
              <a:tailEnd type="none" w="med" len="med"/>
            </a:ln>
          </p:spPr>
        </p:sp>
      </p:grpSp>
      <p:sp>
        <p:nvSpPr>
          <p:cNvPr id="102" name="Google Shape;102;p16"/>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Problem</a:t>
            </a:r>
            <a:endParaRPr>
              <a:latin typeface="Open Sans"/>
              <a:ea typeface="Open Sans"/>
              <a:cs typeface="Open Sans"/>
              <a:sym typeface="Open Sans"/>
            </a:endParaRPr>
          </a:p>
        </p:txBody>
      </p:sp>
      <p:sp>
        <p:nvSpPr>
          <p:cNvPr id="103" name="Google Shape;103;p16"/>
          <p:cNvSpPr txBox="1"/>
          <p:nvPr/>
        </p:nvSpPr>
        <p:spPr>
          <a:xfrm>
            <a:off x="20700" y="4864175"/>
            <a:ext cx="9102600" cy="279300"/>
          </a:xfrm>
          <a:prstGeom prst="rect">
            <a:avLst/>
          </a:prstGeom>
          <a:noFill/>
          <a:ln>
            <a:noFill/>
          </a:ln>
        </p:spPr>
        <p:txBody>
          <a:bodyPr spcFirstLastPara="1" wrap="square" lIns="91425" tIns="91425" rIns="91425" bIns="91425" anchor="t" anchorCtr="0">
            <a:noAutofit/>
          </a:bodyPr>
          <a:lstStyle/>
          <a:p>
            <a:pPr marL="279400" lvl="0" indent="-279400" algn="l" rtl="0">
              <a:lnSpc>
                <a:spcPct val="135000"/>
              </a:lnSpc>
              <a:spcBef>
                <a:spcPts val="0"/>
              </a:spcBef>
              <a:spcAft>
                <a:spcPts val="0"/>
              </a:spcAft>
              <a:buNone/>
            </a:pPr>
            <a:r>
              <a:rPr lang="en" sz="1000"/>
              <a:t>Image source: Ravi, Sachin, and Hugo Larochelle. “Optimization as a model for few-shot learning,” 2017, 11.</a:t>
            </a:r>
            <a:endParaRPr sz="1000"/>
          </a:p>
        </p:txBody>
      </p:sp>
      <p:sp>
        <p:nvSpPr>
          <p:cNvPr id="104" name="Google Shape;104;p16"/>
          <p:cNvSpPr txBox="1">
            <a:spLocks noGrp="1"/>
          </p:cNvSpPr>
          <p:nvPr>
            <p:ph type="title"/>
          </p:nvPr>
        </p:nvSpPr>
        <p:spPr>
          <a:xfrm>
            <a:off x="311700" y="1302489"/>
            <a:ext cx="85206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latin typeface="Open Sans"/>
                <a:ea typeface="Open Sans"/>
                <a:cs typeface="Open Sans"/>
                <a:sym typeface="Open Sans"/>
              </a:rPr>
              <a:t>Idea: </a:t>
            </a:r>
            <a:r>
              <a:rPr lang="en" sz="2400" i="1">
                <a:latin typeface="Open Sans"/>
                <a:ea typeface="Open Sans"/>
                <a:cs typeface="Open Sans"/>
                <a:sym typeface="Open Sans"/>
              </a:rPr>
              <a:t>represent the images as a fully connected graph.</a:t>
            </a:r>
            <a:endParaRPr sz="2400" i="1">
              <a:latin typeface="Open Sans"/>
              <a:ea typeface="Open Sans"/>
              <a:cs typeface="Open Sans"/>
              <a:sym typeface="Open Sans"/>
            </a:endParaRPr>
          </a:p>
        </p:txBody>
      </p:sp>
      <p:grpSp>
        <p:nvGrpSpPr>
          <p:cNvPr id="105" name="Google Shape;105;p16"/>
          <p:cNvGrpSpPr/>
          <p:nvPr/>
        </p:nvGrpSpPr>
        <p:grpSpPr>
          <a:xfrm>
            <a:off x="1787800" y="3228431"/>
            <a:ext cx="6501600" cy="539374"/>
            <a:chOff x="568600" y="3227575"/>
            <a:chExt cx="6501600" cy="539374"/>
          </a:xfrm>
        </p:grpSpPr>
        <p:sp>
          <p:nvSpPr>
            <p:cNvPr id="106" name="Google Shape;106;p16"/>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A2C4C9"/>
              </a:solidFill>
              <a:prstDash val="solid"/>
              <a:round/>
              <a:headEnd type="none" w="med" len="med"/>
              <a:tailEnd type="none" w="med" len="med"/>
            </a:ln>
          </p:spPr>
        </p:sp>
        <p:sp>
          <p:nvSpPr>
            <p:cNvPr id="107" name="Google Shape;107;p16"/>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A2C4C9"/>
              </a:solidFill>
              <a:prstDash val="solid"/>
              <a:round/>
              <a:headEnd type="none" w="med" len="med"/>
              <a:tailEnd type="none" w="med" len="med"/>
            </a:ln>
          </p:spPr>
        </p:sp>
        <p:sp>
          <p:nvSpPr>
            <p:cNvPr id="108" name="Google Shape;108;p16"/>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A2C4C9"/>
              </a:solidFill>
              <a:prstDash val="solid"/>
              <a:round/>
              <a:headEnd type="none" w="med" len="med"/>
              <a:tailEnd type="none" w="med" len="med"/>
            </a:ln>
          </p:spPr>
        </p:sp>
        <p:sp>
          <p:nvSpPr>
            <p:cNvPr id="109" name="Google Shape;109;p16"/>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A2C4C9"/>
              </a:solidFill>
              <a:prstDash val="solid"/>
              <a:round/>
              <a:headEnd type="none" w="med" len="med"/>
              <a:tailEnd type="none" w="med" len="med"/>
            </a:ln>
          </p:spPr>
        </p:sp>
        <p:sp>
          <p:nvSpPr>
            <p:cNvPr id="110" name="Google Shape;110;p16"/>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rgbClr val="A2C4C9"/>
              </a:solidFill>
              <a:prstDash val="solid"/>
              <a:round/>
              <a:headEnd type="none" w="med" len="med"/>
              <a:tailEnd type="none" w="med" len="med"/>
            </a:ln>
          </p:spPr>
        </p:sp>
      </p:grpSp>
      <p:grpSp>
        <p:nvGrpSpPr>
          <p:cNvPr id="111" name="Google Shape;111;p16"/>
          <p:cNvGrpSpPr/>
          <p:nvPr/>
        </p:nvGrpSpPr>
        <p:grpSpPr>
          <a:xfrm>
            <a:off x="3159400" y="3228431"/>
            <a:ext cx="4941225" cy="539373"/>
            <a:chOff x="568600" y="3227575"/>
            <a:chExt cx="4941225" cy="539373"/>
          </a:xfrm>
        </p:grpSpPr>
        <p:sp>
          <p:nvSpPr>
            <p:cNvPr id="112" name="Google Shape;112;p16"/>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8E7CC3"/>
              </a:solidFill>
              <a:prstDash val="solid"/>
              <a:round/>
              <a:headEnd type="none" w="med" len="med"/>
              <a:tailEnd type="none" w="med" len="med"/>
            </a:ln>
          </p:spPr>
        </p:sp>
        <p:sp>
          <p:nvSpPr>
            <p:cNvPr id="113" name="Google Shape;113;p16"/>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8E7CC3"/>
              </a:solidFill>
              <a:prstDash val="solid"/>
              <a:round/>
              <a:headEnd type="none" w="med" len="med"/>
              <a:tailEnd type="none" w="med" len="med"/>
            </a:ln>
          </p:spPr>
        </p:sp>
        <p:sp>
          <p:nvSpPr>
            <p:cNvPr id="114" name="Google Shape;114;p16"/>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8E7CC3"/>
              </a:solidFill>
              <a:prstDash val="solid"/>
              <a:round/>
              <a:headEnd type="none" w="med" len="med"/>
              <a:tailEnd type="none" w="med" len="med"/>
            </a:ln>
          </p:spPr>
        </p:sp>
        <p:sp>
          <p:nvSpPr>
            <p:cNvPr id="115" name="Google Shape;115;p16"/>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8E7CC3"/>
              </a:solidFill>
              <a:prstDash val="solid"/>
              <a:round/>
              <a:headEnd type="none" w="med" len="med"/>
              <a:tailEnd type="none" w="med" len="med"/>
            </a:ln>
          </p:spPr>
        </p:sp>
      </p:grpSp>
      <p:grpSp>
        <p:nvGrpSpPr>
          <p:cNvPr id="116" name="Google Shape;116;p16"/>
          <p:cNvGrpSpPr/>
          <p:nvPr/>
        </p:nvGrpSpPr>
        <p:grpSpPr>
          <a:xfrm>
            <a:off x="4531000" y="3228431"/>
            <a:ext cx="3602375" cy="539372"/>
            <a:chOff x="568600" y="3227575"/>
            <a:chExt cx="3602375" cy="539372"/>
          </a:xfrm>
        </p:grpSpPr>
        <p:sp>
          <p:nvSpPr>
            <p:cNvPr id="117" name="Google Shape;117;p16"/>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118" name="Google Shape;118;p16"/>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sp>
          <p:nvSpPr>
            <p:cNvPr id="119" name="Google Shape;119;p16"/>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B4A7D6"/>
              </a:solidFill>
              <a:prstDash val="solid"/>
              <a:round/>
              <a:headEnd type="none" w="med" len="med"/>
              <a:tailEnd type="none" w="med" len="med"/>
            </a:ln>
          </p:spPr>
        </p:sp>
      </p:grpSp>
      <p:grpSp>
        <p:nvGrpSpPr>
          <p:cNvPr id="120" name="Google Shape;120;p16"/>
          <p:cNvGrpSpPr/>
          <p:nvPr/>
        </p:nvGrpSpPr>
        <p:grpSpPr>
          <a:xfrm>
            <a:off x="5921850" y="3228431"/>
            <a:ext cx="2302050" cy="539372"/>
            <a:chOff x="587850" y="3227575"/>
            <a:chExt cx="2302050" cy="539372"/>
          </a:xfrm>
        </p:grpSpPr>
        <p:sp>
          <p:nvSpPr>
            <p:cNvPr id="121" name="Google Shape;121;p16"/>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122" name="Google Shape;122;p16"/>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grpSp>
      <p:pic>
        <p:nvPicPr>
          <p:cNvPr id="123" name="Google Shape;123;p16"/>
          <p:cNvPicPr preferRelativeResize="0"/>
          <p:nvPr/>
        </p:nvPicPr>
        <p:blipFill rotWithShape="1">
          <a:blip r:embed="rId5">
            <a:alphaModFix/>
          </a:blip>
          <a:srcRect b="49464"/>
          <a:stretch/>
        </p:blipFill>
        <p:spPr>
          <a:xfrm>
            <a:off x="152400" y="3711340"/>
            <a:ext cx="8839200" cy="1129175"/>
          </a:xfrm>
          <a:prstGeom prst="rect">
            <a:avLst/>
          </a:prstGeom>
          <a:noFill/>
          <a:ln>
            <a:noFill/>
          </a:ln>
        </p:spPr>
      </p:pic>
      <p:sp>
        <p:nvSpPr>
          <p:cNvPr id="124" name="Google Shape;124;p16"/>
          <p:cNvSpPr txBox="1"/>
          <p:nvPr/>
        </p:nvSpPr>
        <p:spPr>
          <a:xfrm>
            <a:off x="2770800" y="1885200"/>
            <a:ext cx="3602400" cy="91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i="1">
                <a:solidFill>
                  <a:schemeClr val="dk1"/>
                </a:solidFill>
                <a:latin typeface="Courier New"/>
                <a:ea typeface="Courier New"/>
                <a:cs typeface="Courier New"/>
                <a:sym typeface="Courier New"/>
              </a:rPr>
              <a:t>Node := Image</a:t>
            </a:r>
            <a:endParaRPr sz="2400" i="1">
              <a:solidFill>
                <a:schemeClr val="dk1"/>
              </a:solidFill>
              <a:latin typeface="Courier New"/>
              <a:ea typeface="Courier New"/>
              <a:cs typeface="Courier New"/>
              <a:sym typeface="Courier New"/>
            </a:endParaRPr>
          </a:p>
          <a:p>
            <a:pPr marL="0" lvl="0" indent="0" algn="l" rtl="0">
              <a:spcBef>
                <a:spcPts val="0"/>
              </a:spcBef>
              <a:spcAft>
                <a:spcPts val="0"/>
              </a:spcAft>
              <a:buNone/>
            </a:pPr>
            <a:r>
              <a:rPr lang="en" sz="2400" i="1">
                <a:solidFill>
                  <a:schemeClr val="dk1"/>
                </a:solidFill>
                <a:latin typeface="Courier New"/>
                <a:ea typeface="Courier New"/>
                <a:cs typeface="Courier New"/>
                <a:sym typeface="Courier New"/>
              </a:rPr>
              <a:t>Edge := Similarity</a:t>
            </a:r>
            <a:endParaRPr sz="2400" i="1">
              <a:solidFill>
                <a:schemeClr val="dk1"/>
              </a:solidFill>
              <a:latin typeface="Courier New"/>
              <a:ea typeface="Courier New"/>
              <a:cs typeface="Courier New"/>
              <a:sym typeface="Courier New"/>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pic>
        <p:nvPicPr>
          <p:cNvPr id="129" name="Google Shape;129;p17"/>
          <p:cNvPicPr preferRelativeResize="0"/>
          <p:nvPr/>
        </p:nvPicPr>
        <p:blipFill rotWithShape="1">
          <a:blip r:embed="rId3">
            <a:alphaModFix/>
          </a:blip>
          <a:srcRect b="25838"/>
          <a:stretch/>
        </p:blipFill>
        <p:spPr>
          <a:xfrm>
            <a:off x="152400" y="1110582"/>
            <a:ext cx="8839202" cy="1635850"/>
          </a:xfrm>
          <a:prstGeom prst="rect">
            <a:avLst/>
          </a:prstGeom>
          <a:noFill/>
          <a:ln>
            <a:noFill/>
          </a:ln>
        </p:spPr>
      </p:pic>
      <p:grpSp>
        <p:nvGrpSpPr>
          <p:cNvPr id="130" name="Google Shape;130;p17"/>
          <p:cNvGrpSpPr/>
          <p:nvPr/>
        </p:nvGrpSpPr>
        <p:grpSpPr>
          <a:xfrm>
            <a:off x="568600" y="3227575"/>
            <a:ext cx="7786800" cy="539374"/>
            <a:chOff x="568600" y="3227575"/>
            <a:chExt cx="7786800" cy="539374"/>
          </a:xfrm>
        </p:grpSpPr>
        <p:sp>
          <p:nvSpPr>
            <p:cNvPr id="131" name="Google Shape;131;p17"/>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chemeClr val="accent1"/>
              </a:solidFill>
              <a:prstDash val="solid"/>
              <a:round/>
              <a:headEnd type="none" w="med" len="med"/>
              <a:tailEnd type="none" w="med" len="med"/>
            </a:ln>
          </p:spPr>
        </p:sp>
        <p:sp>
          <p:nvSpPr>
            <p:cNvPr id="132" name="Google Shape;132;p17"/>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chemeClr val="accent1"/>
              </a:solidFill>
              <a:prstDash val="solid"/>
              <a:round/>
              <a:headEnd type="none" w="med" len="med"/>
              <a:tailEnd type="none" w="med" len="med"/>
            </a:ln>
          </p:spPr>
        </p:sp>
        <p:sp>
          <p:nvSpPr>
            <p:cNvPr id="133" name="Google Shape;133;p17"/>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chemeClr val="accent1"/>
              </a:solidFill>
              <a:prstDash val="solid"/>
              <a:round/>
              <a:headEnd type="none" w="med" len="med"/>
              <a:tailEnd type="none" w="med" len="med"/>
            </a:ln>
          </p:spPr>
        </p:sp>
        <p:sp>
          <p:nvSpPr>
            <p:cNvPr id="134" name="Google Shape;134;p17"/>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chemeClr val="accent1"/>
              </a:solidFill>
              <a:prstDash val="solid"/>
              <a:round/>
              <a:headEnd type="none" w="med" len="med"/>
              <a:tailEnd type="none" w="med" len="med"/>
            </a:ln>
          </p:spPr>
        </p:sp>
        <p:sp>
          <p:nvSpPr>
            <p:cNvPr id="135" name="Google Shape;135;p17"/>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chemeClr val="accent1"/>
              </a:solidFill>
              <a:prstDash val="solid"/>
              <a:round/>
              <a:headEnd type="none" w="med" len="med"/>
              <a:tailEnd type="none" w="med" len="med"/>
            </a:ln>
          </p:spPr>
        </p:sp>
        <p:sp>
          <p:nvSpPr>
            <p:cNvPr id="136" name="Google Shape;136;p17"/>
            <p:cNvSpPr/>
            <p:nvPr/>
          </p:nvSpPr>
          <p:spPr>
            <a:xfrm>
              <a:off x="645650" y="3256048"/>
              <a:ext cx="7709750" cy="491650"/>
            </a:xfrm>
            <a:custGeom>
              <a:avLst/>
              <a:gdLst/>
              <a:ahLst/>
              <a:cxnLst/>
              <a:rect l="l" t="t" r="r" b="b"/>
              <a:pathLst>
                <a:path w="308390" h="19666" extrusionOk="0">
                  <a:moveTo>
                    <a:pt x="0" y="19666"/>
                  </a:moveTo>
                  <a:cubicBezTo>
                    <a:pt x="45592" y="16391"/>
                    <a:pt x="222178" y="145"/>
                    <a:pt x="273549" y="16"/>
                  </a:cubicBezTo>
                  <a:cubicBezTo>
                    <a:pt x="324920" y="-112"/>
                    <a:pt x="302446" y="15749"/>
                    <a:pt x="308225" y="18895"/>
                  </a:cubicBezTo>
                </a:path>
              </a:pathLst>
            </a:custGeom>
            <a:noFill/>
            <a:ln w="19050" cap="flat" cmpd="sng">
              <a:solidFill>
                <a:schemeClr val="accent1"/>
              </a:solidFill>
              <a:prstDash val="solid"/>
              <a:round/>
              <a:headEnd type="none" w="med" len="med"/>
              <a:tailEnd type="none" w="med" len="med"/>
            </a:ln>
          </p:spPr>
        </p:sp>
      </p:grpSp>
      <p:sp>
        <p:nvSpPr>
          <p:cNvPr id="137" name="Google Shape;137;p17"/>
          <p:cNvSpPr txBox="1"/>
          <p:nvPr/>
        </p:nvSpPr>
        <p:spPr>
          <a:xfrm>
            <a:off x="20700" y="4864175"/>
            <a:ext cx="9102600" cy="279300"/>
          </a:xfrm>
          <a:prstGeom prst="rect">
            <a:avLst/>
          </a:prstGeom>
          <a:noFill/>
          <a:ln>
            <a:noFill/>
          </a:ln>
        </p:spPr>
        <p:txBody>
          <a:bodyPr spcFirstLastPara="1" wrap="square" lIns="91425" tIns="91425" rIns="91425" bIns="91425" anchor="t" anchorCtr="0">
            <a:noAutofit/>
          </a:bodyPr>
          <a:lstStyle/>
          <a:p>
            <a:pPr marL="279400" lvl="0" indent="-279400" algn="l" rtl="0">
              <a:lnSpc>
                <a:spcPct val="135000"/>
              </a:lnSpc>
              <a:spcBef>
                <a:spcPts val="0"/>
              </a:spcBef>
              <a:spcAft>
                <a:spcPts val="0"/>
              </a:spcAft>
              <a:buNone/>
            </a:pPr>
            <a:r>
              <a:rPr lang="en" sz="1000"/>
              <a:t>Image source: Ravi, Sachin, and Hugo Larochelle. “Optimization as a model for few-shot learning,” 2017, 11.</a:t>
            </a:r>
            <a:endParaRPr sz="1000"/>
          </a:p>
        </p:txBody>
      </p:sp>
      <p:grpSp>
        <p:nvGrpSpPr>
          <p:cNvPr id="138" name="Google Shape;138;p17"/>
          <p:cNvGrpSpPr/>
          <p:nvPr/>
        </p:nvGrpSpPr>
        <p:grpSpPr>
          <a:xfrm>
            <a:off x="1787800" y="3228431"/>
            <a:ext cx="6501600" cy="539374"/>
            <a:chOff x="568600" y="3227575"/>
            <a:chExt cx="6501600" cy="539374"/>
          </a:xfrm>
        </p:grpSpPr>
        <p:sp>
          <p:nvSpPr>
            <p:cNvPr id="139" name="Google Shape;139;p17"/>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A2C4C9"/>
              </a:solidFill>
              <a:prstDash val="solid"/>
              <a:round/>
              <a:headEnd type="none" w="med" len="med"/>
              <a:tailEnd type="none" w="med" len="med"/>
            </a:ln>
          </p:spPr>
        </p:sp>
        <p:sp>
          <p:nvSpPr>
            <p:cNvPr id="140" name="Google Shape;140;p17"/>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A2C4C9"/>
              </a:solidFill>
              <a:prstDash val="solid"/>
              <a:round/>
              <a:headEnd type="none" w="med" len="med"/>
              <a:tailEnd type="none" w="med" len="med"/>
            </a:ln>
          </p:spPr>
        </p:sp>
        <p:sp>
          <p:nvSpPr>
            <p:cNvPr id="141" name="Google Shape;141;p17"/>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A2C4C9"/>
              </a:solidFill>
              <a:prstDash val="solid"/>
              <a:round/>
              <a:headEnd type="none" w="med" len="med"/>
              <a:tailEnd type="none" w="med" len="med"/>
            </a:ln>
          </p:spPr>
        </p:sp>
        <p:sp>
          <p:nvSpPr>
            <p:cNvPr id="142" name="Google Shape;142;p17"/>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A2C4C9"/>
              </a:solidFill>
              <a:prstDash val="solid"/>
              <a:round/>
              <a:headEnd type="none" w="med" len="med"/>
              <a:tailEnd type="none" w="med" len="med"/>
            </a:ln>
          </p:spPr>
        </p:sp>
        <p:sp>
          <p:nvSpPr>
            <p:cNvPr id="143" name="Google Shape;143;p17"/>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rgbClr val="A2C4C9"/>
              </a:solidFill>
              <a:prstDash val="solid"/>
              <a:round/>
              <a:headEnd type="none" w="med" len="med"/>
              <a:tailEnd type="none" w="med" len="med"/>
            </a:ln>
          </p:spPr>
        </p:sp>
      </p:grpSp>
      <p:grpSp>
        <p:nvGrpSpPr>
          <p:cNvPr id="144" name="Google Shape;144;p17"/>
          <p:cNvGrpSpPr/>
          <p:nvPr/>
        </p:nvGrpSpPr>
        <p:grpSpPr>
          <a:xfrm>
            <a:off x="3159400" y="3228431"/>
            <a:ext cx="4941225" cy="539373"/>
            <a:chOff x="568600" y="3227575"/>
            <a:chExt cx="4941225" cy="539373"/>
          </a:xfrm>
        </p:grpSpPr>
        <p:sp>
          <p:nvSpPr>
            <p:cNvPr id="145" name="Google Shape;145;p17"/>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8E7CC3"/>
              </a:solidFill>
              <a:prstDash val="solid"/>
              <a:round/>
              <a:headEnd type="none" w="med" len="med"/>
              <a:tailEnd type="none" w="med" len="med"/>
            </a:ln>
          </p:spPr>
        </p:sp>
        <p:sp>
          <p:nvSpPr>
            <p:cNvPr id="146" name="Google Shape;146;p17"/>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8E7CC3"/>
              </a:solidFill>
              <a:prstDash val="solid"/>
              <a:round/>
              <a:headEnd type="none" w="med" len="med"/>
              <a:tailEnd type="none" w="med" len="med"/>
            </a:ln>
          </p:spPr>
        </p:sp>
        <p:sp>
          <p:nvSpPr>
            <p:cNvPr id="147" name="Google Shape;147;p17"/>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8E7CC3"/>
              </a:solidFill>
              <a:prstDash val="solid"/>
              <a:round/>
              <a:headEnd type="none" w="med" len="med"/>
              <a:tailEnd type="none" w="med" len="med"/>
            </a:ln>
          </p:spPr>
        </p:sp>
        <p:sp>
          <p:nvSpPr>
            <p:cNvPr id="148" name="Google Shape;148;p17"/>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8E7CC3"/>
              </a:solidFill>
              <a:prstDash val="solid"/>
              <a:round/>
              <a:headEnd type="none" w="med" len="med"/>
              <a:tailEnd type="none" w="med" len="med"/>
            </a:ln>
          </p:spPr>
        </p:sp>
      </p:grpSp>
      <p:grpSp>
        <p:nvGrpSpPr>
          <p:cNvPr id="149" name="Google Shape;149;p17"/>
          <p:cNvGrpSpPr/>
          <p:nvPr/>
        </p:nvGrpSpPr>
        <p:grpSpPr>
          <a:xfrm>
            <a:off x="4531000" y="3228431"/>
            <a:ext cx="3602375" cy="539372"/>
            <a:chOff x="568600" y="3227575"/>
            <a:chExt cx="3602375" cy="539372"/>
          </a:xfrm>
        </p:grpSpPr>
        <p:sp>
          <p:nvSpPr>
            <p:cNvPr id="150" name="Google Shape;150;p17"/>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151" name="Google Shape;151;p17"/>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sp>
          <p:nvSpPr>
            <p:cNvPr id="152" name="Google Shape;152;p17"/>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B4A7D6"/>
              </a:solidFill>
              <a:prstDash val="solid"/>
              <a:round/>
              <a:headEnd type="none" w="med" len="med"/>
              <a:tailEnd type="none" w="med" len="med"/>
            </a:ln>
          </p:spPr>
        </p:sp>
      </p:grpSp>
      <p:grpSp>
        <p:nvGrpSpPr>
          <p:cNvPr id="153" name="Google Shape;153;p17"/>
          <p:cNvGrpSpPr/>
          <p:nvPr/>
        </p:nvGrpSpPr>
        <p:grpSpPr>
          <a:xfrm>
            <a:off x="5921850" y="3228431"/>
            <a:ext cx="2302050" cy="539372"/>
            <a:chOff x="587850" y="3227575"/>
            <a:chExt cx="2302050" cy="539372"/>
          </a:xfrm>
        </p:grpSpPr>
        <p:sp>
          <p:nvSpPr>
            <p:cNvPr id="154" name="Google Shape;154;p17"/>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155" name="Google Shape;155;p17"/>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grpSp>
      <p:pic>
        <p:nvPicPr>
          <p:cNvPr id="156" name="Google Shape;156;p17"/>
          <p:cNvPicPr preferRelativeResize="0"/>
          <p:nvPr/>
        </p:nvPicPr>
        <p:blipFill rotWithShape="1">
          <a:blip r:embed="rId4">
            <a:alphaModFix/>
          </a:blip>
          <a:srcRect b="49464"/>
          <a:stretch/>
        </p:blipFill>
        <p:spPr>
          <a:xfrm>
            <a:off x="152400" y="3711340"/>
            <a:ext cx="8839200" cy="1129175"/>
          </a:xfrm>
          <a:prstGeom prst="rect">
            <a:avLst/>
          </a:prstGeom>
          <a:noFill/>
          <a:ln>
            <a:noFill/>
          </a:ln>
        </p:spPr>
      </p:pic>
      <p:sp>
        <p:nvSpPr>
          <p:cNvPr id="157" name="Google Shape;157;p17"/>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Why Graphs?</a:t>
            </a:r>
            <a:endParaRPr>
              <a:latin typeface="Open Sans"/>
              <a:ea typeface="Open Sans"/>
              <a:cs typeface="Open Sans"/>
              <a:sym typeface="Open Sans"/>
            </a:endParaRPr>
          </a:p>
        </p:txBody>
      </p:sp>
      <p:sp>
        <p:nvSpPr>
          <p:cNvPr id="158" name="Google Shape;158;p17"/>
          <p:cNvSpPr txBox="1"/>
          <p:nvPr/>
        </p:nvSpPr>
        <p:spPr>
          <a:xfrm>
            <a:off x="311700" y="1133325"/>
            <a:ext cx="8679900" cy="17379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endParaRPr sz="1600">
              <a:solidFill>
                <a:schemeClr val="dk1"/>
              </a:solidFill>
              <a:latin typeface="Open Sans"/>
              <a:ea typeface="Open Sans"/>
              <a:cs typeface="Open Sans"/>
              <a:sym typeface="Open Sans"/>
            </a:endParaRPr>
          </a:p>
        </p:txBody>
      </p:sp>
      <p:sp>
        <p:nvSpPr>
          <p:cNvPr id="159" name="Google Shape;159;p17"/>
          <p:cNvSpPr txBox="1"/>
          <p:nvPr/>
        </p:nvSpPr>
        <p:spPr>
          <a:xfrm>
            <a:off x="107388" y="2692047"/>
            <a:ext cx="91026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222222"/>
                </a:solidFill>
                <a:highlight>
                  <a:schemeClr val="lt1"/>
                </a:highlight>
              </a:rPr>
              <a:t>Battaglia, Peter W., et al. "Relational inductive biases, deep learning, and graph networks." </a:t>
            </a:r>
            <a:r>
              <a:rPr lang="en" sz="1000" i="1">
                <a:solidFill>
                  <a:srgbClr val="222222"/>
                </a:solidFill>
                <a:highlight>
                  <a:schemeClr val="lt1"/>
                </a:highlight>
              </a:rPr>
              <a:t>arXiv preprint arXiv:1806.01261</a:t>
            </a:r>
            <a:r>
              <a:rPr lang="en" sz="1000">
                <a:solidFill>
                  <a:srgbClr val="222222"/>
                </a:solidFill>
                <a:highlight>
                  <a:schemeClr val="lt1"/>
                </a:highlight>
              </a:rPr>
              <a:t> (2018).</a:t>
            </a:r>
            <a:endParaRPr>
              <a:solidFill>
                <a:schemeClr val="dk1"/>
              </a:solidFill>
            </a:endParaRPr>
          </a:p>
          <a:p>
            <a:pPr marL="279400" lvl="0" indent="-279400" algn="l" rtl="0">
              <a:lnSpc>
                <a:spcPct val="135000"/>
              </a:lnSpc>
              <a:spcBef>
                <a:spcPts val="0"/>
              </a:spcBef>
              <a:spcAft>
                <a:spcPts val="0"/>
              </a:spcAft>
              <a:buNone/>
            </a:pPr>
            <a:endParaRPr sz="1000"/>
          </a:p>
        </p:txBody>
      </p:sp>
      <p:sp>
        <p:nvSpPr>
          <p:cNvPr id="160" name="Google Shape;160;p17"/>
          <p:cNvSpPr/>
          <p:nvPr/>
        </p:nvSpPr>
        <p:spPr>
          <a:xfrm>
            <a:off x="164050" y="2322161"/>
            <a:ext cx="8717100" cy="38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pic>
        <p:nvPicPr>
          <p:cNvPr id="165" name="Google Shape;165;p18"/>
          <p:cNvPicPr preferRelativeResize="0"/>
          <p:nvPr/>
        </p:nvPicPr>
        <p:blipFill rotWithShape="1">
          <a:blip r:embed="rId3">
            <a:alphaModFix/>
          </a:blip>
          <a:srcRect b="25838"/>
          <a:stretch/>
        </p:blipFill>
        <p:spPr>
          <a:xfrm>
            <a:off x="152400" y="1110582"/>
            <a:ext cx="8839202" cy="1635850"/>
          </a:xfrm>
          <a:prstGeom prst="rect">
            <a:avLst/>
          </a:prstGeom>
          <a:noFill/>
          <a:ln>
            <a:noFill/>
          </a:ln>
        </p:spPr>
      </p:pic>
      <p:grpSp>
        <p:nvGrpSpPr>
          <p:cNvPr id="166" name="Google Shape;166;p18"/>
          <p:cNvGrpSpPr/>
          <p:nvPr/>
        </p:nvGrpSpPr>
        <p:grpSpPr>
          <a:xfrm>
            <a:off x="568600" y="3227575"/>
            <a:ext cx="7786800" cy="539374"/>
            <a:chOff x="568600" y="3227575"/>
            <a:chExt cx="7786800" cy="539374"/>
          </a:xfrm>
        </p:grpSpPr>
        <p:sp>
          <p:nvSpPr>
            <p:cNvPr id="167" name="Google Shape;167;p18"/>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chemeClr val="accent1"/>
              </a:solidFill>
              <a:prstDash val="solid"/>
              <a:round/>
              <a:headEnd type="none" w="med" len="med"/>
              <a:tailEnd type="none" w="med" len="med"/>
            </a:ln>
          </p:spPr>
        </p:sp>
        <p:sp>
          <p:nvSpPr>
            <p:cNvPr id="168" name="Google Shape;168;p18"/>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chemeClr val="accent1"/>
              </a:solidFill>
              <a:prstDash val="solid"/>
              <a:round/>
              <a:headEnd type="none" w="med" len="med"/>
              <a:tailEnd type="none" w="med" len="med"/>
            </a:ln>
          </p:spPr>
        </p:sp>
        <p:sp>
          <p:nvSpPr>
            <p:cNvPr id="169" name="Google Shape;169;p18"/>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chemeClr val="accent1"/>
              </a:solidFill>
              <a:prstDash val="solid"/>
              <a:round/>
              <a:headEnd type="none" w="med" len="med"/>
              <a:tailEnd type="none" w="med" len="med"/>
            </a:ln>
          </p:spPr>
        </p:sp>
        <p:sp>
          <p:nvSpPr>
            <p:cNvPr id="170" name="Google Shape;170;p18"/>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chemeClr val="accent1"/>
              </a:solidFill>
              <a:prstDash val="solid"/>
              <a:round/>
              <a:headEnd type="none" w="med" len="med"/>
              <a:tailEnd type="none" w="med" len="med"/>
            </a:ln>
          </p:spPr>
        </p:sp>
        <p:sp>
          <p:nvSpPr>
            <p:cNvPr id="171" name="Google Shape;171;p18"/>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chemeClr val="accent1"/>
              </a:solidFill>
              <a:prstDash val="solid"/>
              <a:round/>
              <a:headEnd type="none" w="med" len="med"/>
              <a:tailEnd type="none" w="med" len="med"/>
            </a:ln>
          </p:spPr>
        </p:sp>
        <p:sp>
          <p:nvSpPr>
            <p:cNvPr id="172" name="Google Shape;172;p18"/>
            <p:cNvSpPr/>
            <p:nvPr/>
          </p:nvSpPr>
          <p:spPr>
            <a:xfrm>
              <a:off x="645650" y="3256048"/>
              <a:ext cx="7709750" cy="491650"/>
            </a:xfrm>
            <a:custGeom>
              <a:avLst/>
              <a:gdLst/>
              <a:ahLst/>
              <a:cxnLst/>
              <a:rect l="l" t="t" r="r" b="b"/>
              <a:pathLst>
                <a:path w="308390" h="19666" extrusionOk="0">
                  <a:moveTo>
                    <a:pt x="0" y="19666"/>
                  </a:moveTo>
                  <a:cubicBezTo>
                    <a:pt x="45592" y="16391"/>
                    <a:pt x="222178" y="145"/>
                    <a:pt x="273549" y="16"/>
                  </a:cubicBezTo>
                  <a:cubicBezTo>
                    <a:pt x="324920" y="-112"/>
                    <a:pt x="302446" y="15749"/>
                    <a:pt x="308225" y="18895"/>
                  </a:cubicBezTo>
                </a:path>
              </a:pathLst>
            </a:custGeom>
            <a:noFill/>
            <a:ln w="19050" cap="flat" cmpd="sng">
              <a:solidFill>
                <a:schemeClr val="accent1"/>
              </a:solidFill>
              <a:prstDash val="solid"/>
              <a:round/>
              <a:headEnd type="none" w="med" len="med"/>
              <a:tailEnd type="none" w="med" len="med"/>
            </a:ln>
          </p:spPr>
        </p:sp>
      </p:grpSp>
      <p:sp>
        <p:nvSpPr>
          <p:cNvPr id="173" name="Google Shape;173;p18"/>
          <p:cNvSpPr txBox="1"/>
          <p:nvPr/>
        </p:nvSpPr>
        <p:spPr>
          <a:xfrm>
            <a:off x="20700" y="4864175"/>
            <a:ext cx="9102600" cy="279300"/>
          </a:xfrm>
          <a:prstGeom prst="rect">
            <a:avLst/>
          </a:prstGeom>
          <a:noFill/>
          <a:ln>
            <a:noFill/>
          </a:ln>
        </p:spPr>
        <p:txBody>
          <a:bodyPr spcFirstLastPara="1" wrap="square" lIns="91425" tIns="91425" rIns="91425" bIns="91425" anchor="t" anchorCtr="0">
            <a:noAutofit/>
          </a:bodyPr>
          <a:lstStyle/>
          <a:p>
            <a:pPr marL="279400" lvl="0" indent="-279400" algn="l" rtl="0">
              <a:lnSpc>
                <a:spcPct val="135000"/>
              </a:lnSpc>
              <a:spcBef>
                <a:spcPts val="0"/>
              </a:spcBef>
              <a:spcAft>
                <a:spcPts val="0"/>
              </a:spcAft>
              <a:buNone/>
            </a:pPr>
            <a:r>
              <a:rPr lang="en" sz="1000"/>
              <a:t>Image source: Ravi, Sachin, and Hugo Larochelle. “Optimization as a model for few-shot learning,” 2017, 11.</a:t>
            </a:r>
            <a:endParaRPr sz="1000"/>
          </a:p>
        </p:txBody>
      </p:sp>
      <p:grpSp>
        <p:nvGrpSpPr>
          <p:cNvPr id="174" name="Google Shape;174;p18"/>
          <p:cNvGrpSpPr/>
          <p:nvPr/>
        </p:nvGrpSpPr>
        <p:grpSpPr>
          <a:xfrm>
            <a:off x="1787800" y="3228431"/>
            <a:ext cx="6501600" cy="539374"/>
            <a:chOff x="568600" y="3227575"/>
            <a:chExt cx="6501600" cy="539374"/>
          </a:xfrm>
        </p:grpSpPr>
        <p:sp>
          <p:nvSpPr>
            <p:cNvPr id="175" name="Google Shape;175;p18"/>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A2C4C9"/>
              </a:solidFill>
              <a:prstDash val="solid"/>
              <a:round/>
              <a:headEnd type="none" w="med" len="med"/>
              <a:tailEnd type="none" w="med" len="med"/>
            </a:ln>
          </p:spPr>
        </p:sp>
        <p:sp>
          <p:nvSpPr>
            <p:cNvPr id="176" name="Google Shape;176;p18"/>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A2C4C9"/>
              </a:solidFill>
              <a:prstDash val="solid"/>
              <a:round/>
              <a:headEnd type="none" w="med" len="med"/>
              <a:tailEnd type="none" w="med" len="med"/>
            </a:ln>
          </p:spPr>
        </p:sp>
        <p:sp>
          <p:nvSpPr>
            <p:cNvPr id="177" name="Google Shape;177;p18"/>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A2C4C9"/>
              </a:solidFill>
              <a:prstDash val="solid"/>
              <a:round/>
              <a:headEnd type="none" w="med" len="med"/>
              <a:tailEnd type="none" w="med" len="med"/>
            </a:ln>
          </p:spPr>
        </p:sp>
        <p:sp>
          <p:nvSpPr>
            <p:cNvPr id="178" name="Google Shape;178;p18"/>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A2C4C9"/>
              </a:solidFill>
              <a:prstDash val="solid"/>
              <a:round/>
              <a:headEnd type="none" w="med" len="med"/>
              <a:tailEnd type="none" w="med" len="med"/>
            </a:ln>
          </p:spPr>
        </p:sp>
        <p:sp>
          <p:nvSpPr>
            <p:cNvPr id="179" name="Google Shape;179;p18"/>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rgbClr val="A2C4C9"/>
              </a:solidFill>
              <a:prstDash val="solid"/>
              <a:round/>
              <a:headEnd type="none" w="med" len="med"/>
              <a:tailEnd type="none" w="med" len="med"/>
            </a:ln>
          </p:spPr>
        </p:sp>
      </p:grpSp>
      <p:grpSp>
        <p:nvGrpSpPr>
          <p:cNvPr id="180" name="Google Shape;180;p18"/>
          <p:cNvGrpSpPr/>
          <p:nvPr/>
        </p:nvGrpSpPr>
        <p:grpSpPr>
          <a:xfrm>
            <a:off x="3159400" y="3228431"/>
            <a:ext cx="4941225" cy="539373"/>
            <a:chOff x="568600" y="3227575"/>
            <a:chExt cx="4941225" cy="539373"/>
          </a:xfrm>
        </p:grpSpPr>
        <p:sp>
          <p:nvSpPr>
            <p:cNvPr id="181" name="Google Shape;181;p18"/>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8E7CC3"/>
              </a:solidFill>
              <a:prstDash val="solid"/>
              <a:round/>
              <a:headEnd type="none" w="med" len="med"/>
              <a:tailEnd type="none" w="med" len="med"/>
            </a:ln>
          </p:spPr>
        </p:sp>
        <p:sp>
          <p:nvSpPr>
            <p:cNvPr id="182" name="Google Shape;182;p18"/>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8E7CC3"/>
              </a:solidFill>
              <a:prstDash val="solid"/>
              <a:round/>
              <a:headEnd type="none" w="med" len="med"/>
              <a:tailEnd type="none" w="med" len="med"/>
            </a:ln>
          </p:spPr>
        </p:sp>
        <p:sp>
          <p:nvSpPr>
            <p:cNvPr id="183" name="Google Shape;183;p18"/>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8E7CC3"/>
              </a:solidFill>
              <a:prstDash val="solid"/>
              <a:round/>
              <a:headEnd type="none" w="med" len="med"/>
              <a:tailEnd type="none" w="med" len="med"/>
            </a:ln>
          </p:spPr>
        </p:sp>
        <p:sp>
          <p:nvSpPr>
            <p:cNvPr id="184" name="Google Shape;184;p18"/>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8E7CC3"/>
              </a:solidFill>
              <a:prstDash val="solid"/>
              <a:round/>
              <a:headEnd type="none" w="med" len="med"/>
              <a:tailEnd type="none" w="med" len="med"/>
            </a:ln>
          </p:spPr>
        </p:sp>
      </p:grpSp>
      <p:grpSp>
        <p:nvGrpSpPr>
          <p:cNvPr id="185" name="Google Shape;185;p18"/>
          <p:cNvGrpSpPr/>
          <p:nvPr/>
        </p:nvGrpSpPr>
        <p:grpSpPr>
          <a:xfrm>
            <a:off x="4531000" y="3228431"/>
            <a:ext cx="3602375" cy="539372"/>
            <a:chOff x="568600" y="3227575"/>
            <a:chExt cx="3602375" cy="539372"/>
          </a:xfrm>
        </p:grpSpPr>
        <p:sp>
          <p:nvSpPr>
            <p:cNvPr id="186" name="Google Shape;186;p18"/>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187" name="Google Shape;187;p18"/>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sp>
          <p:nvSpPr>
            <p:cNvPr id="188" name="Google Shape;188;p18"/>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B4A7D6"/>
              </a:solidFill>
              <a:prstDash val="solid"/>
              <a:round/>
              <a:headEnd type="none" w="med" len="med"/>
              <a:tailEnd type="none" w="med" len="med"/>
            </a:ln>
          </p:spPr>
        </p:sp>
      </p:grpSp>
      <p:grpSp>
        <p:nvGrpSpPr>
          <p:cNvPr id="189" name="Google Shape;189;p18"/>
          <p:cNvGrpSpPr/>
          <p:nvPr/>
        </p:nvGrpSpPr>
        <p:grpSpPr>
          <a:xfrm>
            <a:off x="5921850" y="3228431"/>
            <a:ext cx="2302050" cy="539372"/>
            <a:chOff x="587850" y="3227575"/>
            <a:chExt cx="2302050" cy="539372"/>
          </a:xfrm>
        </p:grpSpPr>
        <p:sp>
          <p:nvSpPr>
            <p:cNvPr id="190" name="Google Shape;190;p18"/>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191" name="Google Shape;191;p18"/>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grpSp>
      <p:pic>
        <p:nvPicPr>
          <p:cNvPr id="192" name="Google Shape;192;p18"/>
          <p:cNvPicPr preferRelativeResize="0"/>
          <p:nvPr/>
        </p:nvPicPr>
        <p:blipFill rotWithShape="1">
          <a:blip r:embed="rId4">
            <a:alphaModFix/>
          </a:blip>
          <a:srcRect b="49464"/>
          <a:stretch/>
        </p:blipFill>
        <p:spPr>
          <a:xfrm>
            <a:off x="152400" y="3711340"/>
            <a:ext cx="8839200" cy="1129175"/>
          </a:xfrm>
          <a:prstGeom prst="rect">
            <a:avLst/>
          </a:prstGeom>
          <a:noFill/>
          <a:ln>
            <a:noFill/>
          </a:ln>
        </p:spPr>
      </p:pic>
      <p:sp>
        <p:nvSpPr>
          <p:cNvPr id="193" name="Google Shape;193;p18"/>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Why Graphs?</a:t>
            </a:r>
            <a:endParaRPr>
              <a:latin typeface="Open Sans"/>
              <a:ea typeface="Open Sans"/>
              <a:cs typeface="Open Sans"/>
              <a:sym typeface="Open Sans"/>
            </a:endParaRPr>
          </a:p>
        </p:txBody>
      </p:sp>
      <p:sp>
        <p:nvSpPr>
          <p:cNvPr id="194" name="Google Shape;194;p18"/>
          <p:cNvSpPr txBox="1"/>
          <p:nvPr/>
        </p:nvSpPr>
        <p:spPr>
          <a:xfrm>
            <a:off x="311700" y="1133325"/>
            <a:ext cx="8679900" cy="17379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endParaRPr sz="1600">
              <a:solidFill>
                <a:schemeClr val="dk1"/>
              </a:solidFill>
              <a:latin typeface="Open Sans"/>
              <a:ea typeface="Open Sans"/>
              <a:cs typeface="Open Sans"/>
              <a:sym typeface="Open Sans"/>
            </a:endParaRPr>
          </a:p>
        </p:txBody>
      </p:sp>
      <p:sp>
        <p:nvSpPr>
          <p:cNvPr id="195" name="Google Shape;195;p18"/>
          <p:cNvSpPr txBox="1"/>
          <p:nvPr/>
        </p:nvSpPr>
        <p:spPr>
          <a:xfrm>
            <a:off x="107388" y="2692047"/>
            <a:ext cx="9102600" cy="279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rgbClr val="222222"/>
                </a:solidFill>
                <a:highlight>
                  <a:schemeClr val="lt1"/>
                </a:highlight>
              </a:rPr>
              <a:t>Battaglia, Peter W., et al. "Relational inductive biases, deep learning, and graph networks." </a:t>
            </a:r>
            <a:r>
              <a:rPr lang="en" sz="1000" i="1">
                <a:solidFill>
                  <a:srgbClr val="222222"/>
                </a:solidFill>
                <a:highlight>
                  <a:schemeClr val="lt1"/>
                </a:highlight>
              </a:rPr>
              <a:t>arXiv preprint arXiv:1806.01261</a:t>
            </a:r>
            <a:r>
              <a:rPr lang="en" sz="1000">
                <a:solidFill>
                  <a:srgbClr val="222222"/>
                </a:solidFill>
                <a:highlight>
                  <a:schemeClr val="lt1"/>
                </a:highlight>
              </a:rPr>
              <a:t> (2018).</a:t>
            </a:r>
            <a:endParaRPr>
              <a:solidFill>
                <a:schemeClr val="dk1"/>
              </a:solidFill>
            </a:endParaRPr>
          </a:p>
          <a:p>
            <a:pPr marL="279400" lvl="0" indent="-279400" algn="l" rtl="0">
              <a:lnSpc>
                <a:spcPct val="135000"/>
              </a:lnSpc>
              <a:spcBef>
                <a:spcPts val="0"/>
              </a:spcBef>
              <a:spcAft>
                <a:spcPts val="0"/>
              </a:spcAft>
              <a:buNone/>
            </a:pPr>
            <a:endParaRPr sz="1000"/>
          </a:p>
        </p:txBody>
      </p:sp>
      <p:sp>
        <p:nvSpPr>
          <p:cNvPr id="196" name="Google Shape;196;p18"/>
          <p:cNvSpPr/>
          <p:nvPr/>
        </p:nvSpPr>
        <p:spPr>
          <a:xfrm>
            <a:off x="164050" y="2322161"/>
            <a:ext cx="8717100" cy="385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8"/>
          <p:cNvSpPr/>
          <p:nvPr/>
        </p:nvSpPr>
        <p:spPr>
          <a:xfrm>
            <a:off x="195450" y="1268225"/>
            <a:ext cx="8717100" cy="1045800"/>
          </a:xfrm>
          <a:prstGeom prst="rect">
            <a:avLst/>
          </a:prstGeom>
          <a:solidFill>
            <a:srgbClr val="FFFFFF">
              <a:alpha val="8547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18"/>
          <p:cNvSpPr/>
          <p:nvPr/>
        </p:nvSpPr>
        <p:spPr>
          <a:xfrm>
            <a:off x="3876013" y="660900"/>
            <a:ext cx="4594500" cy="1421100"/>
          </a:xfrm>
          <a:prstGeom prst="rect">
            <a:avLst/>
          </a:prstGeom>
          <a:solidFill>
            <a:srgbClr val="FFFFFF"/>
          </a:solidFill>
          <a:ln w="28575" cap="flat" cmpd="sng">
            <a:solidFill>
              <a:srgbClr val="000000"/>
            </a:solidFill>
            <a:prstDash val="solid"/>
            <a:round/>
            <a:headEnd type="none" w="sm" len="sm"/>
            <a:tailEnd type="none" w="sm" len="sm"/>
          </a:ln>
        </p:spPr>
        <p:txBody>
          <a:bodyPr spcFirstLastPara="1" wrap="square" lIns="228600" tIns="228600" rIns="228600" bIns="228600" anchor="t" anchorCtr="0">
            <a:noAutofit/>
          </a:bodyPr>
          <a:lstStyle/>
          <a:p>
            <a:pPr marL="0" lvl="0" indent="0" algn="l" rtl="0">
              <a:lnSpc>
                <a:spcPct val="150000"/>
              </a:lnSpc>
              <a:spcBef>
                <a:spcPts val="0"/>
              </a:spcBef>
              <a:spcAft>
                <a:spcPts val="0"/>
              </a:spcAft>
              <a:buNone/>
            </a:pPr>
            <a:r>
              <a:rPr lang="en" sz="1600" i="1"/>
              <a:t>Graph Neural Networks (GNNs) can learn both </a:t>
            </a:r>
            <a:r>
              <a:rPr lang="en" sz="1600" b="1" i="1"/>
              <a:t>node features </a:t>
            </a:r>
            <a:r>
              <a:rPr lang="en" sz="1600" i="1"/>
              <a:t>and </a:t>
            </a:r>
            <a:r>
              <a:rPr lang="en" sz="1600" b="1" i="1"/>
              <a:t>node relationships</a:t>
            </a:r>
            <a:r>
              <a:rPr lang="en" sz="1600" i="1"/>
              <a:t> (edge features) in order to make predictions.</a:t>
            </a:r>
            <a:endParaRPr sz="1600" i="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9"/>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Primary Contributions</a:t>
            </a:r>
            <a:endParaRPr>
              <a:latin typeface="Open Sans"/>
              <a:ea typeface="Open Sans"/>
              <a:cs typeface="Open Sans"/>
              <a:sym typeface="Open Sans"/>
            </a:endParaRPr>
          </a:p>
        </p:txBody>
      </p:sp>
      <p:grpSp>
        <p:nvGrpSpPr>
          <p:cNvPr id="204" name="Google Shape;204;p19"/>
          <p:cNvGrpSpPr/>
          <p:nvPr/>
        </p:nvGrpSpPr>
        <p:grpSpPr>
          <a:xfrm>
            <a:off x="568600" y="3227575"/>
            <a:ext cx="7786800" cy="539374"/>
            <a:chOff x="568600" y="3227575"/>
            <a:chExt cx="7786800" cy="539374"/>
          </a:xfrm>
        </p:grpSpPr>
        <p:sp>
          <p:nvSpPr>
            <p:cNvPr id="205" name="Google Shape;205;p19"/>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chemeClr val="accent1"/>
              </a:solidFill>
              <a:prstDash val="solid"/>
              <a:round/>
              <a:headEnd type="none" w="med" len="med"/>
              <a:tailEnd type="none" w="med" len="med"/>
            </a:ln>
          </p:spPr>
        </p:sp>
        <p:sp>
          <p:nvSpPr>
            <p:cNvPr id="206" name="Google Shape;206;p19"/>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chemeClr val="accent1"/>
              </a:solidFill>
              <a:prstDash val="solid"/>
              <a:round/>
              <a:headEnd type="none" w="med" len="med"/>
              <a:tailEnd type="none" w="med" len="med"/>
            </a:ln>
          </p:spPr>
        </p:sp>
        <p:sp>
          <p:nvSpPr>
            <p:cNvPr id="207" name="Google Shape;207;p19"/>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chemeClr val="accent1"/>
              </a:solidFill>
              <a:prstDash val="solid"/>
              <a:round/>
              <a:headEnd type="none" w="med" len="med"/>
              <a:tailEnd type="none" w="med" len="med"/>
            </a:ln>
          </p:spPr>
        </p:sp>
        <p:sp>
          <p:nvSpPr>
            <p:cNvPr id="208" name="Google Shape;208;p19"/>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chemeClr val="accent1"/>
              </a:solidFill>
              <a:prstDash val="solid"/>
              <a:round/>
              <a:headEnd type="none" w="med" len="med"/>
              <a:tailEnd type="none" w="med" len="med"/>
            </a:ln>
          </p:spPr>
        </p:sp>
        <p:sp>
          <p:nvSpPr>
            <p:cNvPr id="209" name="Google Shape;209;p19"/>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chemeClr val="accent1"/>
              </a:solidFill>
              <a:prstDash val="solid"/>
              <a:round/>
              <a:headEnd type="none" w="med" len="med"/>
              <a:tailEnd type="none" w="med" len="med"/>
            </a:ln>
          </p:spPr>
        </p:sp>
        <p:sp>
          <p:nvSpPr>
            <p:cNvPr id="210" name="Google Shape;210;p19"/>
            <p:cNvSpPr/>
            <p:nvPr/>
          </p:nvSpPr>
          <p:spPr>
            <a:xfrm>
              <a:off x="645650" y="3256048"/>
              <a:ext cx="7709750" cy="491650"/>
            </a:xfrm>
            <a:custGeom>
              <a:avLst/>
              <a:gdLst/>
              <a:ahLst/>
              <a:cxnLst/>
              <a:rect l="l" t="t" r="r" b="b"/>
              <a:pathLst>
                <a:path w="308390" h="19666" extrusionOk="0">
                  <a:moveTo>
                    <a:pt x="0" y="19666"/>
                  </a:moveTo>
                  <a:cubicBezTo>
                    <a:pt x="45592" y="16391"/>
                    <a:pt x="222178" y="145"/>
                    <a:pt x="273549" y="16"/>
                  </a:cubicBezTo>
                  <a:cubicBezTo>
                    <a:pt x="324920" y="-112"/>
                    <a:pt x="302446" y="15749"/>
                    <a:pt x="308225" y="18895"/>
                  </a:cubicBezTo>
                </a:path>
              </a:pathLst>
            </a:custGeom>
            <a:noFill/>
            <a:ln w="19050" cap="flat" cmpd="sng">
              <a:solidFill>
                <a:schemeClr val="accent1"/>
              </a:solidFill>
              <a:prstDash val="solid"/>
              <a:round/>
              <a:headEnd type="none" w="med" len="med"/>
              <a:tailEnd type="none" w="med" len="med"/>
            </a:ln>
          </p:spPr>
        </p:sp>
      </p:grpSp>
      <p:sp>
        <p:nvSpPr>
          <p:cNvPr id="211" name="Google Shape;211;p19"/>
          <p:cNvSpPr txBox="1"/>
          <p:nvPr/>
        </p:nvSpPr>
        <p:spPr>
          <a:xfrm>
            <a:off x="20700" y="4864175"/>
            <a:ext cx="9102600" cy="279300"/>
          </a:xfrm>
          <a:prstGeom prst="rect">
            <a:avLst/>
          </a:prstGeom>
          <a:noFill/>
          <a:ln>
            <a:noFill/>
          </a:ln>
        </p:spPr>
        <p:txBody>
          <a:bodyPr spcFirstLastPara="1" wrap="square" lIns="91425" tIns="91425" rIns="91425" bIns="91425" anchor="t" anchorCtr="0">
            <a:noAutofit/>
          </a:bodyPr>
          <a:lstStyle/>
          <a:p>
            <a:pPr marL="279400" lvl="0" indent="-279400" algn="l" rtl="0">
              <a:lnSpc>
                <a:spcPct val="135000"/>
              </a:lnSpc>
              <a:spcBef>
                <a:spcPts val="0"/>
              </a:spcBef>
              <a:spcAft>
                <a:spcPts val="0"/>
              </a:spcAft>
              <a:buNone/>
            </a:pPr>
            <a:r>
              <a:rPr lang="en" sz="1000"/>
              <a:t>Image source: Ravi, Sachin, and Hugo Larochelle. “Optimization as a model for few-shot learning,” 2017, 11.</a:t>
            </a:r>
            <a:endParaRPr sz="1000"/>
          </a:p>
        </p:txBody>
      </p:sp>
      <p:grpSp>
        <p:nvGrpSpPr>
          <p:cNvPr id="212" name="Google Shape;212;p19"/>
          <p:cNvGrpSpPr/>
          <p:nvPr/>
        </p:nvGrpSpPr>
        <p:grpSpPr>
          <a:xfrm>
            <a:off x="1787800" y="3228431"/>
            <a:ext cx="6501600" cy="539374"/>
            <a:chOff x="568600" y="3227575"/>
            <a:chExt cx="6501600" cy="539374"/>
          </a:xfrm>
        </p:grpSpPr>
        <p:sp>
          <p:nvSpPr>
            <p:cNvPr id="213" name="Google Shape;213;p19"/>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A2C4C9"/>
              </a:solidFill>
              <a:prstDash val="solid"/>
              <a:round/>
              <a:headEnd type="none" w="med" len="med"/>
              <a:tailEnd type="none" w="med" len="med"/>
            </a:ln>
          </p:spPr>
        </p:sp>
        <p:sp>
          <p:nvSpPr>
            <p:cNvPr id="214" name="Google Shape;214;p19"/>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A2C4C9"/>
              </a:solidFill>
              <a:prstDash val="solid"/>
              <a:round/>
              <a:headEnd type="none" w="med" len="med"/>
              <a:tailEnd type="none" w="med" len="med"/>
            </a:ln>
          </p:spPr>
        </p:sp>
        <p:sp>
          <p:nvSpPr>
            <p:cNvPr id="215" name="Google Shape;215;p19"/>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A2C4C9"/>
              </a:solidFill>
              <a:prstDash val="solid"/>
              <a:round/>
              <a:headEnd type="none" w="med" len="med"/>
              <a:tailEnd type="none" w="med" len="med"/>
            </a:ln>
          </p:spPr>
        </p:sp>
        <p:sp>
          <p:nvSpPr>
            <p:cNvPr id="216" name="Google Shape;216;p19"/>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A2C4C9"/>
              </a:solidFill>
              <a:prstDash val="solid"/>
              <a:round/>
              <a:headEnd type="none" w="med" len="med"/>
              <a:tailEnd type="none" w="med" len="med"/>
            </a:ln>
          </p:spPr>
        </p:sp>
        <p:sp>
          <p:nvSpPr>
            <p:cNvPr id="217" name="Google Shape;217;p19"/>
            <p:cNvSpPr/>
            <p:nvPr/>
          </p:nvSpPr>
          <p:spPr>
            <a:xfrm>
              <a:off x="645650" y="3246624"/>
              <a:ext cx="6424550" cy="520325"/>
            </a:xfrm>
            <a:custGeom>
              <a:avLst/>
              <a:gdLst/>
              <a:ahLst/>
              <a:cxnLst/>
              <a:rect l="l" t="t" r="r" b="b"/>
              <a:pathLst>
                <a:path w="256982" h="20813" extrusionOk="0">
                  <a:moveTo>
                    <a:pt x="0" y="20428"/>
                  </a:moveTo>
                  <a:cubicBezTo>
                    <a:pt x="34740" y="17025"/>
                    <a:pt x="165607" y="-56"/>
                    <a:pt x="208437" y="8"/>
                  </a:cubicBezTo>
                  <a:cubicBezTo>
                    <a:pt x="251267" y="72"/>
                    <a:pt x="248891" y="17346"/>
                    <a:pt x="256982" y="20813"/>
                  </a:cubicBezTo>
                </a:path>
              </a:pathLst>
            </a:custGeom>
            <a:noFill/>
            <a:ln w="19050" cap="flat" cmpd="sng">
              <a:solidFill>
                <a:srgbClr val="A2C4C9"/>
              </a:solidFill>
              <a:prstDash val="solid"/>
              <a:round/>
              <a:headEnd type="none" w="med" len="med"/>
              <a:tailEnd type="none" w="med" len="med"/>
            </a:ln>
          </p:spPr>
        </p:sp>
      </p:grpSp>
      <p:grpSp>
        <p:nvGrpSpPr>
          <p:cNvPr id="218" name="Google Shape;218;p19"/>
          <p:cNvGrpSpPr/>
          <p:nvPr/>
        </p:nvGrpSpPr>
        <p:grpSpPr>
          <a:xfrm>
            <a:off x="3159400" y="3228431"/>
            <a:ext cx="4941225" cy="539373"/>
            <a:chOff x="568600" y="3227575"/>
            <a:chExt cx="4941225" cy="539373"/>
          </a:xfrm>
        </p:grpSpPr>
        <p:sp>
          <p:nvSpPr>
            <p:cNvPr id="219" name="Google Shape;219;p19"/>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8E7CC3"/>
              </a:solidFill>
              <a:prstDash val="solid"/>
              <a:round/>
              <a:headEnd type="none" w="med" len="med"/>
              <a:tailEnd type="none" w="med" len="med"/>
            </a:ln>
          </p:spPr>
        </p:sp>
        <p:sp>
          <p:nvSpPr>
            <p:cNvPr id="220" name="Google Shape;220;p19"/>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8E7CC3"/>
              </a:solidFill>
              <a:prstDash val="solid"/>
              <a:round/>
              <a:headEnd type="none" w="med" len="med"/>
              <a:tailEnd type="none" w="med" len="med"/>
            </a:ln>
          </p:spPr>
        </p:sp>
        <p:sp>
          <p:nvSpPr>
            <p:cNvPr id="221" name="Google Shape;221;p19"/>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8E7CC3"/>
              </a:solidFill>
              <a:prstDash val="solid"/>
              <a:round/>
              <a:headEnd type="none" w="med" len="med"/>
              <a:tailEnd type="none" w="med" len="med"/>
            </a:ln>
          </p:spPr>
        </p:sp>
        <p:sp>
          <p:nvSpPr>
            <p:cNvPr id="222" name="Google Shape;222;p19"/>
            <p:cNvSpPr/>
            <p:nvPr/>
          </p:nvSpPr>
          <p:spPr>
            <a:xfrm>
              <a:off x="636025" y="3246223"/>
              <a:ext cx="4873800" cy="520725"/>
            </a:xfrm>
            <a:custGeom>
              <a:avLst/>
              <a:gdLst/>
              <a:ahLst/>
              <a:cxnLst/>
              <a:rect l="l" t="t" r="r" b="b"/>
              <a:pathLst>
                <a:path w="194952" h="20829" extrusionOk="0">
                  <a:moveTo>
                    <a:pt x="0" y="20829"/>
                  </a:moveTo>
                  <a:cubicBezTo>
                    <a:pt x="22732" y="17362"/>
                    <a:pt x="103897" y="217"/>
                    <a:pt x="136389" y="24"/>
                  </a:cubicBezTo>
                  <a:cubicBezTo>
                    <a:pt x="168881" y="-169"/>
                    <a:pt x="185192" y="16398"/>
                    <a:pt x="194952" y="19673"/>
                  </a:cubicBezTo>
                </a:path>
              </a:pathLst>
            </a:custGeom>
            <a:noFill/>
            <a:ln w="19050" cap="flat" cmpd="sng">
              <a:solidFill>
                <a:srgbClr val="8E7CC3"/>
              </a:solidFill>
              <a:prstDash val="solid"/>
              <a:round/>
              <a:headEnd type="none" w="med" len="med"/>
              <a:tailEnd type="none" w="med" len="med"/>
            </a:ln>
          </p:spPr>
        </p:sp>
      </p:grpSp>
      <p:grpSp>
        <p:nvGrpSpPr>
          <p:cNvPr id="223" name="Google Shape;223;p19"/>
          <p:cNvGrpSpPr/>
          <p:nvPr/>
        </p:nvGrpSpPr>
        <p:grpSpPr>
          <a:xfrm>
            <a:off x="4531000" y="3228431"/>
            <a:ext cx="3602375" cy="539372"/>
            <a:chOff x="568600" y="3227575"/>
            <a:chExt cx="3602375" cy="539372"/>
          </a:xfrm>
        </p:grpSpPr>
        <p:sp>
          <p:nvSpPr>
            <p:cNvPr id="224" name="Google Shape;224;p19"/>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225" name="Google Shape;225;p19"/>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sp>
          <p:nvSpPr>
            <p:cNvPr id="226" name="Google Shape;226;p19"/>
            <p:cNvSpPr/>
            <p:nvPr/>
          </p:nvSpPr>
          <p:spPr>
            <a:xfrm>
              <a:off x="568600" y="3237200"/>
              <a:ext cx="3602375" cy="510500"/>
            </a:xfrm>
            <a:custGeom>
              <a:avLst/>
              <a:gdLst/>
              <a:ahLst/>
              <a:cxnLst/>
              <a:rect l="l" t="t" r="r" b="b"/>
              <a:pathLst>
                <a:path w="144095" h="20420" extrusionOk="0">
                  <a:moveTo>
                    <a:pt x="0" y="20420"/>
                  </a:moveTo>
                  <a:cubicBezTo>
                    <a:pt x="15925" y="17017"/>
                    <a:pt x="71533" y="0"/>
                    <a:pt x="95549" y="0"/>
                  </a:cubicBezTo>
                  <a:cubicBezTo>
                    <a:pt x="119565" y="0"/>
                    <a:pt x="136004" y="17017"/>
                    <a:pt x="144095" y="20420"/>
                  </a:cubicBezTo>
                </a:path>
              </a:pathLst>
            </a:custGeom>
            <a:noFill/>
            <a:ln w="19050" cap="flat" cmpd="sng">
              <a:solidFill>
                <a:srgbClr val="B4A7D6"/>
              </a:solidFill>
              <a:prstDash val="solid"/>
              <a:round/>
              <a:headEnd type="none" w="med" len="med"/>
              <a:tailEnd type="none" w="med" len="med"/>
            </a:ln>
          </p:spPr>
        </p:sp>
      </p:grpSp>
      <p:grpSp>
        <p:nvGrpSpPr>
          <p:cNvPr id="227" name="Google Shape;227;p19"/>
          <p:cNvGrpSpPr/>
          <p:nvPr/>
        </p:nvGrpSpPr>
        <p:grpSpPr>
          <a:xfrm>
            <a:off x="5921850" y="3228431"/>
            <a:ext cx="2302050" cy="539372"/>
            <a:chOff x="587850" y="3227575"/>
            <a:chExt cx="2302050" cy="539372"/>
          </a:xfrm>
        </p:grpSpPr>
        <p:sp>
          <p:nvSpPr>
            <p:cNvPr id="228" name="Google Shape;228;p19"/>
            <p:cNvSpPr/>
            <p:nvPr/>
          </p:nvSpPr>
          <p:spPr>
            <a:xfrm>
              <a:off x="587850" y="3227575"/>
              <a:ext cx="1165475" cy="529750"/>
            </a:xfrm>
            <a:custGeom>
              <a:avLst/>
              <a:gdLst/>
              <a:ahLst/>
              <a:cxnLst/>
              <a:rect l="l" t="t" r="r" b="b"/>
              <a:pathLst>
                <a:path w="46619" h="21190" extrusionOk="0">
                  <a:moveTo>
                    <a:pt x="0" y="21190"/>
                  </a:moveTo>
                  <a:cubicBezTo>
                    <a:pt x="4880" y="17658"/>
                    <a:pt x="21512" y="0"/>
                    <a:pt x="29282" y="0"/>
                  </a:cubicBezTo>
                  <a:cubicBezTo>
                    <a:pt x="37052" y="0"/>
                    <a:pt x="43730" y="17658"/>
                    <a:pt x="46619" y="21190"/>
                  </a:cubicBezTo>
                </a:path>
              </a:pathLst>
            </a:custGeom>
            <a:noFill/>
            <a:ln w="19050" cap="flat" cmpd="sng">
              <a:solidFill>
                <a:srgbClr val="B4A7D6"/>
              </a:solidFill>
              <a:prstDash val="solid"/>
              <a:round/>
              <a:headEnd type="none" w="med" len="med"/>
              <a:tailEnd type="none" w="med" len="med"/>
            </a:ln>
          </p:spPr>
        </p:sp>
        <p:sp>
          <p:nvSpPr>
            <p:cNvPr id="229" name="Google Shape;229;p19"/>
            <p:cNvSpPr/>
            <p:nvPr/>
          </p:nvSpPr>
          <p:spPr>
            <a:xfrm>
              <a:off x="626375" y="3236397"/>
              <a:ext cx="2263525" cy="530550"/>
            </a:xfrm>
            <a:custGeom>
              <a:avLst/>
              <a:gdLst/>
              <a:ahLst/>
              <a:cxnLst/>
              <a:rect l="l" t="t" r="r" b="b"/>
              <a:pathLst>
                <a:path w="90541" h="21222" extrusionOk="0">
                  <a:moveTo>
                    <a:pt x="0" y="19681"/>
                  </a:moveTo>
                  <a:cubicBezTo>
                    <a:pt x="8990" y="16406"/>
                    <a:pt x="38850" y="-225"/>
                    <a:pt x="53940" y="32"/>
                  </a:cubicBezTo>
                  <a:cubicBezTo>
                    <a:pt x="69030" y="289"/>
                    <a:pt x="84441" y="17690"/>
                    <a:pt x="90541" y="21222"/>
                  </a:cubicBezTo>
                </a:path>
              </a:pathLst>
            </a:custGeom>
            <a:noFill/>
            <a:ln w="19050" cap="flat" cmpd="sng">
              <a:solidFill>
                <a:srgbClr val="B4A7D6"/>
              </a:solidFill>
              <a:prstDash val="solid"/>
              <a:round/>
              <a:headEnd type="none" w="med" len="med"/>
              <a:tailEnd type="none" w="med" len="med"/>
            </a:ln>
          </p:spPr>
        </p:sp>
      </p:grpSp>
      <p:pic>
        <p:nvPicPr>
          <p:cNvPr id="230" name="Google Shape;230;p19"/>
          <p:cNvPicPr preferRelativeResize="0"/>
          <p:nvPr/>
        </p:nvPicPr>
        <p:blipFill rotWithShape="1">
          <a:blip r:embed="rId3">
            <a:alphaModFix/>
          </a:blip>
          <a:srcRect b="49464"/>
          <a:stretch/>
        </p:blipFill>
        <p:spPr>
          <a:xfrm>
            <a:off x="152400" y="3711340"/>
            <a:ext cx="8839200" cy="1129175"/>
          </a:xfrm>
          <a:prstGeom prst="rect">
            <a:avLst/>
          </a:prstGeom>
          <a:noFill/>
          <a:ln>
            <a:noFill/>
          </a:ln>
        </p:spPr>
      </p:pic>
      <p:sp>
        <p:nvSpPr>
          <p:cNvPr id="231" name="Google Shape;231;p19"/>
          <p:cNvSpPr txBox="1"/>
          <p:nvPr/>
        </p:nvSpPr>
        <p:spPr>
          <a:xfrm>
            <a:off x="311700" y="1296125"/>
            <a:ext cx="8520600" cy="1434900"/>
          </a:xfrm>
          <a:prstGeom prst="rect">
            <a:avLst/>
          </a:prstGeom>
          <a:noFill/>
          <a:ln>
            <a:noFill/>
          </a:ln>
        </p:spPr>
        <p:txBody>
          <a:bodyPr spcFirstLastPara="1" wrap="square" lIns="91425" tIns="91425" rIns="91425" bIns="91425" anchor="t" anchorCtr="0">
            <a:noAutofit/>
          </a:bodyPr>
          <a:lstStyle/>
          <a:p>
            <a:pPr marL="457200" lvl="0" indent="-320675" algn="l" rtl="0">
              <a:lnSpc>
                <a:spcPct val="200000"/>
              </a:lnSpc>
              <a:spcBef>
                <a:spcPts val="0"/>
              </a:spcBef>
              <a:spcAft>
                <a:spcPts val="0"/>
              </a:spcAft>
              <a:buSzPts val="1450"/>
              <a:buAutoNum type="arabicPeriod"/>
            </a:pPr>
            <a:r>
              <a:rPr lang="en" sz="1450" b="1" i="1">
                <a:solidFill>
                  <a:schemeClr val="dk1"/>
                </a:solidFill>
              </a:rPr>
              <a:t>Reframes </a:t>
            </a:r>
            <a:r>
              <a:rPr lang="en" sz="1450" i="1">
                <a:solidFill>
                  <a:schemeClr val="dk1"/>
                </a:solidFill>
              </a:rPr>
              <a:t>the few-shot learning problem as a</a:t>
            </a:r>
            <a:r>
              <a:rPr lang="en" sz="1450" b="1" i="1">
                <a:solidFill>
                  <a:schemeClr val="dk1"/>
                </a:solidFill>
              </a:rPr>
              <a:t> </a:t>
            </a:r>
            <a:r>
              <a:rPr lang="en" sz="1450" i="1">
                <a:solidFill>
                  <a:schemeClr val="dk1"/>
                </a:solidFill>
              </a:rPr>
              <a:t>supervised task using </a:t>
            </a:r>
            <a:r>
              <a:rPr lang="en" sz="1450" b="1" i="1">
                <a:solidFill>
                  <a:schemeClr val="dk1"/>
                </a:solidFill>
              </a:rPr>
              <a:t>Graph Neural Networks</a:t>
            </a:r>
            <a:r>
              <a:rPr lang="en" sz="1450" i="1">
                <a:solidFill>
                  <a:schemeClr val="dk1"/>
                </a:solidFill>
              </a:rPr>
              <a:t>.</a:t>
            </a:r>
            <a:endParaRPr sz="1450" i="1">
              <a:solidFill>
                <a:schemeClr val="dk1"/>
              </a:solidFill>
            </a:endParaRPr>
          </a:p>
          <a:p>
            <a:pPr marL="457200" lvl="0" indent="-320675" algn="l" rtl="0">
              <a:lnSpc>
                <a:spcPct val="200000"/>
              </a:lnSpc>
              <a:spcBef>
                <a:spcPts val="0"/>
              </a:spcBef>
              <a:spcAft>
                <a:spcPts val="0"/>
              </a:spcAft>
              <a:buClr>
                <a:schemeClr val="dk1"/>
              </a:buClr>
              <a:buSzPts val="1450"/>
              <a:buAutoNum type="arabicPeriod"/>
            </a:pPr>
            <a:r>
              <a:rPr lang="en" sz="1450" b="1" i="1">
                <a:solidFill>
                  <a:schemeClr val="dk1"/>
                </a:solidFill>
              </a:rPr>
              <a:t>Matches SOTA performance</a:t>
            </a:r>
            <a:r>
              <a:rPr lang="en" sz="1450" i="1">
                <a:solidFill>
                  <a:schemeClr val="dk1"/>
                </a:solidFill>
              </a:rPr>
              <a:t> on Omniglot with </a:t>
            </a:r>
            <a:r>
              <a:rPr lang="en" sz="1450" b="1" i="1">
                <a:solidFill>
                  <a:schemeClr val="dk1"/>
                </a:solidFill>
              </a:rPr>
              <a:t>fewer parameters</a:t>
            </a:r>
            <a:r>
              <a:rPr lang="en" sz="1450" i="1">
                <a:solidFill>
                  <a:schemeClr val="dk1"/>
                </a:solidFill>
              </a:rPr>
              <a:t>.</a:t>
            </a:r>
            <a:endParaRPr sz="1450" i="1">
              <a:solidFill>
                <a:schemeClr val="dk1"/>
              </a:solidFill>
            </a:endParaRPr>
          </a:p>
          <a:p>
            <a:pPr marL="457200" lvl="0" indent="-320675" algn="l" rtl="0">
              <a:lnSpc>
                <a:spcPct val="200000"/>
              </a:lnSpc>
              <a:spcBef>
                <a:spcPts val="0"/>
              </a:spcBef>
              <a:spcAft>
                <a:spcPts val="0"/>
              </a:spcAft>
              <a:buClr>
                <a:schemeClr val="dk1"/>
              </a:buClr>
              <a:buSzPts val="1450"/>
              <a:buAutoNum type="arabicPeriod"/>
            </a:pPr>
            <a:r>
              <a:rPr lang="en" sz="1450" i="1">
                <a:solidFill>
                  <a:schemeClr val="dk1"/>
                </a:solidFill>
              </a:rPr>
              <a:t>Extends the model to</a:t>
            </a:r>
            <a:r>
              <a:rPr lang="en" sz="1450" b="1" i="1">
                <a:solidFill>
                  <a:schemeClr val="dk1"/>
                </a:solidFill>
              </a:rPr>
              <a:t> semi-supervised</a:t>
            </a:r>
            <a:r>
              <a:rPr lang="en" sz="1450" i="1">
                <a:solidFill>
                  <a:schemeClr val="dk1"/>
                </a:solidFill>
              </a:rPr>
              <a:t> and</a:t>
            </a:r>
            <a:r>
              <a:rPr lang="en" sz="1450" b="1" i="1">
                <a:solidFill>
                  <a:schemeClr val="dk1"/>
                </a:solidFill>
              </a:rPr>
              <a:t> active learning</a:t>
            </a:r>
            <a:r>
              <a:rPr lang="en" sz="1450" i="1">
                <a:solidFill>
                  <a:schemeClr val="dk1"/>
                </a:solidFill>
              </a:rPr>
              <a:t> regimes.</a:t>
            </a:r>
            <a:endParaRPr sz="1450" i="1">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20"/>
          <p:cNvSpPr txBox="1"/>
          <p:nvPr/>
        </p:nvSpPr>
        <p:spPr>
          <a:xfrm>
            <a:off x="426150" y="865328"/>
            <a:ext cx="8291700" cy="1356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latin typeface="Open Sans"/>
                <a:ea typeface="Open Sans"/>
                <a:cs typeface="Open Sans"/>
                <a:sym typeface="Open Sans"/>
              </a:rPr>
              <a:t>Dataset:</a:t>
            </a:r>
            <a:endParaRPr i="1">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a:p>
            <a:pPr marL="0" lvl="0" indent="0" algn="l" rtl="0">
              <a:spcBef>
                <a:spcPts val="0"/>
              </a:spcBef>
              <a:spcAft>
                <a:spcPts val="0"/>
              </a:spcAft>
              <a:buNone/>
            </a:pPr>
            <a:r>
              <a:rPr lang="en">
                <a:latin typeface="Open Sans"/>
                <a:ea typeface="Open Sans"/>
                <a:cs typeface="Open Sans"/>
                <a:sym typeface="Open Sans"/>
              </a:rPr>
              <a:t>Input-output pairs                         where     describes one of      sets of images.</a:t>
            </a:r>
            <a:endParaRPr>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a:p>
            <a:pPr marL="0" lvl="0" indent="0" algn="l" rtl="0">
              <a:spcBef>
                <a:spcPts val="0"/>
              </a:spcBef>
              <a:spcAft>
                <a:spcPts val="0"/>
              </a:spcAft>
              <a:buNone/>
            </a:pPr>
            <a:r>
              <a:rPr lang="en">
                <a:latin typeface="Open Sans"/>
                <a:ea typeface="Open Sans"/>
                <a:cs typeface="Open Sans"/>
                <a:sym typeface="Open Sans"/>
              </a:rPr>
              <a:t>Input           consists of images and (some) labels. There are three subgroups of images:</a:t>
            </a:r>
            <a:endParaRPr>
              <a:latin typeface="Open Sans"/>
              <a:ea typeface="Open Sans"/>
              <a:cs typeface="Open Sans"/>
              <a:sym typeface="Open Sans"/>
            </a:endParaRPr>
          </a:p>
          <a:p>
            <a:pPr marL="0" lvl="0" indent="0" algn="l" rtl="0">
              <a:spcBef>
                <a:spcPts val="0"/>
              </a:spcBef>
              <a:spcAft>
                <a:spcPts val="0"/>
              </a:spcAft>
              <a:buNone/>
            </a:pPr>
            <a:endParaRPr>
              <a:latin typeface="Open Sans"/>
              <a:ea typeface="Open Sans"/>
              <a:cs typeface="Open Sans"/>
              <a:sym typeface="Open Sans"/>
            </a:endParaRPr>
          </a:p>
          <a:p>
            <a:pPr marL="0" lvl="0" indent="0" algn="l" rtl="0">
              <a:spcBef>
                <a:spcPts val="0"/>
              </a:spcBef>
              <a:spcAft>
                <a:spcPts val="0"/>
              </a:spcAft>
              <a:buNone/>
            </a:pPr>
            <a:r>
              <a:rPr lang="en">
                <a:latin typeface="Open Sans"/>
                <a:ea typeface="Open Sans"/>
                <a:cs typeface="Open Sans"/>
                <a:sym typeface="Open Sans"/>
              </a:rPr>
              <a:t>                                   </a:t>
            </a:r>
            <a:endParaRPr>
              <a:latin typeface="Open Sans"/>
              <a:ea typeface="Open Sans"/>
              <a:cs typeface="Open Sans"/>
              <a:sym typeface="Open Sans"/>
            </a:endParaRPr>
          </a:p>
        </p:txBody>
      </p:sp>
      <p:sp>
        <p:nvSpPr>
          <p:cNvPr id="237" name="Google Shape;237;p20"/>
          <p:cNvSpPr txBox="1">
            <a:spLocks noGrp="1"/>
          </p:cNvSpPr>
          <p:nvPr>
            <p:ph type="title"/>
          </p:nvPr>
        </p:nvSpPr>
        <p:spPr>
          <a:xfrm>
            <a:off x="311700" y="2926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Problem Formulation</a:t>
            </a:r>
            <a:endParaRPr/>
          </a:p>
          <a:p>
            <a:pPr marL="0" lvl="0" indent="0" algn="l" rtl="0">
              <a:spcBef>
                <a:spcPts val="0"/>
              </a:spcBef>
              <a:spcAft>
                <a:spcPts val="0"/>
              </a:spcAft>
              <a:buNone/>
            </a:pPr>
            <a:endParaRPr/>
          </a:p>
        </p:txBody>
      </p:sp>
      <p:pic>
        <p:nvPicPr>
          <p:cNvPr id="238" name="Google Shape;238;p20"/>
          <p:cNvPicPr preferRelativeResize="0"/>
          <p:nvPr/>
        </p:nvPicPr>
        <p:blipFill rotWithShape="1">
          <a:blip r:embed="rId3">
            <a:alphaModFix/>
          </a:blip>
          <a:srcRect l="10746" t="19305" b="15931"/>
          <a:stretch/>
        </p:blipFill>
        <p:spPr>
          <a:xfrm>
            <a:off x="2110802" y="1254097"/>
            <a:ext cx="1043975" cy="316900"/>
          </a:xfrm>
          <a:prstGeom prst="rect">
            <a:avLst/>
          </a:prstGeom>
          <a:noFill/>
          <a:ln>
            <a:noFill/>
          </a:ln>
        </p:spPr>
      </p:pic>
      <p:pic>
        <p:nvPicPr>
          <p:cNvPr id="239" name="Google Shape;239;p20"/>
          <p:cNvPicPr preferRelativeResize="0"/>
          <p:nvPr/>
        </p:nvPicPr>
        <p:blipFill>
          <a:blip r:embed="rId4">
            <a:alphaModFix/>
          </a:blip>
          <a:stretch>
            <a:fillRect/>
          </a:stretch>
        </p:blipFill>
        <p:spPr>
          <a:xfrm>
            <a:off x="3708350" y="1343402"/>
            <a:ext cx="185675" cy="251975"/>
          </a:xfrm>
          <a:prstGeom prst="rect">
            <a:avLst/>
          </a:prstGeom>
          <a:noFill/>
          <a:ln>
            <a:noFill/>
          </a:ln>
        </p:spPr>
      </p:pic>
      <p:pic>
        <p:nvPicPr>
          <p:cNvPr id="240" name="Google Shape;240;p20"/>
          <p:cNvPicPr preferRelativeResize="0"/>
          <p:nvPr/>
        </p:nvPicPr>
        <p:blipFill>
          <a:blip r:embed="rId5">
            <a:alphaModFix/>
          </a:blip>
          <a:stretch>
            <a:fillRect/>
          </a:stretch>
        </p:blipFill>
        <p:spPr>
          <a:xfrm>
            <a:off x="5333451" y="1342460"/>
            <a:ext cx="185675" cy="251984"/>
          </a:xfrm>
          <a:prstGeom prst="rect">
            <a:avLst/>
          </a:prstGeom>
          <a:noFill/>
          <a:ln>
            <a:noFill/>
          </a:ln>
        </p:spPr>
      </p:pic>
      <p:pic>
        <p:nvPicPr>
          <p:cNvPr id="241" name="Google Shape;241;p20"/>
          <p:cNvPicPr preferRelativeResize="0"/>
          <p:nvPr/>
        </p:nvPicPr>
        <p:blipFill rotWithShape="1">
          <a:blip r:embed="rId6">
            <a:alphaModFix/>
          </a:blip>
          <a:srcRect l="11383" t="6855" r="7540"/>
          <a:stretch/>
        </p:blipFill>
        <p:spPr>
          <a:xfrm>
            <a:off x="1032075" y="1689800"/>
            <a:ext cx="310675" cy="388400"/>
          </a:xfrm>
          <a:prstGeom prst="rect">
            <a:avLst/>
          </a:prstGeom>
          <a:noFill/>
          <a:ln>
            <a:noFill/>
          </a:ln>
        </p:spPr>
      </p:pic>
      <p:pic>
        <p:nvPicPr>
          <p:cNvPr id="242" name="Google Shape;242;p20"/>
          <p:cNvPicPr preferRelativeResize="0"/>
          <p:nvPr/>
        </p:nvPicPr>
        <p:blipFill>
          <a:blip r:embed="rId7">
            <a:alphaModFix/>
          </a:blip>
          <a:stretch>
            <a:fillRect/>
          </a:stretch>
        </p:blipFill>
        <p:spPr>
          <a:xfrm>
            <a:off x="496475" y="2244729"/>
            <a:ext cx="2437529" cy="388400"/>
          </a:xfrm>
          <a:prstGeom prst="rect">
            <a:avLst/>
          </a:prstGeom>
          <a:noFill/>
          <a:ln>
            <a:noFill/>
          </a:ln>
        </p:spPr>
      </p:pic>
      <p:pic>
        <p:nvPicPr>
          <p:cNvPr id="243" name="Google Shape;243;p20"/>
          <p:cNvPicPr preferRelativeResize="0"/>
          <p:nvPr/>
        </p:nvPicPr>
        <p:blipFill>
          <a:blip r:embed="rId8">
            <a:alphaModFix/>
          </a:blip>
          <a:stretch>
            <a:fillRect/>
          </a:stretch>
        </p:blipFill>
        <p:spPr>
          <a:xfrm>
            <a:off x="1430198" y="2696425"/>
            <a:ext cx="1526807" cy="388400"/>
          </a:xfrm>
          <a:prstGeom prst="rect">
            <a:avLst/>
          </a:prstGeom>
          <a:noFill/>
          <a:ln>
            <a:noFill/>
          </a:ln>
        </p:spPr>
      </p:pic>
      <p:pic>
        <p:nvPicPr>
          <p:cNvPr id="244" name="Google Shape;244;p20"/>
          <p:cNvPicPr preferRelativeResize="0"/>
          <p:nvPr/>
        </p:nvPicPr>
        <p:blipFill rotWithShape="1">
          <a:blip r:embed="rId9">
            <a:alphaModFix/>
          </a:blip>
          <a:srcRect t="6266" b="12140"/>
          <a:stretch/>
        </p:blipFill>
        <p:spPr>
          <a:xfrm>
            <a:off x="1422072" y="3164376"/>
            <a:ext cx="1526800" cy="351069"/>
          </a:xfrm>
          <a:prstGeom prst="rect">
            <a:avLst/>
          </a:prstGeom>
          <a:noFill/>
          <a:ln>
            <a:noFill/>
          </a:ln>
        </p:spPr>
      </p:pic>
      <p:pic>
        <p:nvPicPr>
          <p:cNvPr id="245" name="Google Shape;245;p20"/>
          <p:cNvPicPr preferRelativeResize="0"/>
          <p:nvPr/>
        </p:nvPicPr>
        <p:blipFill>
          <a:blip r:embed="rId10">
            <a:alphaModFix/>
          </a:blip>
          <a:stretch>
            <a:fillRect/>
          </a:stretch>
        </p:blipFill>
        <p:spPr>
          <a:xfrm>
            <a:off x="573073" y="4152282"/>
            <a:ext cx="3695700" cy="628650"/>
          </a:xfrm>
          <a:prstGeom prst="rect">
            <a:avLst/>
          </a:prstGeom>
          <a:noFill/>
          <a:ln>
            <a:noFill/>
          </a:ln>
        </p:spPr>
      </p:pic>
      <p:sp>
        <p:nvSpPr>
          <p:cNvPr id="246" name="Google Shape;246;p20"/>
          <p:cNvSpPr/>
          <p:nvPr/>
        </p:nvSpPr>
        <p:spPr>
          <a:xfrm>
            <a:off x="406400" y="2221626"/>
            <a:ext cx="2675400" cy="419700"/>
          </a:xfrm>
          <a:prstGeom prst="roundRect">
            <a:avLst>
              <a:gd name="adj" fmla="val 16667"/>
            </a:avLst>
          </a:prstGeom>
          <a:noFill/>
          <a:ln w="28575" cap="flat" cmpd="sng">
            <a:solidFill>
              <a:srgbClr val="1155CC"/>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0"/>
          <p:cNvSpPr/>
          <p:nvPr/>
        </p:nvSpPr>
        <p:spPr>
          <a:xfrm>
            <a:off x="1380749" y="2678825"/>
            <a:ext cx="1704300" cy="419700"/>
          </a:xfrm>
          <a:prstGeom prst="roundRect">
            <a:avLst>
              <a:gd name="adj" fmla="val 16667"/>
            </a:avLst>
          </a:prstGeom>
          <a:noFill/>
          <a:ln w="28575" cap="flat" cmpd="sng">
            <a:solidFill>
              <a:srgbClr val="A4C2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0"/>
          <p:cNvSpPr/>
          <p:nvPr/>
        </p:nvSpPr>
        <p:spPr>
          <a:xfrm>
            <a:off x="1380749" y="3136025"/>
            <a:ext cx="1704300" cy="419700"/>
          </a:xfrm>
          <a:prstGeom prst="roundRect">
            <a:avLst>
              <a:gd name="adj" fmla="val 16667"/>
            </a:avLst>
          </a:prstGeom>
          <a:noFill/>
          <a:ln w="2857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9" name="Google Shape;249;p20"/>
          <p:cNvGrpSpPr/>
          <p:nvPr/>
        </p:nvGrpSpPr>
        <p:grpSpPr>
          <a:xfrm>
            <a:off x="426150" y="3760927"/>
            <a:ext cx="8291700" cy="419700"/>
            <a:chOff x="426150" y="3760927"/>
            <a:chExt cx="8291700" cy="419700"/>
          </a:xfrm>
        </p:grpSpPr>
        <p:sp>
          <p:nvSpPr>
            <p:cNvPr id="250" name="Google Shape;250;p20"/>
            <p:cNvSpPr txBox="1"/>
            <p:nvPr/>
          </p:nvSpPr>
          <p:spPr>
            <a:xfrm>
              <a:off x="426150" y="3760927"/>
              <a:ext cx="8291700" cy="419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Output          consists of labels for the third subgroup.</a:t>
              </a:r>
              <a:endParaRPr>
                <a:latin typeface="Open Sans"/>
                <a:ea typeface="Open Sans"/>
                <a:cs typeface="Open Sans"/>
                <a:sym typeface="Open Sans"/>
              </a:endParaRPr>
            </a:p>
          </p:txBody>
        </p:sp>
        <p:pic>
          <p:nvPicPr>
            <p:cNvPr id="251" name="Google Shape;251;p20"/>
            <p:cNvPicPr preferRelativeResize="0"/>
            <p:nvPr/>
          </p:nvPicPr>
          <p:blipFill rotWithShape="1">
            <a:blip r:embed="rId11">
              <a:alphaModFix/>
            </a:blip>
            <a:srcRect t="12540" b="-12540"/>
            <a:stretch/>
          </p:blipFill>
          <p:spPr>
            <a:xfrm>
              <a:off x="1165425" y="3788778"/>
              <a:ext cx="365553" cy="388400"/>
            </a:xfrm>
            <a:prstGeom prst="rect">
              <a:avLst/>
            </a:prstGeom>
            <a:noFill/>
            <a:ln>
              <a:noFill/>
            </a:ln>
          </p:spPr>
        </p:pic>
      </p:grpSp>
      <p:sp>
        <p:nvSpPr>
          <p:cNvPr id="252" name="Google Shape;252;p20"/>
          <p:cNvSpPr txBox="1"/>
          <p:nvPr/>
        </p:nvSpPr>
        <p:spPr>
          <a:xfrm>
            <a:off x="3154775" y="2209500"/>
            <a:ext cx="5629200" cy="38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1. Group of labeled images.</a:t>
            </a:r>
            <a:endParaRPr>
              <a:latin typeface="Open Sans"/>
              <a:ea typeface="Open Sans"/>
              <a:cs typeface="Open Sans"/>
              <a:sym typeface="Open Sans"/>
            </a:endParaRPr>
          </a:p>
        </p:txBody>
      </p:sp>
      <p:sp>
        <p:nvSpPr>
          <p:cNvPr id="253" name="Google Shape;253;p20"/>
          <p:cNvSpPr txBox="1"/>
          <p:nvPr/>
        </p:nvSpPr>
        <p:spPr>
          <a:xfrm>
            <a:off x="3154775" y="2618225"/>
            <a:ext cx="5629200" cy="388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2. Unlabeled images.               only in semi-supervised and active learning environments.</a:t>
            </a:r>
            <a:endParaRPr>
              <a:latin typeface="Open Sans"/>
              <a:ea typeface="Open Sans"/>
              <a:cs typeface="Open Sans"/>
              <a:sym typeface="Open Sans"/>
            </a:endParaRPr>
          </a:p>
        </p:txBody>
      </p:sp>
      <p:sp>
        <p:nvSpPr>
          <p:cNvPr id="254" name="Google Shape;254;p20"/>
          <p:cNvSpPr txBox="1"/>
          <p:nvPr/>
        </p:nvSpPr>
        <p:spPr>
          <a:xfrm>
            <a:off x="3154775" y="3151475"/>
            <a:ext cx="5629200" cy="572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3. Unlabeled images. The model will predict the labels for these images. Loss will be computed on these images alone.</a:t>
            </a:r>
            <a:endParaRPr>
              <a:latin typeface="Open Sans"/>
              <a:ea typeface="Open Sans"/>
              <a:cs typeface="Open Sans"/>
              <a:sym typeface="Open Sans"/>
            </a:endParaRPr>
          </a:p>
        </p:txBody>
      </p:sp>
      <p:pic>
        <p:nvPicPr>
          <p:cNvPr id="255" name="Google Shape;255;p20"/>
          <p:cNvPicPr preferRelativeResize="0"/>
          <p:nvPr/>
        </p:nvPicPr>
        <p:blipFill rotWithShape="1">
          <a:blip r:embed="rId12">
            <a:alphaModFix/>
          </a:blip>
          <a:srcRect t="25502" b="10949"/>
          <a:stretch/>
        </p:blipFill>
        <p:spPr>
          <a:xfrm>
            <a:off x="5008899" y="2707312"/>
            <a:ext cx="621414" cy="184712"/>
          </a:xfrm>
          <a:prstGeom prst="rect">
            <a:avLst/>
          </a:prstGeom>
          <a:noFill/>
          <a:ln>
            <a:noFill/>
          </a:ln>
        </p:spPr>
      </p:pic>
      <p:sp>
        <p:nvSpPr>
          <p:cNvPr id="256" name="Google Shape;256;p20"/>
          <p:cNvSpPr/>
          <p:nvPr/>
        </p:nvSpPr>
        <p:spPr>
          <a:xfrm>
            <a:off x="426150" y="4126625"/>
            <a:ext cx="3973500" cy="736200"/>
          </a:xfrm>
          <a:prstGeom prst="roundRect">
            <a:avLst>
              <a:gd name="adj" fmla="val 16667"/>
            </a:avLst>
          </a:prstGeom>
          <a:noFill/>
          <a:ln w="28575" cap="flat" cmpd="sng">
            <a:solidFill>
              <a:srgbClr val="FFD96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GNN Model</a:t>
            </a:r>
            <a:endParaRPr/>
          </a:p>
        </p:txBody>
      </p:sp>
      <p:pic>
        <p:nvPicPr>
          <p:cNvPr id="262" name="Google Shape;262;p21"/>
          <p:cNvPicPr preferRelativeResize="0"/>
          <p:nvPr/>
        </p:nvPicPr>
        <p:blipFill>
          <a:blip r:embed="rId3">
            <a:alphaModFix/>
          </a:blip>
          <a:stretch>
            <a:fillRect/>
          </a:stretch>
        </p:blipFill>
        <p:spPr>
          <a:xfrm>
            <a:off x="152400" y="1072150"/>
            <a:ext cx="8839199" cy="37566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2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Problem Formulation </a:t>
            </a:r>
            <a:endParaRPr/>
          </a:p>
          <a:p>
            <a:pPr marL="0" lvl="0" indent="0" algn="l" rtl="0">
              <a:spcBef>
                <a:spcPts val="0"/>
              </a:spcBef>
              <a:spcAft>
                <a:spcPts val="0"/>
              </a:spcAft>
              <a:buNone/>
            </a:pPr>
            <a:endParaRPr/>
          </a:p>
        </p:txBody>
      </p:sp>
      <p:pic>
        <p:nvPicPr>
          <p:cNvPr id="268" name="Google Shape;268;p22"/>
          <p:cNvPicPr preferRelativeResize="0"/>
          <p:nvPr/>
        </p:nvPicPr>
        <p:blipFill rotWithShape="1">
          <a:blip r:embed="rId3">
            <a:alphaModFix/>
          </a:blip>
          <a:srcRect t="7278"/>
          <a:stretch/>
        </p:blipFill>
        <p:spPr>
          <a:xfrm>
            <a:off x="1360675" y="1124762"/>
            <a:ext cx="6145150" cy="3942424"/>
          </a:xfrm>
          <a:prstGeom prst="rect">
            <a:avLst/>
          </a:prstGeom>
          <a:noFill/>
          <a:ln>
            <a:noFill/>
          </a:ln>
        </p:spPr>
      </p:pic>
      <p:pic>
        <p:nvPicPr>
          <p:cNvPr id="269" name="Google Shape;269;p22"/>
          <p:cNvPicPr preferRelativeResize="0"/>
          <p:nvPr/>
        </p:nvPicPr>
        <p:blipFill rotWithShape="1">
          <a:blip r:embed="rId4">
            <a:alphaModFix/>
          </a:blip>
          <a:srcRect t="16184"/>
          <a:stretch/>
        </p:blipFill>
        <p:spPr>
          <a:xfrm>
            <a:off x="1107625" y="4445450"/>
            <a:ext cx="6969576" cy="6218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GNN Overview</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pic>
        <p:nvPicPr>
          <p:cNvPr id="275" name="Google Shape;275;p23"/>
          <p:cNvPicPr preferRelativeResize="0"/>
          <p:nvPr/>
        </p:nvPicPr>
        <p:blipFill>
          <a:blip r:embed="rId3">
            <a:alphaModFix/>
          </a:blip>
          <a:stretch>
            <a:fillRect/>
          </a:stretch>
        </p:blipFill>
        <p:spPr>
          <a:xfrm>
            <a:off x="3372451" y="786649"/>
            <a:ext cx="5764224" cy="3899726"/>
          </a:xfrm>
          <a:prstGeom prst="rect">
            <a:avLst/>
          </a:prstGeom>
          <a:noFill/>
          <a:ln>
            <a:noFill/>
          </a:ln>
        </p:spPr>
      </p:pic>
      <p:sp>
        <p:nvSpPr>
          <p:cNvPr id="276" name="Google Shape;276;p23"/>
          <p:cNvSpPr txBox="1">
            <a:spLocks noGrp="1"/>
          </p:cNvSpPr>
          <p:nvPr>
            <p:ph type="body" idx="1"/>
          </p:nvPr>
        </p:nvSpPr>
        <p:spPr>
          <a:xfrm>
            <a:off x="359325" y="1152475"/>
            <a:ext cx="35460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Message Passing:</a:t>
            </a:r>
            <a:endParaRPr/>
          </a:p>
          <a:p>
            <a:pPr marL="457200" lvl="0" indent="-342900" algn="l" rtl="0">
              <a:spcBef>
                <a:spcPts val="1600"/>
              </a:spcBef>
              <a:spcAft>
                <a:spcPts val="0"/>
              </a:spcAft>
              <a:buSzPts val="1800"/>
              <a:buChar char="-"/>
            </a:pPr>
            <a:r>
              <a:rPr lang="en"/>
              <a:t>Each vertice updates its belief by aggregating neighborhood information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2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GNN Overview</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282" name="Google Shape;282;p24"/>
          <p:cNvPicPr preferRelativeResize="0"/>
          <p:nvPr/>
        </p:nvPicPr>
        <p:blipFill>
          <a:blip r:embed="rId3">
            <a:alphaModFix/>
          </a:blip>
          <a:stretch>
            <a:fillRect/>
          </a:stretch>
        </p:blipFill>
        <p:spPr>
          <a:xfrm>
            <a:off x="881750" y="1359450"/>
            <a:ext cx="7746575" cy="3204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2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GNN Overview - Adjacency Matrix</a:t>
            </a:r>
            <a:endParaRPr/>
          </a:p>
          <a:p>
            <a:pPr marL="0" lvl="0" indent="0" algn="l" rtl="0">
              <a:spcBef>
                <a:spcPts val="0"/>
              </a:spcBef>
              <a:spcAft>
                <a:spcPts val="0"/>
              </a:spcAft>
              <a:buNone/>
            </a:pPr>
            <a:endParaRPr/>
          </a:p>
        </p:txBody>
      </p:sp>
      <p:pic>
        <p:nvPicPr>
          <p:cNvPr id="288" name="Google Shape;288;p25"/>
          <p:cNvPicPr preferRelativeResize="0"/>
          <p:nvPr/>
        </p:nvPicPr>
        <p:blipFill>
          <a:blip r:embed="rId3">
            <a:alphaModFix/>
          </a:blip>
          <a:stretch>
            <a:fillRect/>
          </a:stretch>
        </p:blipFill>
        <p:spPr>
          <a:xfrm>
            <a:off x="684450" y="1017725"/>
            <a:ext cx="7926149" cy="1686775"/>
          </a:xfrm>
          <a:prstGeom prst="rect">
            <a:avLst/>
          </a:prstGeom>
          <a:noFill/>
          <a:ln>
            <a:noFill/>
          </a:ln>
        </p:spPr>
      </p:pic>
      <p:sp>
        <p:nvSpPr>
          <p:cNvPr id="289" name="Google Shape;289;p25"/>
          <p:cNvSpPr txBox="1"/>
          <p:nvPr/>
        </p:nvSpPr>
        <p:spPr>
          <a:xfrm>
            <a:off x="636825" y="2733425"/>
            <a:ext cx="8082600" cy="1077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In this paper, the authors considered a family of learned adjacency operators and an identity matrix (self-edge to aggregate vertex’ own features)  </a:t>
            </a:r>
            <a:endParaRPr sz="1800"/>
          </a:p>
          <a:p>
            <a:pPr marL="0" lvl="0" indent="0" algn="l" rtl="0">
              <a:spcBef>
                <a:spcPts val="0"/>
              </a:spcBef>
              <a:spcAft>
                <a:spcPts val="0"/>
              </a:spcAft>
              <a:buNone/>
            </a:pPr>
            <a:r>
              <a:rPr lang="en" sz="1800"/>
              <a:t>  </a:t>
            </a:r>
            <a:endParaRPr sz="1800"/>
          </a:p>
          <a:p>
            <a:pPr marL="0" lvl="0" indent="0" algn="l" rtl="0">
              <a:spcBef>
                <a:spcPts val="0"/>
              </a:spcBef>
              <a:spcAft>
                <a:spcPts val="0"/>
              </a:spcAft>
              <a:buNone/>
            </a:pPr>
            <a:endParaRPr sz="1800"/>
          </a:p>
          <a:p>
            <a:pPr marL="0" lvl="0" indent="0" algn="l" rtl="0">
              <a:spcBef>
                <a:spcPts val="0"/>
              </a:spcBef>
              <a:spcAft>
                <a:spcPts val="0"/>
              </a:spcAft>
              <a:buNone/>
            </a:pPr>
            <a:r>
              <a:rPr lang="en" sz="1800"/>
              <a:t>Adjacency kernel is learned through a MLP on the absolute pairwise difference of node features, then normalized by softmax. </a:t>
            </a:r>
            <a:endParaRPr sz="1800"/>
          </a:p>
        </p:txBody>
      </p:sp>
      <p:pic>
        <p:nvPicPr>
          <p:cNvPr id="290" name="Google Shape;290;p25"/>
          <p:cNvPicPr preferRelativeResize="0"/>
          <p:nvPr/>
        </p:nvPicPr>
        <p:blipFill rotWithShape="1">
          <a:blip r:embed="rId4">
            <a:alphaModFix/>
          </a:blip>
          <a:srcRect t="19633"/>
          <a:stretch/>
        </p:blipFill>
        <p:spPr>
          <a:xfrm>
            <a:off x="2164200" y="4477675"/>
            <a:ext cx="4815600" cy="659350"/>
          </a:xfrm>
          <a:prstGeom prst="rect">
            <a:avLst/>
          </a:prstGeom>
          <a:noFill/>
          <a:ln>
            <a:noFill/>
          </a:ln>
        </p:spPr>
      </p:pic>
      <p:pic>
        <p:nvPicPr>
          <p:cNvPr id="291" name="Google Shape;291;p25"/>
          <p:cNvPicPr preferRelativeResize="0"/>
          <p:nvPr/>
        </p:nvPicPr>
        <p:blipFill rotWithShape="1">
          <a:blip r:embed="rId5">
            <a:alphaModFix/>
          </a:blip>
          <a:srcRect b="14104"/>
          <a:stretch/>
        </p:blipFill>
        <p:spPr>
          <a:xfrm>
            <a:off x="3605403" y="3419225"/>
            <a:ext cx="1690497" cy="363000"/>
          </a:xfrm>
          <a:prstGeom prst="rect">
            <a:avLst/>
          </a:prstGeom>
          <a:noFill/>
          <a:ln>
            <a:noFill/>
          </a:ln>
        </p:spPr>
      </p:pic>
      <p:pic>
        <p:nvPicPr>
          <p:cNvPr id="292" name="Google Shape;292;p25"/>
          <p:cNvPicPr preferRelativeResize="0"/>
          <p:nvPr/>
        </p:nvPicPr>
        <p:blipFill rotWithShape="1">
          <a:blip r:embed="rId5">
            <a:alphaModFix/>
          </a:blip>
          <a:srcRect l="43972" r="25023" b="14104"/>
          <a:stretch/>
        </p:blipFill>
        <p:spPr>
          <a:xfrm>
            <a:off x="1217025" y="4557700"/>
            <a:ext cx="524125" cy="363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GNN Overview - Graph Conv</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298" name="Google Shape;298;p26"/>
          <p:cNvPicPr preferRelativeResize="0"/>
          <p:nvPr/>
        </p:nvPicPr>
        <p:blipFill>
          <a:blip r:embed="rId3">
            <a:alphaModFix/>
          </a:blip>
          <a:stretch>
            <a:fillRect/>
          </a:stretch>
        </p:blipFill>
        <p:spPr>
          <a:xfrm>
            <a:off x="152400" y="2397475"/>
            <a:ext cx="8839201" cy="1587286"/>
          </a:xfrm>
          <a:prstGeom prst="rect">
            <a:avLst/>
          </a:prstGeom>
          <a:noFill/>
          <a:ln>
            <a:noFill/>
          </a:ln>
        </p:spPr>
      </p:pic>
      <p:sp>
        <p:nvSpPr>
          <p:cNvPr id="299" name="Google Shape;299;p26"/>
          <p:cNvSpPr txBox="1"/>
          <p:nvPr/>
        </p:nvSpPr>
        <p:spPr>
          <a:xfrm>
            <a:off x="489850" y="1310375"/>
            <a:ext cx="8021400" cy="2339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t>In this paper, the authors use a simple version of Gc formulation:</a:t>
            </a:r>
            <a:endParaRPr sz="18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3"/>
        <p:cNvGrpSpPr/>
        <p:nvPr/>
      </p:nvGrpSpPr>
      <p:grpSpPr>
        <a:xfrm>
          <a:off x="0" y="0"/>
          <a:ext cx="0" cy="0"/>
          <a:chOff x="0" y="0"/>
          <a:chExt cx="0" cy="0"/>
        </a:xfrm>
      </p:grpSpPr>
      <p:pic>
        <p:nvPicPr>
          <p:cNvPr id="304" name="Google Shape;304;p27"/>
          <p:cNvPicPr preferRelativeResize="0"/>
          <p:nvPr/>
        </p:nvPicPr>
        <p:blipFill>
          <a:blip r:embed="rId3">
            <a:alphaModFix/>
          </a:blip>
          <a:stretch>
            <a:fillRect/>
          </a:stretch>
        </p:blipFill>
        <p:spPr>
          <a:xfrm>
            <a:off x="2025475" y="965150"/>
            <a:ext cx="4756876" cy="4220648"/>
          </a:xfrm>
          <a:prstGeom prst="rect">
            <a:avLst/>
          </a:prstGeom>
          <a:noFill/>
          <a:ln>
            <a:noFill/>
          </a:ln>
        </p:spPr>
      </p:pic>
      <p:sp>
        <p:nvSpPr>
          <p:cNvPr id="305" name="Google Shape;305;p2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Architecture</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2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Training</a:t>
            </a:r>
            <a:endParaRPr/>
          </a:p>
        </p:txBody>
      </p:sp>
      <p:sp>
        <p:nvSpPr>
          <p:cNvPr id="311" name="Google Shape;311;p28"/>
          <p:cNvSpPr txBox="1">
            <a:spLocks noGrp="1"/>
          </p:cNvSpPr>
          <p:nvPr>
            <p:ph type="body" idx="1"/>
          </p:nvPr>
        </p:nvSpPr>
        <p:spPr>
          <a:xfrm>
            <a:off x="311700" y="1152475"/>
            <a:ext cx="8520600" cy="3846600"/>
          </a:xfrm>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en" sz="1600" b="1" i="1"/>
              <a:t>Loss</a:t>
            </a:r>
            <a:r>
              <a:rPr lang="en" sz="1600"/>
              <a:t>: Categorical Cross-Entropy on the labeled sample per task.</a:t>
            </a:r>
            <a:endParaRPr sz="1600" b="1" i="1"/>
          </a:p>
          <a:p>
            <a:pPr marL="457200" lvl="0" indent="-330200" algn="l" rtl="0">
              <a:spcBef>
                <a:spcPts val="0"/>
              </a:spcBef>
              <a:spcAft>
                <a:spcPts val="0"/>
              </a:spcAft>
              <a:buSzPts val="1600"/>
              <a:buChar char="●"/>
            </a:pPr>
            <a:r>
              <a:rPr lang="en" sz="1600" b="1" i="1"/>
              <a:t>Test Metrics</a:t>
            </a:r>
            <a:r>
              <a:rPr lang="en" sz="1600"/>
              <a:t>: Calculated based on the predicted and gold label of the test image.</a:t>
            </a:r>
            <a:endParaRPr sz="1600" b="1" i="1"/>
          </a:p>
          <a:p>
            <a:pPr marL="457200" lvl="0" indent="-330200" algn="l" rtl="0">
              <a:spcBef>
                <a:spcPts val="0"/>
              </a:spcBef>
              <a:spcAft>
                <a:spcPts val="0"/>
              </a:spcAft>
              <a:buSzPts val="1600"/>
              <a:buChar char="●"/>
            </a:pPr>
            <a:r>
              <a:rPr lang="en" sz="1600" b="1" i="1"/>
              <a:t>Few-shot </a:t>
            </a:r>
            <a:r>
              <a:rPr lang="en" sz="1600"/>
              <a:t>and </a:t>
            </a:r>
            <a:r>
              <a:rPr lang="en" sz="1600" b="1" i="1"/>
              <a:t>Semi-supervised</a:t>
            </a:r>
            <a:r>
              <a:rPr lang="en" sz="1600"/>
              <a:t>:</a:t>
            </a:r>
            <a:endParaRPr sz="1600"/>
          </a:p>
          <a:p>
            <a:pPr marL="914400" lvl="1" indent="-330200" algn="l" rtl="0">
              <a:spcBef>
                <a:spcPts val="0"/>
              </a:spcBef>
              <a:spcAft>
                <a:spcPts val="0"/>
              </a:spcAft>
              <a:buSzPts val="1600"/>
              <a:buChar char="○"/>
            </a:pPr>
            <a:r>
              <a:rPr lang="en" sz="1600"/>
              <a:t>Training samples initial features are set to be 1-hot encoding of the corresponding labels.</a:t>
            </a:r>
            <a:endParaRPr sz="1600"/>
          </a:p>
          <a:p>
            <a:pPr marL="457200" lvl="0" indent="-330200" algn="l" rtl="0">
              <a:spcBef>
                <a:spcPts val="0"/>
              </a:spcBef>
              <a:spcAft>
                <a:spcPts val="0"/>
              </a:spcAft>
              <a:buSzPts val="1600"/>
              <a:buChar char="●"/>
            </a:pPr>
            <a:r>
              <a:rPr lang="en" sz="1600" b="1" i="1"/>
              <a:t>Active Learning</a:t>
            </a:r>
            <a:r>
              <a:rPr lang="en" sz="1600"/>
              <a:t>:</a:t>
            </a:r>
            <a:endParaRPr sz="1600"/>
          </a:p>
          <a:p>
            <a:pPr marL="914400" lvl="1" indent="-330200" algn="l" rtl="0">
              <a:spcBef>
                <a:spcPts val="0"/>
              </a:spcBef>
              <a:spcAft>
                <a:spcPts val="0"/>
              </a:spcAft>
              <a:buSzPts val="1600"/>
              <a:buChar char="○"/>
            </a:pPr>
            <a:r>
              <a:rPr lang="en" sz="1600"/>
              <a:t>After the </a:t>
            </a:r>
            <a:r>
              <a:rPr lang="en" sz="1600" b="1" i="1"/>
              <a:t>first</a:t>
            </a:r>
            <a:r>
              <a:rPr lang="en" sz="1600"/>
              <a:t> layer of GNN, network queries for </a:t>
            </a:r>
            <a:r>
              <a:rPr lang="en" sz="1600" b="1" i="1"/>
              <a:t>one</a:t>
            </a:r>
            <a:r>
              <a:rPr lang="en" sz="1600"/>
              <a:t> of the labels from the </a:t>
            </a:r>
            <a:r>
              <a:rPr lang="en" sz="1600" b="1" i="1"/>
              <a:t>unsupervised</a:t>
            </a:r>
            <a:r>
              <a:rPr lang="en" sz="1600"/>
              <a:t> set.</a:t>
            </a:r>
            <a:endParaRPr sz="1600"/>
          </a:p>
          <a:p>
            <a:pPr marL="914400" lvl="1" indent="-330200" algn="l" rtl="0">
              <a:spcBef>
                <a:spcPts val="0"/>
              </a:spcBef>
              <a:spcAft>
                <a:spcPts val="0"/>
              </a:spcAft>
              <a:buSzPts val="1600"/>
              <a:buChar char="○"/>
            </a:pPr>
            <a:r>
              <a:rPr lang="en" sz="1600"/>
              <a:t>The queried label is chosen by applying an </a:t>
            </a:r>
            <a:r>
              <a:rPr lang="en" sz="1600" b="1" i="1"/>
              <a:t>attention layer</a:t>
            </a:r>
            <a:r>
              <a:rPr lang="en" sz="1600"/>
              <a:t> on the first layer activations. </a:t>
            </a:r>
            <a:endParaRPr sz="1600"/>
          </a:p>
          <a:p>
            <a:pPr marL="914400" lvl="1" indent="-330200" algn="l" rtl="0">
              <a:spcBef>
                <a:spcPts val="0"/>
              </a:spcBef>
              <a:spcAft>
                <a:spcPts val="0"/>
              </a:spcAft>
              <a:buSzPts val="1600"/>
              <a:buChar char="○"/>
            </a:pPr>
            <a:r>
              <a:rPr lang="en" sz="1600" b="1" i="1"/>
              <a:t>Random sampling</a:t>
            </a:r>
            <a:r>
              <a:rPr lang="en" sz="1600"/>
              <a:t> based on attention multinomial probability is used to choose the queried label during training. </a:t>
            </a:r>
            <a:r>
              <a:rPr lang="en" sz="1600" b="1" i="1"/>
              <a:t>Argmax </a:t>
            </a:r>
            <a:r>
              <a:rPr lang="en" sz="1600"/>
              <a:t>is used at the test time.</a:t>
            </a:r>
            <a:endParaRPr sz="1600"/>
          </a:p>
          <a:p>
            <a:pPr marL="914400" lvl="1" indent="-330200" algn="l" rtl="0">
              <a:spcBef>
                <a:spcPts val="0"/>
              </a:spcBef>
              <a:spcAft>
                <a:spcPts val="0"/>
              </a:spcAft>
              <a:buSzPts val="1600"/>
              <a:buChar char="○"/>
            </a:pPr>
            <a:r>
              <a:rPr lang="en" sz="1600"/>
              <a:t>Intuition: The network will learn to ask for the most informative label in order to classify the target sample.</a:t>
            </a:r>
            <a:endParaRPr sz="1600"/>
          </a:p>
          <a:p>
            <a:pPr marL="0" lvl="0" indent="0" algn="l" rtl="0">
              <a:spcBef>
                <a:spcPts val="1600"/>
              </a:spcBef>
              <a:spcAft>
                <a:spcPts val="0"/>
              </a:spcAft>
              <a:buNone/>
            </a:pPr>
            <a:endParaRPr sz="1600"/>
          </a:p>
          <a:p>
            <a:pPr marL="0" lvl="0" indent="0" algn="l" rtl="0">
              <a:spcBef>
                <a:spcPts val="1600"/>
              </a:spcBef>
              <a:spcAft>
                <a:spcPts val="1600"/>
              </a:spcAft>
              <a:buNone/>
            </a:pPr>
            <a:endParaRPr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2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Experiment Settings </a:t>
            </a:r>
            <a:endParaRPr/>
          </a:p>
        </p:txBody>
      </p:sp>
      <p:sp>
        <p:nvSpPr>
          <p:cNvPr id="317" name="Google Shape;317;p2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SzPts val="1400"/>
              <a:buChar char="●"/>
            </a:pPr>
            <a:r>
              <a:rPr lang="en" sz="1400" b="1" i="1"/>
              <a:t>q</a:t>
            </a:r>
            <a:r>
              <a:rPr lang="en" sz="1400"/>
              <a:t>-shot, </a:t>
            </a:r>
            <a:r>
              <a:rPr lang="en" sz="1400" b="1" i="1"/>
              <a:t>K</a:t>
            </a:r>
            <a:r>
              <a:rPr lang="en" sz="1400"/>
              <a:t>-way: </a:t>
            </a:r>
            <a:endParaRPr sz="1400"/>
          </a:p>
          <a:p>
            <a:pPr marL="914400" lvl="1" indent="-317500" algn="l" rtl="0">
              <a:spcBef>
                <a:spcPts val="0"/>
              </a:spcBef>
              <a:spcAft>
                <a:spcPts val="0"/>
              </a:spcAft>
              <a:buSzPts val="1400"/>
              <a:buChar char="○"/>
            </a:pPr>
            <a:r>
              <a:rPr lang="en"/>
              <a:t>For every task </a:t>
            </a:r>
            <a:r>
              <a:rPr lang="en" b="1" i="1"/>
              <a:t>T</a:t>
            </a:r>
            <a:r>
              <a:rPr lang="en"/>
              <a:t>, </a:t>
            </a:r>
            <a:r>
              <a:rPr lang="en" b="1" i="1"/>
              <a:t>K</a:t>
            </a:r>
            <a:r>
              <a:rPr lang="en"/>
              <a:t> random classes from the dataset are chosen.</a:t>
            </a:r>
            <a:endParaRPr/>
          </a:p>
          <a:p>
            <a:pPr marL="914400" lvl="1" indent="-317500" algn="l" rtl="0">
              <a:spcBef>
                <a:spcPts val="0"/>
              </a:spcBef>
              <a:spcAft>
                <a:spcPts val="0"/>
              </a:spcAft>
              <a:buSzPts val="1400"/>
              <a:buChar char="○"/>
            </a:pPr>
            <a:r>
              <a:rPr lang="en"/>
              <a:t>From each class </a:t>
            </a:r>
            <a:r>
              <a:rPr lang="en" b="1" i="1"/>
              <a:t>q</a:t>
            </a:r>
            <a:r>
              <a:rPr lang="en"/>
              <a:t> random samples are selected. </a:t>
            </a:r>
            <a:endParaRPr/>
          </a:p>
          <a:p>
            <a:pPr marL="914400" lvl="1" indent="-317500" algn="l" rtl="0">
              <a:spcBef>
                <a:spcPts val="0"/>
              </a:spcBef>
              <a:spcAft>
                <a:spcPts val="0"/>
              </a:spcAft>
              <a:buSzPts val="1400"/>
              <a:buChar char="○"/>
            </a:pPr>
            <a:r>
              <a:rPr lang="en" b="1"/>
              <a:t>One</a:t>
            </a:r>
            <a:r>
              <a:rPr lang="en"/>
              <a:t> extra sample to classify is chosen from one of that </a:t>
            </a:r>
            <a:r>
              <a:rPr lang="en" b="1" i="1"/>
              <a:t>K</a:t>
            </a:r>
            <a:r>
              <a:rPr lang="en"/>
              <a:t> classes.</a:t>
            </a:r>
            <a:endParaRPr/>
          </a:p>
          <a:p>
            <a:pPr marL="457200" lvl="0" indent="-317500" algn="l" rtl="0">
              <a:spcBef>
                <a:spcPts val="0"/>
              </a:spcBef>
              <a:spcAft>
                <a:spcPts val="0"/>
              </a:spcAft>
              <a:buSzPts val="1400"/>
              <a:buChar char="●"/>
            </a:pPr>
            <a:r>
              <a:rPr lang="en" sz="1400"/>
              <a:t>Semi-supervised: </a:t>
            </a:r>
            <a:endParaRPr sz="1400"/>
          </a:p>
          <a:p>
            <a:pPr marL="914400" lvl="1" indent="-317500" algn="l" rtl="0">
              <a:spcBef>
                <a:spcPts val="0"/>
              </a:spcBef>
              <a:spcAft>
                <a:spcPts val="0"/>
              </a:spcAft>
              <a:buSzPts val="1400"/>
              <a:buChar char="○"/>
            </a:pPr>
            <a:r>
              <a:rPr lang="en"/>
              <a:t>Performed on the </a:t>
            </a:r>
            <a:r>
              <a:rPr lang="en" b="1" i="1"/>
              <a:t>5-way 5-shot</a:t>
            </a:r>
            <a:r>
              <a:rPr lang="en"/>
              <a:t> setting. </a:t>
            </a:r>
            <a:endParaRPr/>
          </a:p>
          <a:p>
            <a:pPr marL="914400" lvl="1" indent="-317500" algn="l" rtl="0">
              <a:spcBef>
                <a:spcPts val="0"/>
              </a:spcBef>
              <a:spcAft>
                <a:spcPts val="0"/>
              </a:spcAft>
              <a:buSzPts val="1400"/>
              <a:buChar char="○"/>
            </a:pPr>
            <a:r>
              <a:rPr lang="en"/>
              <a:t>Experiments done when </a:t>
            </a:r>
            <a:r>
              <a:rPr lang="en" b="1" i="1"/>
              <a:t>20%</a:t>
            </a:r>
            <a:r>
              <a:rPr lang="en"/>
              <a:t> and </a:t>
            </a:r>
            <a:r>
              <a:rPr lang="en" b="1" i="1"/>
              <a:t>40%</a:t>
            </a:r>
            <a:r>
              <a:rPr lang="en"/>
              <a:t> of the samples are labeled. </a:t>
            </a:r>
            <a:endParaRPr/>
          </a:p>
          <a:p>
            <a:pPr marL="914400" lvl="1" indent="-317500" algn="l" rtl="0">
              <a:spcBef>
                <a:spcPts val="0"/>
              </a:spcBef>
              <a:spcAft>
                <a:spcPts val="0"/>
              </a:spcAft>
              <a:buSzPts val="1400"/>
              <a:buChar char="○"/>
            </a:pPr>
            <a:r>
              <a:rPr lang="en"/>
              <a:t>The labeled samples are </a:t>
            </a:r>
            <a:r>
              <a:rPr lang="en" b="1" i="1"/>
              <a:t>balanced</a:t>
            </a:r>
            <a:r>
              <a:rPr lang="en"/>
              <a:t> among classes in all experiments.</a:t>
            </a:r>
            <a:endParaRPr/>
          </a:p>
          <a:p>
            <a:pPr marL="457200" lvl="0" indent="-317500" algn="l" rtl="0">
              <a:spcBef>
                <a:spcPts val="0"/>
              </a:spcBef>
              <a:spcAft>
                <a:spcPts val="0"/>
              </a:spcAft>
              <a:buSzPts val="1400"/>
              <a:buChar char="●"/>
            </a:pPr>
            <a:r>
              <a:rPr lang="en" sz="1400"/>
              <a:t>Active-learning:</a:t>
            </a:r>
            <a:endParaRPr sz="1400"/>
          </a:p>
          <a:p>
            <a:pPr marL="914400" lvl="1" indent="-317500" algn="l" rtl="0">
              <a:spcBef>
                <a:spcPts val="0"/>
              </a:spcBef>
              <a:spcAft>
                <a:spcPts val="0"/>
              </a:spcAft>
              <a:buSzPts val="1400"/>
              <a:buChar char="○"/>
            </a:pPr>
            <a:r>
              <a:rPr lang="en"/>
              <a:t> performed on the </a:t>
            </a:r>
            <a:r>
              <a:rPr lang="en" b="1" i="1"/>
              <a:t>5-way 5-shot </a:t>
            </a:r>
            <a:r>
              <a:rPr lang="en"/>
              <a:t>setting.</a:t>
            </a:r>
            <a:endParaRPr/>
          </a:p>
          <a:p>
            <a:pPr marL="914400" lvl="1" indent="-317500" algn="l" rtl="0">
              <a:spcBef>
                <a:spcPts val="0"/>
              </a:spcBef>
              <a:spcAft>
                <a:spcPts val="0"/>
              </a:spcAft>
              <a:buSzPts val="1400"/>
              <a:buChar char="○"/>
            </a:pPr>
            <a:r>
              <a:rPr lang="en" b="1" i="1"/>
              <a:t>20%</a:t>
            </a:r>
            <a:r>
              <a:rPr lang="en"/>
              <a:t> of the samples are labeled. </a:t>
            </a:r>
            <a:endParaRPr/>
          </a:p>
          <a:p>
            <a:pPr marL="914400" lvl="1" indent="-317500" algn="l" rtl="0">
              <a:spcBef>
                <a:spcPts val="0"/>
              </a:spcBef>
              <a:spcAft>
                <a:spcPts val="0"/>
              </a:spcAft>
              <a:buSzPts val="1400"/>
              <a:buChar char="○"/>
            </a:pPr>
            <a:r>
              <a:rPr lang="en"/>
              <a:t>The results are compared with the</a:t>
            </a:r>
            <a:r>
              <a:rPr lang="en" b="1" i="1"/>
              <a:t> random baseline</a:t>
            </a:r>
            <a:r>
              <a:rPr lang="en"/>
              <a:t> where the network chooses a random sample to be labeled.</a:t>
            </a:r>
            <a:endParaRPr/>
          </a:p>
          <a:p>
            <a:pPr marL="457200" lvl="0" indent="-342900" algn="l" rtl="0">
              <a:spcBef>
                <a:spcPts val="0"/>
              </a:spcBef>
              <a:spcAft>
                <a:spcPts val="0"/>
              </a:spcAft>
              <a:buSzPts val="1800"/>
              <a:buChar char="●"/>
            </a:pPr>
            <a:r>
              <a:rPr lang="en" sz="1400"/>
              <a:t>Datasets</a:t>
            </a:r>
            <a:r>
              <a:rPr lang="en" sz="1800"/>
              <a:t>:</a:t>
            </a:r>
            <a:r>
              <a:rPr lang="en"/>
              <a:t> </a:t>
            </a:r>
            <a:r>
              <a:rPr lang="en" sz="1200" b="1"/>
              <a:t>Omniglot</a:t>
            </a:r>
            <a:r>
              <a:rPr lang="en" sz="1200"/>
              <a:t> and </a:t>
            </a:r>
            <a:r>
              <a:rPr lang="en" sz="1200" b="1"/>
              <a:t>Mini-Imagenet</a:t>
            </a:r>
            <a:r>
              <a:rPr lang="en" sz="1200"/>
              <a:t> are experimented with.</a:t>
            </a:r>
            <a:endParaRPr sz="1200"/>
          </a:p>
          <a:p>
            <a:pPr marL="0" lvl="0" indent="0" algn="l" rtl="0">
              <a:spcBef>
                <a:spcPts val="1600"/>
              </a:spcBef>
              <a:spcAft>
                <a:spcPts val="160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30"/>
          <p:cNvSpPr txBox="1">
            <a:spLocks noGrp="1"/>
          </p:cNvSpPr>
          <p:nvPr>
            <p:ph type="title"/>
          </p:nvPr>
        </p:nvSpPr>
        <p:spPr>
          <a:xfrm>
            <a:off x="311700" y="28739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Few-Shot Learning on Omniglot </a:t>
            </a:r>
            <a:endParaRPr/>
          </a:p>
        </p:txBody>
      </p:sp>
      <p:pic>
        <p:nvPicPr>
          <p:cNvPr id="323" name="Google Shape;323;p30"/>
          <p:cNvPicPr preferRelativeResize="0"/>
          <p:nvPr/>
        </p:nvPicPr>
        <p:blipFill rotWithShape="1">
          <a:blip r:embed="rId3">
            <a:alphaModFix/>
          </a:blip>
          <a:srcRect t="2045" b="20477"/>
          <a:stretch/>
        </p:blipFill>
        <p:spPr>
          <a:xfrm>
            <a:off x="152400" y="2086950"/>
            <a:ext cx="8839200" cy="2783675"/>
          </a:xfrm>
          <a:prstGeom prst="rect">
            <a:avLst/>
          </a:prstGeom>
          <a:noFill/>
          <a:ln>
            <a:noFill/>
          </a:ln>
        </p:spPr>
      </p:pic>
      <p:sp>
        <p:nvSpPr>
          <p:cNvPr id="324" name="Google Shape;324;p30"/>
          <p:cNvSpPr txBox="1"/>
          <p:nvPr/>
        </p:nvSpPr>
        <p:spPr>
          <a:xfrm>
            <a:off x="193625" y="941525"/>
            <a:ext cx="8701800" cy="1130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latin typeface="Open Sans"/>
                <a:ea typeface="Open Sans"/>
                <a:cs typeface="Open Sans"/>
                <a:sym typeface="Open Sans"/>
              </a:rPr>
              <a:t>Key insights</a:t>
            </a:r>
            <a:endParaRPr i="1">
              <a:latin typeface="Open Sans"/>
              <a:ea typeface="Open Sans"/>
              <a:cs typeface="Open Sans"/>
              <a:sym typeface="Open Sans"/>
            </a:endParaRPr>
          </a:p>
          <a:p>
            <a:pPr marL="457200" lvl="0" indent="-317500" algn="l" rtl="0">
              <a:lnSpc>
                <a:spcPct val="150000"/>
              </a:lnSpc>
              <a:spcBef>
                <a:spcPts val="0"/>
              </a:spcBef>
              <a:spcAft>
                <a:spcPts val="0"/>
              </a:spcAft>
              <a:buSzPts val="1400"/>
              <a:buFont typeface="Open Sans"/>
              <a:buAutoNum type="arabicPeriod"/>
            </a:pPr>
            <a:r>
              <a:rPr lang="en" b="1">
                <a:solidFill>
                  <a:srgbClr val="6AA84F"/>
                </a:solidFill>
                <a:latin typeface="Open Sans"/>
                <a:ea typeface="Open Sans"/>
                <a:cs typeface="Open Sans"/>
                <a:sym typeface="Open Sans"/>
              </a:rPr>
              <a:t>Exceeds or achieves comparable performance</a:t>
            </a:r>
            <a:r>
              <a:rPr lang="en">
                <a:latin typeface="Open Sans"/>
                <a:ea typeface="Open Sans"/>
                <a:cs typeface="Open Sans"/>
                <a:sym typeface="Open Sans"/>
              </a:rPr>
              <a:t> with SOTA models across selected tasks.</a:t>
            </a:r>
            <a:endParaRPr>
              <a:latin typeface="Open Sans"/>
              <a:ea typeface="Open Sans"/>
              <a:cs typeface="Open Sans"/>
              <a:sym typeface="Open Sans"/>
            </a:endParaRPr>
          </a:p>
          <a:p>
            <a:pPr marL="457200" lvl="0" indent="-317500" algn="l" rtl="0">
              <a:lnSpc>
                <a:spcPct val="150000"/>
              </a:lnSpc>
              <a:spcBef>
                <a:spcPts val="0"/>
              </a:spcBef>
              <a:spcAft>
                <a:spcPts val="0"/>
              </a:spcAft>
              <a:buSzPts val="1400"/>
              <a:buFont typeface="Open Sans"/>
              <a:buAutoNum type="arabicPeriod"/>
            </a:pPr>
            <a:r>
              <a:rPr lang="en" b="1">
                <a:solidFill>
                  <a:srgbClr val="3C78D8"/>
                </a:solidFill>
                <a:latin typeface="Open Sans"/>
                <a:ea typeface="Open Sans"/>
                <a:cs typeface="Open Sans"/>
                <a:sym typeface="Open Sans"/>
              </a:rPr>
              <a:t>Uses only ~300K model parameters</a:t>
            </a:r>
            <a:r>
              <a:rPr lang="en">
                <a:latin typeface="Open Sans"/>
                <a:ea typeface="Open Sans"/>
                <a:cs typeface="Open Sans"/>
                <a:sym typeface="Open Sans"/>
              </a:rPr>
              <a:t> (as compared to &gt;5M in TCML).</a:t>
            </a:r>
            <a:endParaRPr>
              <a:latin typeface="Open Sans"/>
              <a:ea typeface="Open Sans"/>
              <a:cs typeface="Open Sans"/>
              <a:sym typeface="Open Sans"/>
            </a:endParaRPr>
          </a:p>
        </p:txBody>
      </p:sp>
      <p:sp>
        <p:nvSpPr>
          <p:cNvPr id="325" name="Google Shape;325;p30"/>
          <p:cNvSpPr/>
          <p:nvPr/>
        </p:nvSpPr>
        <p:spPr>
          <a:xfrm>
            <a:off x="3301825" y="2499349"/>
            <a:ext cx="1397100" cy="23934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0"/>
          <p:cNvSpPr/>
          <p:nvPr/>
        </p:nvSpPr>
        <p:spPr>
          <a:xfrm>
            <a:off x="4715300" y="2499350"/>
            <a:ext cx="1338900" cy="23934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0"/>
          <p:cNvSpPr/>
          <p:nvPr/>
        </p:nvSpPr>
        <p:spPr>
          <a:xfrm>
            <a:off x="6071200" y="2499350"/>
            <a:ext cx="1338900" cy="23934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0"/>
          <p:cNvSpPr/>
          <p:nvPr/>
        </p:nvSpPr>
        <p:spPr>
          <a:xfrm>
            <a:off x="7424150" y="2499350"/>
            <a:ext cx="1338900" cy="23934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0"/>
          <p:cNvSpPr/>
          <p:nvPr/>
        </p:nvSpPr>
        <p:spPr>
          <a:xfrm>
            <a:off x="195450" y="2108343"/>
            <a:ext cx="8717100" cy="3687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0"/>
          <p:cNvSpPr/>
          <p:nvPr/>
        </p:nvSpPr>
        <p:spPr>
          <a:xfrm>
            <a:off x="195450" y="2499350"/>
            <a:ext cx="3090000" cy="18312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0"/>
          <p:cNvSpPr/>
          <p:nvPr/>
        </p:nvSpPr>
        <p:spPr>
          <a:xfrm>
            <a:off x="2135125" y="4330700"/>
            <a:ext cx="1150500" cy="5964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0"/>
          <p:cNvSpPr/>
          <p:nvPr/>
        </p:nvSpPr>
        <p:spPr>
          <a:xfrm>
            <a:off x="101425" y="4330700"/>
            <a:ext cx="2033700" cy="638100"/>
          </a:xfrm>
          <a:prstGeom prst="roundRect">
            <a:avLst>
              <a:gd name="adj" fmla="val 5242"/>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pic>
        <p:nvPicPr>
          <p:cNvPr id="337" name="Google Shape;337;p31"/>
          <p:cNvPicPr preferRelativeResize="0"/>
          <p:nvPr/>
        </p:nvPicPr>
        <p:blipFill rotWithShape="1">
          <a:blip r:embed="rId3">
            <a:alphaModFix/>
          </a:blip>
          <a:srcRect l="7155" t="7414" r="6000" b="16144"/>
          <a:stretch/>
        </p:blipFill>
        <p:spPr>
          <a:xfrm>
            <a:off x="162348" y="2059800"/>
            <a:ext cx="8701800" cy="2817552"/>
          </a:xfrm>
          <a:prstGeom prst="rect">
            <a:avLst/>
          </a:prstGeom>
          <a:noFill/>
          <a:ln>
            <a:noFill/>
          </a:ln>
        </p:spPr>
      </p:pic>
      <p:sp>
        <p:nvSpPr>
          <p:cNvPr id="338" name="Google Shape;338;p31"/>
          <p:cNvSpPr/>
          <p:nvPr/>
        </p:nvSpPr>
        <p:spPr>
          <a:xfrm>
            <a:off x="4934325" y="2098191"/>
            <a:ext cx="3886200" cy="4632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1"/>
          <p:cNvSpPr/>
          <p:nvPr/>
        </p:nvSpPr>
        <p:spPr>
          <a:xfrm>
            <a:off x="3503625" y="3904800"/>
            <a:ext cx="1430700" cy="10500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1"/>
          <p:cNvSpPr txBox="1">
            <a:spLocks noGrp="1"/>
          </p:cNvSpPr>
          <p:nvPr>
            <p:ph type="title"/>
          </p:nvPr>
        </p:nvSpPr>
        <p:spPr>
          <a:xfrm>
            <a:off x="311700" y="287393"/>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Few-Shot Learning on Mini-Imagenet </a:t>
            </a:r>
            <a:endParaRPr/>
          </a:p>
        </p:txBody>
      </p:sp>
      <p:sp>
        <p:nvSpPr>
          <p:cNvPr id="341" name="Google Shape;341;p31"/>
          <p:cNvSpPr txBox="1"/>
          <p:nvPr/>
        </p:nvSpPr>
        <p:spPr>
          <a:xfrm>
            <a:off x="193625" y="941525"/>
            <a:ext cx="8701800" cy="11301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latin typeface="Open Sans"/>
                <a:ea typeface="Open Sans"/>
                <a:cs typeface="Open Sans"/>
                <a:sym typeface="Open Sans"/>
              </a:rPr>
              <a:t>Key insights</a:t>
            </a:r>
            <a:endParaRPr i="1">
              <a:latin typeface="Open Sans"/>
              <a:ea typeface="Open Sans"/>
              <a:cs typeface="Open Sans"/>
              <a:sym typeface="Open Sans"/>
            </a:endParaRPr>
          </a:p>
          <a:p>
            <a:pPr marL="457200" lvl="0" indent="-317500" algn="l" rtl="0">
              <a:lnSpc>
                <a:spcPct val="150000"/>
              </a:lnSpc>
              <a:spcBef>
                <a:spcPts val="0"/>
              </a:spcBef>
              <a:spcAft>
                <a:spcPts val="0"/>
              </a:spcAft>
              <a:buSzPts val="1400"/>
              <a:buFont typeface="Open Sans"/>
              <a:buAutoNum type="arabicPeriod"/>
            </a:pPr>
            <a:r>
              <a:rPr lang="en" b="1">
                <a:solidFill>
                  <a:srgbClr val="6AA84F"/>
                </a:solidFill>
                <a:latin typeface="Open Sans"/>
                <a:ea typeface="Open Sans"/>
                <a:cs typeface="Open Sans"/>
                <a:sym typeface="Open Sans"/>
              </a:rPr>
              <a:t>Outperforms 5 out of 6 SOTA models</a:t>
            </a:r>
            <a:r>
              <a:rPr lang="en">
                <a:latin typeface="Open Sans"/>
                <a:ea typeface="Open Sans"/>
                <a:cs typeface="Open Sans"/>
                <a:sym typeface="Open Sans"/>
              </a:rPr>
              <a:t> across selected tasks (</a:t>
            </a:r>
            <a:r>
              <a:rPr lang="en" b="1">
                <a:solidFill>
                  <a:srgbClr val="E69138"/>
                </a:solidFill>
                <a:latin typeface="Open Sans"/>
                <a:ea typeface="Open Sans"/>
                <a:cs typeface="Open Sans"/>
                <a:sym typeface="Open Sans"/>
              </a:rPr>
              <a:t>outperformed by TCML</a:t>
            </a:r>
            <a:r>
              <a:rPr lang="en">
                <a:latin typeface="Open Sans"/>
                <a:ea typeface="Open Sans"/>
                <a:cs typeface="Open Sans"/>
                <a:sym typeface="Open Sans"/>
              </a:rPr>
              <a:t>).</a:t>
            </a:r>
            <a:endParaRPr>
              <a:latin typeface="Open Sans"/>
              <a:ea typeface="Open Sans"/>
              <a:cs typeface="Open Sans"/>
              <a:sym typeface="Open Sans"/>
            </a:endParaRPr>
          </a:p>
          <a:p>
            <a:pPr marL="457200" lvl="0" indent="-317500" algn="l" rtl="0">
              <a:lnSpc>
                <a:spcPct val="150000"/>
              </a:lnSpc>
              <a:spcBef>
                <a:spcPts val="0"/>
              </a:spcBef>
              <a:spcAft>
                <a:spcPts val="0"/>
              </a:spcAft>
              <a:buSzPts val="1400"/>
              <a:buFont typeface="Open Sans"/>
              <a:buAutoNum type="arabicPeriod"/>
            </a:pPr>
            <a:r>
              <a:rPr lang="en" b="1">
                <a:solidFill>
                  <a:srgbClr val="3C78D8"/>
                </a:solidFill>
                <a:latin typeface="Open Sans"/>
                <a:ea typeface="Open Sans"/>
                <a:cs typeface="Open Sans"/>
                <a:sym typeface="Open Sans"/>
              </a:rPr>
              <a:t>Uses only ~400K model parameters</a:t>
            </a:r>
            <a:r>
              <a:rPr lang="en">
                <a:latin typeface="Open Sans"/>
                <a:ea typeface="Open Sans"/>
                <a:cs typeface="Open Sans"/>
                <a:sym typeface="Open Sans"/>
              </a:rPr>
              <a:t> (as compared to ~11M in TCML).</a:t>
            </a:r>
            <a:endParaRPr>
              <a:latin typeface="Open Sans"/>
              <a:ea typeface="Open Sans"/>
              <a:cs typeface="Open Sans"/>
              <a:sym typeface="Open Sans"/>
            </a:endParaRPr>
          </a:p>
        </p:txBody>
      </p:sp>
      <p:sp>
        <p:nvSpPr>
          <p:cNvPr id="342" name="Google Shape;342;p31"/>
          <p:cNvSpPr/>
          <p:nvPr/>
        </p:nvSpPr>
        <p:spPr>
          <a:xfrm>
            <a:off x="4955300" y="2561285"/>
            <a:ext cx="1852200" cy="23934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1"/>
          <p:cNvSpPr/>
          <p:nvPr/>
        </p:nvSpPr>
        <p:spPr>
          <a:xfrm>
            <a:off x="6936500" y="2561285"/>
            <a:ext cx="1852200" cy="23934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1"/>
          <p:cNvSpPr/>
          <p:nvPr/>
        </p:nvSpPr>
        <p:spPr>
          <a:xfrm>
            <a:off x="162200" y="3980153"/>
            <a:ext cx="8701800" cy="302100"/>
          </a:xfrm>
          <a:prstGeom prst="roundRect">
            <a:avLst>
              <a:gd name="adj" fmla="val 5242"/>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1"/>
          <p:cNvSpPr/>
          <p:nvPr/>
        </p:nvSpPr>
        <p:spPr>
          <a:xfrm>
            <a:off x="238125" y="3922575"/>
            <a:ext cx="3265500" cy="969900"/>
          </a:xfrm>
          <a:prstGeom prst="roundRect">
            <a:avLst>
              <a:gd name="adj" fmla="val 5242"/>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1"/>
          <p:cNvSpPr/>
          <p:nvPr/>
        </p:nvSpPr>
        <p:spPr>
          <a:xfrm>
            <a:off x="162350" y="2098188"/>
            <a:ext cx="4772100" cy="18066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2"/>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Semi-Supervised Learning on Omniglot</a:t>
            </a:r>
            <a:endParaRPr/>
          </a:p>
        </p:txBody>
      </p:sp>
      <p:sp>
        <p:nvSpPr>
          <p:cNvPr id="352" name="Google Shape;352;p32"/>
          <p:cNvSpPr txBox="1"/>
          <p:nvPr/>
        </p:nvSpPr>
        <p:spPr>
          <a:xfrm>
            <a:off x="311700" y="2265050"/>
            <a:ext cx="8520600" cy="17547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i="1">
                <a:latin typeface="Open Sans"/>
                <a:ea typeface="Open Sans"/>
                <a:cs typeface="Open Sans"/>
                <a:sym typeface="Open Sans"/>
              </a:rPr>
              <a:t>Key insights:</a:t>
            </a:r>
            <a:endParaRPr sz="1200" i="1">
              <a:latin typeface="Open Sans"/>
              <a:ea typeface="Open Sans"/>
              <a:cs typeface="Open Sans"/>
              <a:sym typeface="Open Sans"/>
            </a:endParaRPr>
          </a:p>
          <a:p>
            <a:pPr marL="457200" lvl="0" indent="-304800" algn="l" rtl="0">
              <a:lnSpc>
                <a:spcPct val="150000"/>
              </a:lnSpc>
              <a:spcBef>
                <a:spcPts val="0"/>
              </a:spcBef>
              <a:spcAft>
                <a:spcPts val="0"/>
              </a:spcAft>
              <a:buSzPts val="1200"/>
              <a:buFont typeface="Open Sans"/>
              <a:buAutoNum type="arabicPeriod"/>
            </a:pPr>
            <a:r>
              <a:rPr lang="en" sz="1200" b="1">
                <a:solidFill>
                  <a:srgbClr val="9900FF"/>
                </a:solidFill>
                <a:latin typeface="Open Sans"/>
                <a:ea typeface="Open Sans"/>
                <a:cs typeface="Open Sans"/>
                <a:sym typeface="Open Sans"/>
              </a:rPr>
              <a:t>Performance is saturated with only a single labeled image</a:t>
            </a:r>
            <a:r>
              <a:rPr lang="en" sz="1200" b="1">
                <a:latin typeface="Open Sans"/>
                <a:ea typeface="Open Sans"/>
                <a:cs typeface="Open Sans"/>
                <a:sym typeface="Open Sans"/>
              </a:rPr>
              <a:t> </a:t>
            </a:r>
            <a:r>
              <a:rPr lang="en" sz="1200">
                <a:latin typeface="Open Sans"/>
                <a:ea typeface="Open Sans"/>
                <a:cs typeface="Open Sans"/>
                <a:sym typeface="Open Sans"/>
              </a:rPr>
              <a:t>(i.e. 5-way 1-shot).</a:t>
            </a:r>
            <a:endParaRPr sz="1200">
              <a:latin typeface="Open Sans"/>
              <a:ea typeface="Open Sans"/>
              <a:cs typeface="Open Sans"/>
              <a:sym typeface="Open Sans"/>
            </a:endParaRPr>
          </a:p>
          <a:p>
            <a:pPr marL="457200" lvl="0" indent="-304800" algn="l" rtl="0">
              <a:lnSpc>
                <a:spcPct val="150000"/>
              </a:lnSpc>
              <a:spcBef>
                <a:spcPts val="0"/>
              </a:spcBef>
              <a:spcAft>
                <a:spcPts val="0"/>
              </a:spcAft>
              <a:buSzPts val="1200"/>
              <a:buFont typeface="Open Sans"/>
              <a:buAutoNum type="arabicPeriod"/>
            </a:pPr>
            <a:r>
              <a:rPr lang="en" sz="1200">
                <a:latin typeface="Open Sans"/>
                <a:ea typeface="Open Sans"/>
                <a:cs typeface="Open Sans"/>
                <a:sym typeface="Open Sans"/>
              </a:rPr>
              <a:t>Experiments conducted with 1 labeled, 4 unlabeled images</a:t>
            </a:r>
            <a:r>
              <a:rPr lang="en" sz="1200">
                <a:solidFill>
                  <a:srgbClr val="4A86E8"/>
                </a:solidFill>
                <a:latin typeface="Open Sans"/>
                <a:ea typeface="Open Sans"/>
                <a:cs typeface="Open Sans"/>
                <a:sym typeface="Open Sans"/>
              </a:rPr>
              <a:t> </a:t>
            </a:r>
            <a:r>
              <a:rPr lang="en" sz="1200" b="1">
                <a:solidFill>
                  <a:srgbClr val="4A86E8"/>
                </a:solidFill>
                <a:latin typeface="Open Sans"/>
                <a:ea typeface="Open Sans"/>
                <a:cs typeface="Open Sans"/>
                <a:sym typeface="Open Sans"/>
              </a:rPr>
              <a:t>performs</a:t>
            </a:r>
            <a:r>
              <a:rPr lang="en" sz="1200">
                <a:solidFill>
                  <a:srgbClr val="4A86E8"/>
                </a:solidFill>
                <a:latin typeface="Open Sans"/>
                <a:ea typeface="Open Sans"/>
                <a:cs typeface="Open Sans"/>
                <a:sym typeface="Open Sans"/>
              </a:rPr>
              <a:t> </a:t>
            </a:r>
            <a:r>
              <a:rPr lang="en" sz="1200" b="1">
                <a:solidFill>
                  <a:srgbClr val="4A86E8"/>
                </a:solidFill>
                <a:latin typeface="Open Sans"/>
                <a:ea typeface="Open Sans"/>
                <a:cs typeface="Open Sans"/>
                <a:sym typeface="Open Sans"/>
              </a:rPr>
              <a:t>equivalently</a:t>
            </a:r>
            <a:r>
              <a:rPr lang="en" sz="1200">
                <a:latin typeface="Open Sans"/>
                <a:ea typeface="Open Sans"/>
                <a:cs typeface="Open Sans"/>
                <a:sym typeface="Open Sans"/>
              </a:rPr>
              <a:t> as experiments conducted with 2 labeled images.</a:t>
            </a:r>
            <a:endParaRPr sz="1200">
              <a:latin typeface="Open Sans"/>
              <a:ea typeface="Open Sans"/>
              <a:cs typeface="Open Sans"/>
              <a:sym typeface="Open Sans"/>
            </a:endParaRPr>
          </a:p>
          <a:p>
            <a:pPr marL="457200" lvl="0" indent="-304800" algn="l" rtl="0">
              <a:lnSpc>
                <a:spcPct val="150000"/>
              </a:lnSpc>
              <a:spcBef>
                <a:spcPts val="0"/>
              </a:spcBef>
              <a:spcAft>
                <a:spcPts val="0"/>
              </a:spcAft>
              <a:buSzPts val="1200"/>
              <a:buFont typeface="Open Sans"/>
              <a:buAutoNum type="arabicPeriod"/>
            </a:pPr>
            <a:r>
              <a:rPr lang="en" sz="1200">
                <a:latin typeface="Open Sans"/>
                <a:ea typeface="Open Sans"/>
                <a:cs typeface="Open Sans"/>
                <a:sym typeface="Open Sans"/>
              </a:rPr>
              <a:t>Results are extremely similar</a:t>
            </a:r>
            <a:r>
              <a:rPr lang="en" sz="1200">
                <a:solidFill>
                  <a:srgbClr val="E69138"/>
                </a:solidFill>
                <a:latin typeface="Open Sans"/>
                <a:ea typeface="Open Sans"/>
                <a:cs typeface="Open Sans"/>
                <a:sym typeface="Open Sans"/>
              </a:rPr>
              <a:t> </a:t>
            </a:r>
            <a:r>
              <a:rPr lang="en" sz="1200" b="1">
                <a:solidFill>
                  <a:srgbClr val="E69138"/>
                </a:solidFill>
                <a:latin typeface="Open Sans"/>
                <a:ea typeface="Open Sans"/>
                <a:cs typeface="Open Sans"/>
                <a:sym typeface="Open Sans"/>
              </a:rPr>
              <a:t>with or without the unlabeled images</a:t>
            </a:r>
            <a:r>
              <a:rPr lang="en" sz="1200">
                <a:solidFill>
                  <a:srgbClr val="E69138"/>
                </a:solidFill>
                <a:latin typeface="Open Sans"/>
                <a:ea typeface="Open Sans"/>
                <a:cs typeface="Open Sans"/>
                <a:sym typeface="Open Sans"/>
              </a:rPr>
              <a:t> </a:t>
            </a:r>
            <a:r>
              <a:rPr lang="en" sz="1200">
                <a:latin typeface="Open Sans"/>
                <a:ea typeface="Open Sans"/>
                <a:cs typeface="Open Sans"/>
                <a:sym typeface="Open Sans"/>
              </a:rPr>
              <a:t>in the training set.</a:t>
            </a:r>
            <a:endParaRPr sz="1200">
              <a:latin typeface="Open Sans"/>
              <a:ea typeface="Open Sans"/>
              <a:cs typeface="Open Sans"/>
              <a:sym typeface="Open Sans"/>
            </a:endParaRPr>
          </a:p>
        </p:txBody>
      </p:sp>
      <p:pic>
        <p:nvPicPr>
          <p:cNvPr id="353" name="Google Shape;353;p32"/>
          <p:cNvPicPr preferRelativeResize="0"/>
          <p:nvPr/>
        </p:nvPicPr>
        <p:blipFill rotWithShape="1">
          <a:blip r:embed="rId3">
            <a:alphaModFix/>
          </a:blip>
          <a:srcRect l="8279" t="5288" r="8429" b="70011"/>
          <a:stretch/>
        </p:blipFill>
        <p:spPr>
          <a:xfrm>
            <a:off x="278525" y="3791075"/>
            <a:ext cx="8586951" cy="1068050"/>
          </a:xfrm>
          <a:prstGeom prst="rect">
            <a:avLst/>
          </a:prstGeom>
          <a:noFill/>
          <a:ln>
            <a:noFill/>
          </a:ln>
        </p:spPr>
      </p:pic>
      <p:sp>
        <p:nvSpPr>
          <p:cNvPr id="354" name="Google Shape;354;p32"/>
          <p:cNvSpPr/>
          <p:nvPr/>
        </p:nvSpPr>
        <p:spPr>
          <a:xfrm>
            <a:off x="4107865" y="4528853"/>
            <a:ext cx="887100" cy="287400"/>
          </a:xfrm>
          <a:prstGeom prst="roundRect">
            <a:avLst>
              <a:gd name="adj" fmla="val 5242"/>
            </a:avLst>
          </a:prstGeom>
          <a:noFill/>
          <a:ln w="2857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2"/>
          <p:cNvSpPr/>
          <p:nvPr/>
        </p:nvSpPr>
        <p:spPr>
          <a:xfrm>
            <a:off x="5634152" y="4284555"/>
            <a:ext cx="887100" cy="287400"/>
          </a:xfrm>
          <a:prstGeom prst="roundRect">
            <a:avLst>
              <a:gd name="adj" fmla="val 5242"/>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2"/>
          <p:cNvSpPr/>
          <p:nvPr/>
        </p:nvSpPr>
        <p:spPr>
          <a:xfrm>
            <a:off x="4131741" y="4555015"/>
            <a:ext cx="887100" cy="287400"/>
          </a:xfrm>
          <a:prstGeom prst="roundRect">
            <a:avLst>
              <a:gd name="adj" fmla="val 5242"/>
            </a:avLst>
          </a:prstGeom>
          <a:noFill/>
          <a:ln w="28575" cap="flat" cmpd="sng">
            <a:solidFill>
              <a:srgbClr val="4A86E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2"/>
          <p:cNvSpPr/>
          <p:nvPr/>
        </p:nvSpPr>
        <p:spPr>
          <a:xfrm>
            <a:off x="283750" y="3825450"/>
            <a:ext cx="3640800" cy="10338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2"/>
          <p:cNvSpPr/>
          <p:nvPr/>
        </p:nvSpPr>
        <p:spPr>
          <a:xfrm>
            <a:off x="4034050" y="3825450"/>
            <a:ext cx="4831500" cy="2238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2"/>
          <p:cNvSpPr/>
          <p:nvPr/>
        </p:nvSpPr>
        <p:spPr>
          <a:xfrm>
            <a:off x="8435000" y="4208350"/>
            <a:ext cx="430500" cy="6510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2"/>
          <p:cNvSpPr txBox="1"/>
          <p:nvPr/>
        </p:nvSpPr>
        <p:spPr>
          <a:xfrm>
            <a:off x="311700" y="1045850"/>
            <a:ext cx="8520600" cy="914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latin typeface="Open Sans"/>
                <a:ea typeface="Open Sans"/>
                <a:cs typeface="Open Sans"/>
                <a:sym typeface="Open Sans"/>
              </a:rPr>
              <a:t>Experiment objective: Determine performance gap between two models:</a:t>
            </a:r>
            <a:endParaRPr i="1">
              <a:latin typeface="Open Sans"/>
              <a:ea typeface="Open Sans"/>
              <a:cs typeface="Open Sans"/>
              <a:sym typeface="Open Sans"/>
            </a:endParaRPr>
          </a:p>
          <a:p>
            <a:pPr marL="457200" lvl="0" indent="-292100" algn="l" rtl="0">
              <a:lnSpc>
                <a:spcPct val="150000"/>
              </a:lnSpc>
              <a:spcBef>
                <a:spcPts val="0"/>
              </a:spcBef>
              <a:spcAft>
                <a:spcPts val="0"/>
              </a:spcAft>
              <a:buClr>
                <a:srgbClr val="666666"/>
              </a:buClr>
              <a:buSzPts val="1000"/>
              <a:buFont typeface="Open Sans"/>
              <a:buAutoNum type="arabicPeriod"/>
            </a:pPr>
            <a:r>
              <a:rPr lang="en" sz="1000">
                <a:solidFill>
                  <a:srgbClr val="666666"/>
                </a:solidFill>
                <a:latin typeface="Open Sans"/>
                <a:ea typeface="Open Sans"/>
                <a:cs typeface="Open Sans"/>
                <a:sym typeface="Open Sans"/>
              </a:rPr>
              <a:t>“</a:t>
            </a:r>
            <a:r>
              <a:rPr lang="en" sz="1000" b="1">
                <a:solidFill>
                  <a:srgbClr val="666666"/>
                </a:solidFill>
                <a:latin typeface="Open Sans"/>
                <a:ea typeface="Open Sans"/>
                <a:cs typeface="Open Sans"/>
                <a:sym typeface="Open Sans"/>
              </a:rPr>
              <a:t>GNN - Trained only with labeled</a:t>
            </a:r>
            <a:r>
              <a:rPr lang="en" sz="1000">
                <a:solidFill>
                  <a:srgbClr val="666666"/>
                </a:solidFill>
                <a:latin typeface="Open Sans"/>
                <a:ea typeface="Open Sans"/>
                <a:cs typeface="Open Sans"/>
                <a:sym typeface="Open Sans"/>
              </a:rPr>
              <a:t>” := supervised few-shot setting. </a:t>
            </a:r>
            <a:endParaRPr sz="1000">
              <a:solidFill>
                <a:srgbClr val="666666"/>
              </a:solidFill>
              <a:latin typeface="Open Sans"/>
              <a:ea typeface="Open Sans"/>
              <a:cs typeface="Open Sans"/>
              <a:sym typeface="Open Sans"/>
            </a:endParaRPr>
          </a:p>
          <a:p>
            <a:pPr marL="457200" lvl="0" indent="0" algn="l" rtl="0">
              <a:lnSpc>
                <a:spcPct val="150000"/>
              </a:lnSpc>
              <a:spcBef>
                <a:spcPts val="0"/>
              </a:spcBef>
              <a:spcAft>
                <a:spcPts val="0"/>
              </a:spcAft>
              <a:buNone/>
            </a:pPr>
            <a:r>
              <a:rPr lang="en" sz="1000" i="1">
                <a:solidFill>
                  <a:srgbClr val="666666"/>
                </a:solidFill>
                <a:latin typeface="Open Sans"/>
                <a:ea typeface="Open Sans"/>
                <a:cs typeface="Open Sans"/>
                <a:sym typeface="Open Sans"/>
              </a:rPr>
              <a:t>5-way, 5-shot, 20%-labeled setting: equivalent to the 5-way, 1-shot learning setting.</a:t>
            </a:r>
            <a:endParaRPr sz="1000" i="1">
              <a:solidFill>
                <a:srgbClr val="666666"/>
              </a:solidFill>
              <a:latin typeface="Open Sans"/>
              <a:ea typeface="Open Sans"/>
              <a:cs typeface="Open Sans"/>
              <a:sym typeface="Open Sans"/>
            </a:endParaRPr>
          </a:p>
          <a:p>
            <a:pPr marL="457200" lvl="0" indent="-292100" algn="l" rtl="0">
              <a:lnSpc>
                <a:spcPct val="150000"/>
              </a:lnSpc>
              <a:spcBef>
                <a:spcPts val="0"/>
              </a:spcBef>
              <a:spcAft>
                <a:spcPts val="0"/>
              </a:spcAft>
              <a:buClr>
                <a:srgbClr val="666666"/>
              </a:buClr>
              <a:buSzPts val="1000"/>
              <a:buFont typeface="Open Sans"/>
              <a:buAutoNum type="arabicPeriod"/>
            </a:pPr>
            <a:r>
              <a:rPr lang="en" sz="1000">
                <a:solidFill>
                  <a:srgbClr val="666666"/>
                </a:solidFill>
                <a:latin typeface="Open Sans"/>
                <a:ea typeface="Open Sans"/>
                <a:cs typeface="Open Sans"/>
                <a:sym typeface="Open Sans"/>
              </a:rPr>
              <a:t>“</a:t>
            </a:r>
            <a:r>
              <a:rPr lang="en" sz="1000" b="1">
                <a:solidFill>
                  <a:srgbClr val="666666"/>
                </a:solidFill>
                <a:latin typeface="Open Sans"/>
                <a:ea typeface="Open Sans"/>
                <a:cs typeface="Open Sans"/>
                <a:sym typeface="Open Sans"/>
              </a:rPr>
              <a:t>GNN - Semi supervised</a:t>
            </a:r>
            <a:r>
              <a:rPr lang="en" sz="1000">
                <a:solidFill>
                  <a:srgbClr val="666666"/>
                </a:solidFill>
                <a:latin typeface="Open Sans"/>
                <a:ea typeface="Open Sans"/>
                <a:cs typeface="Open Sans"/>
                <a:sym typeface="Open Sans"/>
              </a:rPr>
              <a:t>” := semi-supervised method.</a:t>
            </a:r>
            <a:endParaRPr sz="1000">
              <a:solidFill>
                <a:srgbClr val="666666"/>
              </a:solidFill>
              <a:latin typeface="Open Sans"/>
              <a:ea typeface="Open Sans"/>
              <a:cs typeface="Open Sans"/>
              <a:sym typeface="Open Sans"/>
            </a:endParaRPr>
          </a:p>
          <a:p>
            <a:pPr marL="457200" lvl="0" indent="0" algn="l" rtl="0">
              <a:lnSpc>
                <a:spcPct val="150000"/>
              </a:lnSpc>
              <a:spcBef>
                <a:spcPts val="0"/>
              </a:spcBef>
              <a:spcAft>
                <a:spcPts val="0"/>
              </a:spcAft>
              <a:buNone/>
            </a:pPr>
            <a:r>
              <a:rPr lang="en" sz="1000" i="1">
                <a:solidFill>
                  <a:srgbClr val="666666"/>
                </a:solidFill>
                <a:latin typeface="Open Sans"/>
                <a:ea typeface="Open Sans"/>
                <a:cs typeface="Open Sans"/>
                <a:sym typeface="Open Sans"/>
              </a:rPr>
              <a:t>5-way, 5-shot, 20%-labeled setting: GNN receives as input 1 labeled, 4 unlabeled samples per class.</a:t>
            </a:r>
            <a:endParaRPr sz="1000" i="1">
              <a:solidFill>
                <a:srgbClr val="666666"/>
              </a:solidFill>
              <a:latin typeface="Open Sans"/>
              <a:ea typeface="Open Sans"/>
              <a:cs typeface="Open Sans"/>
              <a:sym typeface="Open Sans"/>
            </a:endParaRPr>
          </a:p>
          <a:p>
            <a:pPr marL="0" lvl="0" indent="0" algn="l" rtl="0">
              <a:lnSpc>
                <a:spcPct val="150000"/>
              </a:lnSpc>
              <a:spcBef>
                <a:spcPts val="0"/>
              </a:spcBef>
              <a:spcAft>
                <a:spcPts val="0"/>
              </a:spcAft>
              <a:buNone/>
            </a:pPr>
            <a:endParaRPr sz="1000">
              <a:solidFill>
                <a:srgbClr val="666666"/>
              </a:solidFill>
              <a:latin typeface="Open Sans"/>
              <a:ea typeface="Open Sans"/>
              <a:cs typeface="Open Sans"/>
              <a:sym typeface="Open Sans"/>
            </a:endParaRPr>
          </a:p>
        </p:txBody>
      </p:sp>
      <p:sp>
        <p:nvSpPr>
          <p:cNvPr id="361" name="Google Shape;361;p32"/>
          <p:cNvSpPr/>
          <p:nvPr/>
        </p:nvSpPr>
        <p:spPr>
          <a:xfrm>
            <a:off x="3924500" y="4049175"/>
            <a:ext cx="4510500" cy="882600"/>
          </a:xfrm>
          <a:prstGeom prst="roundRect">
            <a:avLst>
              <a:gd name="adj" fmla="val 5242"/>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3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Semi-Supervised Learning on Mini-Imagenet</a:t>
            </a:r>
            <a:endParaRPr/>
          </a:p>
        </p:txBody>
      </p:sp>
      <p:sp>
        <p:nvSpPr>
          <p:cNvPr id="367" name="Google Shape;367;p33"/>
          <p:cNvSpPr txBox="1"/>
          <p:nvPr/>
        </p:nvSpPr>
        <p:spPr>
          <a:xfrm>
            <a:off x="311700" y="2265050"/>
            <a:ext cx="6323100" cy="10206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sz="1200" i="1">
                <a:latin typeface="Open Sans"/>
                <a:ea typeface="Open Sans"/>
                <a:cs typeface="Open Sans"/>
                <a:sym typeface="Open Sans"/>
              </a:rPr>
              <a:t>Key insights:</a:t>
            </a:r>
            <a:endParaRPr sz="1200" i="1">
              <a:latin typeface="Open Sans"/>
              <a:ea typeface="Open Sans"/>
              <a:cs typeface="Open Sans"/>
              <a:sym typeface="Open Sans"/>
            </a:endParaRPr>
          </a:p>
          <a:p>
            <a:pPr marL="457200" lvl="0" indent="-304800" algn="l" rtl="0">
              <a:lnSpc>
                <a:spcPct val="150000"/>
              </a:lnSpc>
              <a:spcBef>
                <a:spcPts val="0"/>
              </a:spcBef>
              <a:spcAft>
                <a:spcPts val="0"/>
              </a:spcAft>
              <a:buSzPts val="1200"/>
              <a:buFont typeface="Open Sans"/>
              <a:buAutoNum type="arabicPeriod"/>
            </a:pPr>
            <a:r>
              <a:rPr lang="en" sz="1200">
                <a:latin typeface="Open Sans"/>
                <a:ea typeface="Open Sans"/>
                <a:cs typeface="Open Sans"/>
                <a:sym typeface="Open Sans"/>
              </a:rPr>
              <a:t>The semi-supervised approach </a:t>
            </a:r>
            <a:r>
              <a:rPr lang="en" sz="1200" b="1">
                <a:solidFill>
                  <a:srgbClr val="6AA84F"/>
                </a:solidFill>
                <a:latin typeface="Open Sans"/>
                <a:ea typeface="Open Sans"/>
                <a:cs typeface="Open Sans"/>
                <a:sym typeface="Open Sans"/>
              </a:rPr>
              <a:t>improves GNN performance</a:t>
            </a:r>
            <a:r>
              <a:rPr lang="en" sz="1200">
                <a:solidFill>
                  <a:srgbClr val="6AA84F"/>
                </a:solidFill>
                <a:latin typeface="Open Sans"/>
                <a:ea typeface="Open Sans"/>
                <a:cs typeface="Open Sans"/>
                <a:sym typeface="Open Sans"/>
              </a:rPr>
              <a:t> </a:t>
            </a:r>
            <a:r>
              <a:rPr lang="en" sz="1200">
                <a:latin typeface="Open Sans"/>
                <a:ea typeface="Open Sans"/>
                <a:cs typeface="Open Sans"/>
                <a:sym typeface="Open Sans"/>
              </a:rPr>
              <a:t>by ~2% in the 20% and 40% cases.</a:t>
            </a:r>
            <a:endParaRPr sz="1200">
              <a:latin typeface="Open Sans"/>
              <a:ea typeface="Open Sans"/>
              <a:cs typeface="Open Sans"/>
              <a:sym typeface="Open Sans"/>
            </a:endParaRPr>
          </a:p>
        </p:txBody>
      </p:sp>
      <p:grpSp>
        <p:nvGrpSpPr>
          <p:cNvPr id="368" name="Google Shape;368;p33"/>
          <p:cNvGrpSpPr/>
          <p:nvPr/>
        </p:nvGrpSpPr>
        <p:grpSpPr>
          <a:xfrm>
            <a:off x="227025" y="3778644"/>
            <a:ext cx="8774600" cy="1136981"/>
            <a:chOff x="227025" y="3016644"/>
            <a:chExt cx="8774600" cy="1136981"/>
          </a:xfrm>
        </p:grpSpPr>
        <p:pic>
          <p:nvPicPr>
            <p:cNvPr id="369" name="Google Shape;369;p33"/>
            <p:cNvPicPr preferRelativeResize="0"/>
            <p:nvPr/>
          </p:nvPicPr>
          <p:blipFill rotWithShape="1">
            <a:blip r:embed="rId3">
              <a:alphaModFix/>
            </a:blip>
            <a:srcRect l="4430" t="54686" r="4585" b="20332"/>
            <a:stretch/>
          </p:blipFill>
          <p:spPr>
            <a:xfrm>
              <a:off x="227025" y="3016644"/>
              <a:ext cx="8689949" cy="1000698"/>
            </a:xfrm>
            <a:prstGeom prst="rect">
              <a:avLst/>
            </a:prstGeom>
            <a:noFill/>
            <a:ln>
              <a:noFill/>
            </a:ln>
          </p:spPr>
        </p:pic>
        <p:sp>
          <p:nvSpPr>
            <p:cNvPr id="370" name="Google Shape;370;p33"/>
            <p:cNvSpPr/>
            <p:nvPr/>
          </p:nvSpPr>
          <p:spPr>
            <a:xfrm>
              <a:off x="231425" y="3063450"/>
              <a:ext cx="3325200" cy="10338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3"/>
            <p:cNvSpPr/>
            <p:nvPr/>
          </p:nvSpPr>
          <p:spPr>
            <a:xfrm>
              <a:off x="3556625" y="3063450"/>
              <a:ext cx="3325200" cy="1737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3"/>
            <p:cNvSpPr/>
            <p:nvPr/>
          </p:nvSpPr>
          <p:spPr>
            <a:xfrm>
              <a:off x="6825425" y="3063450"/>
              <a:ext cx="2176200" cy="10008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3"/>
            <p:cNvSpPr/>
            <p:nvPr/>
          </p:nvSpPr>
          <p:spPr>
            <a:xfrm>
              <a:off x="5122875" y="3152825"/>
              <a:ext cx="136200" cy="1000800"/>
            </a:xfrm>
            <a:prstGeom prst="rect">
              <a:avLst/>
            </a:prstGeom>
            <a:solidFill>
              <a:srgbClr val="FFFFFF">
                <a:alpha val="917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3556575" y="3237125"/>
              <a:ext cx="1566300" cy="8322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5259137" y="3237125"/>
              <a:ext cx="1566300" cy="8322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6" name="Google Shape;376;p33"/>
          <p:cNvSpPr txBox="1"/>
          <p:nvPr/>
        </p:nvSpPr>
        <p:spPr>
          <a:xfrm>
            <a:off x="311700" y="1045850"/>
            <a:ext cx="8520600" cy="914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latin typeface="Open Sans"/>
                <a:ea typeface="Open Sans"/>
                <a:cs typeface="Open Sans"/>
                <a:sym typeface="Open Sans"/>
              </a:rPr>
              <a:t>Experiment objective: Determine performance gap between two models:</a:t>
            </a:r>
            <a:endParaRPr i="1">
              <a:latin typeface="Open Sans"/>
              <a:ea typeface="Open Sans"/>
              <a:cs typeface="Open Sans"/>
              <a:sym typeface="Open Sans"/>
            </a:endParaRPr>
          </a:p>
          <a:p>
            <a:pPr marL="457200" lvl="0" indent="-292100" algn="l" rtl="0">
              <a:lnSpc>
                <a:spcPct val="150000"/>
              </a:lnSpc>
              <a:spcBef>
                <a:spcPts val="0"/>
              </a:spcBef>
              <a:spcAft>
                <a:spcPts val="0"/>
              </a:spcAft>
              <a:buClr>
                <a:srgbClr val="666666"/>
              </a:buClr>
              <a:buSzPts val="1000"/>
              <a:buFont typeface="Open Sans"/>
              <a:buAutoNum type="arabicPeriod"/>
            </a:pPr>
            <a:r>
              <a:rPr lang="en" sz="1000">
                <a:solidFill>
                  <a:srgbClr val="666666"/>
                </a:solidFill>
                <a:latin typeface="Open Sans"/>
                <a:ea typeface="Open Sans"/>
                <a:cs typeface="Open Sans"/>
                <a:sym typeface="Open Sans"/>
              </a:rPr>
              <a:t>“</a:t>
            </a:r>
            <a:r>
              <a:rPr lang="en" sz="1000" b="1">
                <a:solidFill>
                  <a:srgbClr val="666666"/>
                </a:solidFill>
                <a:latin typeface="Open Sans"/>
                <a:ea typeface="Open Sans"/>
                <a:cs typeface="Open Sans"/>
                <a:sym typeface="Open Sans"/>
              </a:rPr>
              <a:t>GNN - Trained only with labeled</a:t>
            </a:r>
            <a:r>
              <a:rPr lang="en" sz="1000">
                <a:solidFill>
                  <a:srgbClr val="666666"/>
                </a:solidFill>
                <a:latin typeface="Open Sans"/>
                <a:ea typeface="Open Sans"/>
                <a:cs typeface="Open Sans"/>
                <a:sym typeface="Open Sans"/>
              </a:rPr>
              <a:t>” := supervised few-shot setting. </a:t>
            </a:r>
            <a:endParaRPr sz="1000">
              <a:solidFill>
                <a:srgbClr val="666666"/>
              </a:solidFill>
              <a:latin typeface="Open Sans"/>
              <a:ea typeface="Open Sans"/>
              <a:cs typeface="Open Sans"/>
              <a:sym typeface="Open Sans"/>
            </a:endParaRPr>
          </a:p>
          <a:p>
            <a:pPr marL="457200" lvl="0" indent="0" algn="l" rtl="0">
              <a:lnSpc>
                <a:spcPct val="150000"/>
              </a:lnSpc>
              <a:spcBef>
                <a:spcPts val="0"/>
              </a:spcBef>
              <a:spcAft>
                <a:spcPts val="0"/>
              </a:spcAft>
              <a:buNone/>
            </a:pPr>
            <a:r>
              <a:rPr lang="en" sz="1000" i="1">
                <a:solidFill>
                  <a:srgbClr val="666666"/>
                </a:solidFill>
                <a:latin typeface="Open Sans"/>
                <a:ea typeface="Open Sans"/>
                <a:cs typeface="Open Sans"/>
                <a:sym typeface="Open Sans"/>
              </a:rPr>
              <a:t>5-way, 5-shot, 20%-labeled setting: equivalent to the 5-way, 1-shot learning setting.</a:t>
            </a:r>
            <a:endParaRPr sz="1000" i="1">
              <a:solidFill>
                <a:srgbClr val="666666"/>
              </a:solidFill>
              <a:latin typeface="Open Sans"/>
              <a:ea typeface="Open Sans"/>
              <a:cs typeface="Open Sans"/>
              <a:sym typeface="Open Sans"/>
            </a:endParaRPr>
          </a:p>
          <a:p>
            <a:pPr marL="457200" lvl="0" indent="-292100" algn="l" rtl="0">
              <a:lnSpc>
                <a:spcPct val="150000"/>
              </a:lnSpc>
              <a:spcBef>
                <a:spcPts val="0"/>
              </a:spcBef>
              <a:spcAft>
                <a:spcPts val="0"/>
              </a:spcAft>
              <a:buClr>
                <a:srgbClr val="666666"/>
              </a:buClr>
              <a:buSzPts val="1000"/>
              <a:buFont typeface="Open Sans"/>
              <a:buAutoNum type="arabicPeriod"/>
            </a:pPr>
            <a:r>
              <a:rPr lang="en" sz="1000">
                <a:solidFill>
                  <a:srgbClr val="666666"/>
                </a:solidFill>
                <a:latin typeface="Open Sans"/>
                <a:ea typeface="Open Sans"/>
                <a:cs typeface="Open Sans"/>
                <a:sym typeface="Open Sans"/>
              </a:rPr>
              <a:t>“</a:t>
            </a:r>
            <a:r>
              <a:rPr lang="en" sz="1000" b="1">
                <a:solidFill>
                  <a:srgbClr val="666666"/>
                </a:solidFill>
                <a:latin typeface="Open Sans"/>
                <a:ea typeface="Open Sans"/>
                <a:cs typeface="Open Sans"/>
                <a:sym typeface="Open Sans"/>
              </a:rPr>
              <a:t>GNN - Semi supervised</a:t>
            </a:r>
            <a:r>
              <a:rPr lang="en" sz="1000">
                <a:solidFill>
                  <a:srgbClr val="666666"/>
                </a:solidFill>
                <a:latin typeface="Open Sans"/>
                <a:ea typeface="Open Sans"/>
                <a:cs typeface="Open Sans"/>
                <a:sym typeface="Open Sans"/>
              </a:rPr>
              <a:t>” := semi-supervised method.</a:t>
            </a:r>
            <a:endParaRPr sz="1000">
              <a:solidFill>
                <a:srgbClr val="666666"/>
              </a:solidFill>
              <a:latin typeface="Open Sans"/>
              <a:ea typeface="Open Sans"/>
              <a:cs typeface="Open Sans"/>
              <a:sym typeface="Open Sans"/>
            </a:endParaRPr>
          </a:p>
          <a:p>
            <a:pPr marL="457200" lvl="0" indent="0" algn="l" rtl="0">
              <a:lnSpc>
                <a:spcPct val="150000"/>
              </a:lnSpc>
              <a:spcBef>
                <a:spcPts val="0"/>
              </a:spcBef>
              <a:spcAft>
                <a:spcPts val="0"/>
              </a:spcAft>
              <a:buNone/>
            </a:pPr>
            <a:r>
              <a:rPr lang="en" sz="1000" i="1">
                <a:solidFill>
                  <a:srgbClr val="666666"/>
                </a:solidFill>
                <a:latin typeface="Open Sans"/>
                <a:ea typeface="Open Sans"/>
                <a:cs typeface="Open Sans"/>
                <a:sym typeface="Open Sans"/>
              </a:rPr>
              <a:t>5-way, 5-shot, 20%-labeled setting: GNN receives as input 1 labeled, 4 unlabeled samples per class.</a:t>
            </a:r>
            <a:endParaRPr sz="1000">
              <a:solidFill>
                <a:srgbClr val="666666"/>
              </a:solidFill>
              <a:latin typeface="Open Sans"/>
              <a:ea typeface="Open Sans"/>
              <a:cs typeface="Open Sans"/>
              <a:sym typeface="Open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34"/>
          <p:cNvSpPr/>
          <p:nvPr/>
        </p:nvSpPr>
        <p:spPr>
          <a:xfrm>
            <a:off x="4583850" y="2036475"/>
            <a:ext cx="4572000" cy="3107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4"/>
          <p:cNvSpPr/>
          <p:nvPr/>
        </p:nvSpPr>
        <p:spPr>
          <a:xfrm>
            <a:off x="0" y="2036450"/>
            <a:ext cx="4554300" cy="31071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Active Learning</a:t>
            </a:r>
            <a:endParaRPr/>
          </a:p>
        </p:txBody>
      </p:sp>
      <p:pic>
        <p:nvPicPr>
          <p:cNvPr id="384" name="Google Shape;384;p34"/>
          <p:cNvPicPr preferRelativeResize="0"/>
          <p:nvPr/>
        </p:nvPicPr>
        <p:blipFill rotWithShape="1">
          <a:blip r:embed="rId3">
            <a:alphaModFix/>
          </a:blip>
          <a:srcRect b="60617"/>
          <a:stretch/>
        </p:blipFill>
        <p:spPr>
          <a:xfrm>
            <a:off x="152400" y="3776600"/>
            <a:ext cx="8839200" cy="903025"/>
          </a:xfrm>
          <a:prstGeom prst="rect">
            <a:avLst/>
          </a:prstGeom>
          <a:noFill/>
          <a:ln>
            <a:noFill/>
          </a:ln>
        </p:spPr>
      </p:pic>
      <p:sp>
        <p:nvSpPr>
          <p:cNvPr id="385" name="Google Shape;385;p34"/>
          <p:cNvSpPr txBox="1"/>
          <p:nvPr/>
        </p:nvSpPr>
        <p:spPr>
          <a:xfrm>
            <a:off x="311700" y="1045850"/>
            <a:ext cx="8520600" cy="9144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i="1">
                <a:latin typeface="Open Sans"/>
                <a:ea typeface="Open Sans"/>
                <a:cs typeface="Open Sans"/>
                <a:sym typeface="Open Sans"/>
              </a:rPr>
              <a:t>Experiment objective: Determine performance gap between two active learning methods:</a:t>
            </a:r>
            <a:endParaRPr i="1">
              <a:latin typeface="Open Sans"/>
              <a:ea typeface="Open Sans"/>
              <a:cs typeface="Open Sans"/>
              <a:sym typeface="Open Sans"/>
            </a:endParaRPr>
          </a:p>
          <a:p>
            <a:pPr marL="457200" lvl="0" indent="-292100" algn="l" rtl="0">
              <a:lnSpc>
                <a:spcPct val="150000"/>
              </a:lnSpc>
              <a:spcBef>
                <a:spcPts val="0"/>
              </a:spcBef>
              <a:spcAft>
                <a:spcPts val="0"/>
              </a:spcAft>
              <a:buClr>
                <a:srgbClr val="666666"/>
              </a:buClr>
              <a:buSzPts val="1000"/>
              <a:buFont typeface="Open Sans"/>
              <a:buAutoNum type="arabicPeriod"/>
            </a:pPr>
            <a:r>
              <a:rPr lang="en" sz="1000">
                <a:solidFill>
                  <a:srgbClr val="666666"/>
                </a:solidFill>
                <a:latin typeface="Open Sans"/>
                <a:ea typeface="Open Sans"/>
                <a:cs typeface="Open Sans"/>
                <a:sym typeface="Open Sans"/>
              </a:rPr>
              <a:t>“</a:t>
            </a:r>
            <a:r>
              <a:rPr lang="en" sz="1000" b="1">
                <a:solidFill>
                  <a:srgbClr val="666666"/>
                </a:solidFill>
                <a:latin typeface="Open Sans"/>
                <a:ea typeface="Open Sans"/>
                <a:cs typeface="Open Sans"/>
                <a:sym typeface="Open Sans"/>
              </a:rPr>
              <a:t>GNN - AL</a:t>
            </a:r>
            <a:r>
              <a:rPr lang="en" sz="1000">
                <a:solidFill>
                  <a:srgbClr val="666666"/>
                </a:solidFill>
                <a:latin typeface="Open Sans"/>
                <a:ea typeface="Open Sans"/>
                <a:cs typeface="Open Sans"/>
                <a:sym typeface="Open Sans"/>
              </a:rPr>
              <a:t>” := </a:t>
            </a:r>
            <a:r>
              <a:rPr lang="en" sz="1000" i="1">
                <a:solidFill>
                  <a:srgbClr val="666666"/>
                </a:solidFill>
                <a:latin typeface="Open Sans"/>
                <a:ea typeface="Open Sans"/>
                <a:cs typeface="Open Sans"/>
                <a:sym typeface="Open Sans"/>
              </a:rPr>
              <a:t>Active learning; selects the unsupervised sample that has the highest attention score.</a:t>
            </a:r>
            <a:endParaRPr sz="1000" i="1">
              <a:solidFill>
                <a:srgbClr val="666666"/>
              </a:solidFill>
              <a:latin typeface="Open Sans"/>
              <a:ea typeface="Open Sans"/>
              <a:cs typeface="Open Sans"/>
              <a:sym typeface="Open Sans"/>
            </a:endParaRPr>
          </a:p>
          <a:p>
            <a:pPr marL="457200" lvl="0" indent="-292100" algn="l" rtl="0">
              <a:lnSpc>
                <a:spcPct val="150000"/>
              </a:lnSpc>
              <a:spcBef>
                <a:spcPts val="0"/>
              </a:spcBef>
              <a:spcAft>
                <a:spcPts val="0"/>
              </a:spcAft>
              <a:buClr>
                <a:srgbClr val="666666"/>
              </a:buClr>
              <a:buSzPts val="1000"/>
              <a:buFont typeface="Open Sans"/>
              <a:buAutoNum type="arabicPeriod"/>
            </a:pPr>
            <a:r>
              <a:rPr lang="en" sz="1000">
                <a:solidFill>
                  <a:srgbClr val="666666"/>
                </a:solidFill>
                <a:latin typeface="Open Sans"/>
                <a:ea typeface="Open Sans"/>
                <a:cs typeface="Open Sans"/>
                <a:sym typeface="Open Sans"/>
              </a:rPr>
              <a:t>“</a:t>
            </a:r>
            <a:r>
              <a:rPr lang="en" sz="1000" b="1">
                <a:solidFill>
                  <a:srgbClr val="666666"/>
                </a:solidFill>
                <a:latin typeface="Open Sans"/>
                <a:ea typeface="Open Sans"/>
                <a:cs typeface="Open Sans"/>
                <a:sym typeface="Open Sans"/>
              </a:rPr>
              <a:t>GNN - Random</a:t>
            </a:r>
            <a:r>
              <a:rPr lang="en" sz="1000">
                <a:solidFill>
                  <a:srgbClr val="666666"/>
                </a:solidFill>
                <a:latin typeface="Open Sans"/>
                <a:ea typeface="Open Sans"/>
                <a:cs typeface="Open Sans"/>
                <a:sym typeface="Open Sans"/>
              </a:rPr>
              <a:t>” := </a:t>
            </a:r>
            <a:r>
              <a:rPr lang="en" sz="1000" i="1">
                <a:solidFill>
                  <a:srgbClr val="666666"/>
                </a:solidFill>
                <a:latin typeface="Open Sans"/>
                <a:ea typeface="Open Sans"/>
                <a:cs typeface="Open Sans"/>
                <a:sym typeface="Open Sans"/>
              </a:rPr>
              <a:t>Randomly selects samples.</a:t>
            </a:r>
            <a:endParaRPr sz="1000" i="1">
              <a:solidFill>
                <a:srgbClr val="666666"/>
              </a:solidFill>
              <a:latin typeface="Open Sans"/>
              <a:ea typeface="Open Sans"/>
              <a:cs typeface="Open Sans"/>
              <a:sym typeface="Open Sans"/>
            </a:endParaRPr>
          </a:p>
          <a:p>
            <a:pPr marL="0" lvl="0" indent="0" algn="l" rtl="0">
              <a:lnSpc>
                <a:spcPct val="150000"/>
              </a:lnSpc>
              <a:spcBef>
                <a:spcPts val="0"/>
              </a:spcBef>
              <a:spcAft>
                <a:spcPts val="0"/>
              </a:spcAft>
              <a:buNone/>
            </a:pPr>
            <a:endParaRPr sz="1000">
              <a:solidFill>
                <a:srgbClr val="666666"/>
              </a:solidFill>
              <a:latin typeface="Open Sans"/>
              <a:ea typeface="Open Sans"/>
              <a:cs typeface="Open Sans"/>
              <a:sym typeface="Open Sans"/>
            </a:endParaRPr>
          </a:p>
        </p:txBody>
      </p:sp>
      <p:sp>
        <p:nvSpPr>
          <p:cNvPr id="386" name="Google Shape;386;p34"/>
          <p:cNvSpPr txBox="1"/>
          <p:nvPr/>
        </p:nvSpPr>
        <p:spPr>
          <a:xfrm>
            <a:off x="311700" y="2036450"/>
            <a:ext cx="3726900" cy="1740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None/>
            </a:pPr>
            <a:r>
              <a:rPr lang="en" b="1" i="1">
                <a:latin typeface="Open Sans"/>
                <a:ea typeface="Open Sans"/>
                <a:cs typeface="Open Sans"/>
                <a:sym typeface="Open Sans"/>
              </a:rPr>
              <a:t>Omniglot</a:t>
            </a:r>
            <a:endParaRPr b="1" i="1">
              <a:latin typeface="Open Sans"/>
              <a:ea typeface="Open Sans"/>
              <a:cs typeface="Open Sans"/>
              <a:sym typeface="Open Sans"/>
            </a:endParaRPr>
          </a:p>
          <a:p>
            <a:pPr marL="0" lvl="0" indent="0" algn="l" rtl="0">
              <a:lnSpc>
                <a:spcPct val="150000"/>
              </a:lnSpc>
              <a:spcBef>
                <a:spcPts val="0"/>
              </a:spcBef>
              <a:spcAft>
                <a:spcPts val="0"/>
              </a:spcAft>
              <a:buNone/>
            </a:pPr>
            <a:r>
              <a:rPr lang="en" sz="1000" i="1">
                <a:latin typeface="Open Sans"/>
                <a:ea typeface="Open Sans"/>
                <a:cs typeface="Open Sans"/>
                <a:sym typeface="Open Sans"/>
              </a:rPr>
              <a:t>Key insights</a:t>
            </a:r>
            <a:endParaRPr sz="1000" i="1">
              <a:latin typeface="Open Sans"/>
              <a:ea typeface="Open Sans"/>
              <a:cs typeface="Open Sans"/>
              <a:sym typeface="Open Sans"/>
            </a:endParaRPr>
          </a:p>
          <a:p>
            <a:pPr marL="457200" lvl="0" indent="-292100" algn="l" rtl="0">
              <a:lnSpc>
                <a:spcPct val="150000"/>
              </a:lnSpc>
              <a:spcBef>
                <a:spcPts val="0"/>
              </a:spcBef>
              <a:spcAft>
                <a:spcPts val="0"/>
              </a:spcAft>
              <a:buSzPts val="1000"/>
              <a:buFont typeface="Open Sans"/>
              <a:buAutoNum type="arabicPeriod"/>
            </a:pPr>
            <a:r>
              <a:rPr lang="en" sz="1000" b="1">
                <a:solidFill>
                  <a:srgbClr val="9900FF"/>
                </a:solidFill>
                <a:latin typeface="Open Sans"/>
                <a:ea typeface="Open Sans"/>
                <a:cs typeface="Open Sans"/>
                <a:sym typeface="Open Sans"/>
              </a:rPr>
              <a:t>Performance is saturated with only a single labeled image</a:t>
            </a:r>
            <a:r>
              <a:rPr lang="en" sz="1000" b="1">
                <a:latin typeface="Open Sans"/>
                <a:ea typeface="Open Sans"/>
                <a:cs typeface="Open Sans"/>
                <a:sym typeface="Open Sans"/>
              </a:rPr>
              <a:t> </a:t>
            </a:r>
            <a:r>
              <a:rPr lang="en" sz="1000">
                <a:latin typeface="Open Sans"/>
                <a:ea typeface="Open Sans"/>
                <a:cs typeface="Open Sans"/>
                <a:sym typeface="Open Sans"/>
              </a:rPr>
              <a:t>(i.e. 5-way 1-shot)</a:t>
            </a:r>
            <a:endParaRPr sz="1000">
              <a:latin typeface="Open Sans"/>
              <a:ea typeface="Open Sans"/>
              <a:cs typeface="Open Sans"/>
              <a:sym typeface="Open Sans"/>
            </a:endParaRPr>
          </a:p>
          <a:p>
            <a:pPr marL="457200" lvl="0" indent="-292100" algn="l" rtl="0">
              <a:lnSpc>
                <a:spcPct val="150000"/>
              </a:lnSpc>
              <a:spcBef>
                <a:spcPts val="0"/>
              </a:spcBef>
              <a:spcAft>
                <a:spcPts val="0"/>
              </a:spcAft>
              <a:buSzPts val="1000"/>
              <a:buFont typeface="Open Sans"/>
              <a:buAutoNum type="arabicPeriod"/>
            </a:pPr>
            <a:r>
              <a:rPr lang="en" sz="1000">
                <a:latin typeface="Open Sans"/>
                <a:ea typeface="Open Sans"/>
                <a:cs typeface="Open Sans"/>
                <a:sym typeface="Open Sans"/>
              </a:rPr>
              <a:t>Performance with 1 additional labeled image chosen at random is</a:t>
            </a:r>
            <a:r>
              <a:rPr lang="en" sz="1000" b="1">
                <a:latin typeface="Open Sans"/>
                <a:ea typeface="Open Sans"/>
                <a:cs typeface="Open Sans"/>
                <a:sym typeface="Open Sans"/>
              </a:rPr>
              <a:t> </a:t>
            </a:r>
            <a:r>
              <a:rPr lang="en" sz="1000" b="1">
                <a:solidFill>
                  <a:srgbClr val="FF9900"/>
                </a:solidFill>
                <a:latin typeface="Open Sans"/>
                <a:ea typeface="Open Sans"/>
                <a:cs typeface="Open Sans"/>
                <a:sym typeface="Open Sans"/>
              </a:rPr>
              <a:t>the same as without </a:t>
            </a:r>
            <a:r>
              <a:rPr lang="en" sz="1000">
                <a:latin typeface="Open Sans"/>
                <a:ea typeface="Open Sans"/>
                <a:cs typeface="Open Sans"/>
                <a:sym typeface="Open Sans"/>
              </a:rPr>
              <a:t>(99.59%)</a:t>
            </a:r>
            <a:endParaRPr sz="1000">
              <a:latin typeface="Open Sans"/>
              <a:ea typeface="Open Sans"/>
              <a:cs typeface="Open Sans"/>
              <a:sym typeface="Open Sans"/>
            </a:endParaRPr>
          </a:p>
          <a:p>
            <a:pPr marL="0" lvl="0" indent="0" algn="l" rtl="0">
              <a:lnSpc>
                <a:spcPct val="150000"/>
              </a:lnSpc>
              <a:spcBef>
                <a:spcPts val="0"/>
              </a:spcBef>
              <a:spcAft>
                <a:spcPts val="0"/>
              </a:spcAft>
              <a:buNone/>
            </a:pPr>
            <a:endParaRPr sz="1000">
              <a:solidFill>
                <a:srgbClr val="666666"/>
              </a:solidFill>
              <a:latin typeface="Open Sans"/>
              <a:ea typeface="Open Sans"/>
              <a:cs typeface="Open Sans"/>
              <a:sym typeface="Open Sans"/>
            </a:endParaRPr>
          </a:p>
        </p:txBody>
      </p:sp>
      <p:sp>
        <p:nvSpPr>
          <p:cNvPr id="387" name="Google Shape;387;p34"/>
          <p:cNvSpPr txBox="1"/>
          <p:nvPr/>
        </p:nvSpPr>
        <p:spPr>
          <a:xfrm>
            <a:off x="4572000" y="2036450"/>
            <a:ext cx="3726900" cy="17403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chemeClr val="dk1"/>
              </a:buClr>
              <a:buSzPts val="1100"/>
              <a:buFont typeface="Arial"/>
              <a:buNone/>
            </a:pPr>
            <a:r>
              <a:rPr lang="en" b="1" i="1">
                <a:solidFill>
                  <a:schemeClr val="dk1"/>
                </a:solidFill>
                <a:latin typeface="Open Sans"/>
                <a:ea typeface="Open Sans"/>
                <a:cs typeface="Open Sans"/>
                <a:sym typeface="Open Sans"/>
              </a:rPr>
              <a:t>Mini-Imagenet</a:t>
            </a:r>
            <a:endParaRPr b="1" i="1">
              <a:solidFill>
                <a:schemeClr val="dk1"/>
              </a:solidFill>
              <a:latin typeface="Open Sans"/>
              <a:ea typeface="Open Sans"/>
              <a:cs typeface="Open Sans"/>
              <a:sym typeface="Open Sans"/>
            </a:endParaRPr>
          </a:p>
          <a:p>
            <a:pPr marL="0" lvl="0" indent="0" algn="l" rtl="0">
              <a:lnSpc>
                <a:spcPct val="150000"/>
              </a:lnSpc>
              <a:spcBef>
                <a:spcPts val="0"/>
              </a:spcBef>
              <a:spcAft>
                <a:spcPts val="0"/>
              </a:spcAft>
              <a:buClr>
                <a:schemeClr val="dk1"/>
              </a:buClr>
              <a:buSzPts val="1100"/>
              <a:buFont typeface="Arial"/>
              <a:buNone/>
            </a:pPr>
            <a:r>
              <a:rPr lang="en" sz="1000" i="1">
                <a:solidFill>
                  <a:schemeClr val="dk1"/>
                </a:solidFill>
                <a:latin typeface="Open Sans"/>
                <a:ea typeface="Open Sans"/>
                <a:cs typeface="Open Sans"/>
                <a:sym typeface="Open Sans"/>
              </a:rPr>
              <a:t>Key insights</a:t>
            </a:r>
            <a:endParaRPr sz="1000" i="1">
              <a:solidFill>
                <a:schemeClr val="dk1"/>
              </a:solidFill>
              <a:latin typeface="Open Sans"/>
              <a:ea typeface="Open Sans"/>
              <a:cs typeface="Open Sans"/>
              <a:sym typeface="Open Sans"/>
            </a:endParaRPr>
          </a:p>
          <a:p>
            <a:pPr marL="457200" lvl="0" indent="-292100" algn="l" rtl="0">
              <a:lnSpc>
                <a:spcPct val="150000"/>
              </a:lnSpc>
              <a:spcBef>
                <a:spcPts val="0"/>
              </a:spcBef>
              <a:spcAft>
                <a:spcPts val="0"/>
              </a:spcAft>
              <a:buClr>
                <a:schemeClr val="dk1"/>
              </a:buClr>
              <a:buSzPts val="1000"/>
              <a:buFont typeface="Open Sans"/>
              <a:buAutoNum type="arabicPeriod"/>
            </a:pPr>
            <a:r>
              <a:rPr lang="en" sz="1000">
                <a:solidFill>
                  <a:schemeClr val="dk1"/>
                </a:solidFill>
                <a:latin typeface="Open Sans"/>
                <a:ea typeface="Open Sans"/>
                <a:cs typeface="Open Sans"/>
                <a:sym typeface="Open Sans"/>
              </a:rPr>
              <a:t>AL approach </a:t>
            </a:r>
            <a:r>
              <a:rPr lang="en" sz="1000" b="1">
                <a:solidFill>
                  <a:srgbClr val="6AA84F"/>
                </a:solidFill>
                <a:latin typeface="Open Sans"/>
                <a:ea typeface="Open Sans"/>
                <a:cs typeface="Open Sans"/>
                <a:sym typeface="Open Sans"/>
              </a:rPr>
              <a:t>improves GNN performance</a:t>
            </a:r>
            <a:r>
              <a:rPr lang="en" sz="1000">
                <a:solidFill>
                  <a:schemeClr val="dk1"/>
                </a:solidFill>
                <a:latin typeface="Open Sans"/>
                <a:ea typeface="Open Sans"/>
                <a:cs typeface="Open Sans"/>
                <a:sym typeface="Open Sans"/>
              </a:rPr>
              <a:t> by ~3%</a:t>
            </a:r>
            <a:endParaRPr sz="1000">
              <a:solidFill>
                <a:schemeClr val="dk1"/>
              </a:solidFill>
              <a:latin typeface="Open Sans"/>
              <a:ea typeface="Open Sans"/>
              <a:cs typeface="Open Sans"/>
              <a:sym typeface="Open Sans"/>
            </a:endParaRPr>
          </a:p>
          <a:p>
            <a:pPr marL="0" lvl="0" indent="0" algn="l" rtl="0">
              <a:lnSpc>
                <a:spcPct val="150000"/>
              </a:lnSpc>
              <a:spcBef>
                <a:spcPts val="0"/>
              </a:spcBef>
              <a:spcAft>
                <a:spcPts val="0"/>
              </a:spcAft>
              <a:buClr>
                <a:schemeClr val="dk1"/>
              </a:buClr>
              <a:buSzPts val="1100"/>
              <a:buFont typeface="Arial"/>
              <a:buNone/>
            </a:pPr>
            <a:endParaRPr sz="1000">
              <a:solidFill>
                <a:srgbClr val="666666"/>
              </a:solidFill>
              <a:latin typeface="Open Sans"/>
              <a:ea typeface="Open Sans"/>
              <a:cs typeface="Open Sans"/>
              <a:sym typeface="Open Sans"/>
            </a:endParaRPr>
          </a:p>
          <a:p>
            <a:pPr marL="0" lvl="0" indent="0" algn="l" rtl="0">
              <a:lnSpc>
                <a:spcPct val="150000"/>
              </a:lnSpc>
              <a:spcBef>
                <a:spcPts val="0"/>
              </a:spcBef>
              <a:spcAft>
                <a:spcPts val="0"/>
              </a:spcAft>
              <a:buNone/>
            </a:pPr>
            <a:endParaRPr b="1" i="1">
              <a:latin typeface="Open Sans"/>
              <a:ea typeface="Open Sans"/>
              <a:cs typeface="Open Sans"/>
              <a:sym typeface="Open Sans"/>
            </a:endParaRPr>
          </a:p>
        </p:txBody>
      </p:sp>
      <p:sp>
        <p:nvSpPr>
          <p:cNvPr id="388" name="Google Shape;388;p34"/>
          <p:cNvSpPr/>
          <p:nvPr/>
        </p:nvSpPr>
        <p:spPr>
          <a:xfrm>
            <a:off x="2744450" y="4065000"/>
            <a:ext cx="887100" cy="572700"/>
          </a:xfrm>
          <a:prstGeom prst="roundRect">
            <a:avLst>
              <a:gd name="adj" fmla="val 5242"/>
            </a:avLst>
          </a:prstGeom>
          <a:noFill/>
          <a:ln w="28575" cap="flat" cmpd="sng">
            <a:solidFill>
              <a:srgbClr val="E6913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4"/>
          <p:cNvSpPr/>
          <p:nvPr/>
        </p:nvSpPr>
        <p:spPr>
          <a:xfrm>
            <a:off x="2720568" y="4359230"/>
            <a:ext cx="887100" cy="287400"/>
          </a:xfrm>
          <a:prstGeom prst="roundRect">
            <a:avLst>
              <a:gd name="adj" fmla="val 5242"/>
            </a:avLst>
          </a:prstGeom>
          <a:noFill/>
          <a:ln w="28575"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4"/>
          <p:cNvSpPr/>
          <p:nvPr/>
        </p:nvSpPr>
        <p:spPr>
          <a:xfrm>
            <a:off x="4572000" y="4075825"/>
            <a:ext cx="3726900" cy="572700"/>
          </a:xfrm>
          <a:prstGeom prst="roundRect">
            <a:avLst>
              <a:gd name="adj" fmla="val 5242"/>
            </a:avLst>
          </a:prstGeom>
          <a:noFill/>
          <a:ln w="28575" cap="flat" cmpd="sng">
            <a:solidFill>
              <a:srgbClr val="6AA84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Strengths</a:t>
            </a:r>
            <a:endParaRPr/>
          </a:p>
        </p:txBody>
      </p:sp>
      <p:sp>
        <p:nvSpPr>
          <p:cNvPr id="396" name="Google Shape;396;p3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Match SOTA performance on Omniglot with much fewer parameters.</a:t>
            </a:r>
            <a:endParaRPr/>
          </a:p>
          <a:p>
            <a:pPr marL="457200" lvl="0" indent="-342900" algn="l" rtl="0">
              <a:spcBef>
                <a:spcPts val="0"/>
              </a:spcBef>
              <a:spcAft>
                <a:spcPts val="0"/>
              </a:spcAft>
              <a:buSzPts val="1800"/>
              <a:buChar char="●"/>
            </a:pPr>
            <a:r>
              <a:rPr lang="en"/>
              <a:t>The graph formulation is very generic and can be extended to several training setups (semi-supervised, active-learning)</a:t>
            </a:r>
            <a:endParaRPr/>
          </a:p>
          <a:p>
            <a:pPr marL="457200" lvl="0" indent="-342900" algn="l" rtl="0">
              <a:spcBef>
                <a:spcPts val="0"/>
              </a:spcBef>
              <a:spcAft>
                <a:spcPts val="0"/>
              </a:spcAft>
              <a:buSzPts val="1800"/>
              <a:buChar char="●"/>
            </a:pPr>
            <a:r>
              <a:rPr lang="en"/>
              <a:t>End-to-end graph conv and stacked adjacency learning on image-label embeddings are used efficiently to predict the label of an unseen image.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00"/>
        <p:cNvGrpSpPr/>
        <p:nvPr/>
      </p:nvGrpSpPr>
      <p:grpSpPr>
        <a:xfrm>
          <a:off x="0" y="0"/>
          <a:ext cx="0" cy="0"/>
          <a:chOff x="0" y="0"/>
          <a:chExt cx="0" cy="0"/>
        </a:xfrm>
      </p:grpSpPr>
      <p:sp>
        <p:nvSpPr>
          <p:cNvPr id="401" name="Google Shape;40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Limitations</a:t>
            </a:r>
            <a:endParaRPr/>
          </a:p>
        </p:txBody>
      </p:sp>
      <p:sp>
        <p:nvSpPr>
          <p:cNvPr id="402" name="Google Shape;402;p36"/>
          <p:cNvSpPr txBox="1">
            <a:spLocks noGrp="1"/>
          </p:cNvSpPr>
          <p:nvPr>
            <p:ph type="body" idx="1"/>
          </p:nvPr>
        </p:nvSpPr>
        <p:spPr>
          <a:xfrm>
            <a:off x="311700" y="1152475"/>
            <a:ext cx="8520600" cy="3936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en"/>
              <a:t>It only has SOTA experiment results on simple datasets - Omniglot, which is too simple &amp; saturated to draw conclusion on performance improvement.</a:t>
            </a:r>
            <a:endParaRPr/>
          </a:p>
          <a:p>
            <a:pPr marL="457200" lvl="0" indent="-342900" algn="l" rtl="0">
              <a:spcBef>
                <a:spcPts val="0"/>
              </a:spcBef>
              <a:spcAft>
                <a:spcPts val="0"/>
              </a:spcAft>
              <a:buSzPts val="1800"/>
              <a:buChar char="●"/>
            </a:pPr>
            <a:r>
              <a:rPr lang="en"/>
              <a:t>There is no discussion of the statistical significance of the semi-supervised nor active-learning performance improvements on the Omniglot dataset.</a:t>
            </a:r>
            <a:endParaRPr/>
          </a:p>
          <a:p>
            <a:pPr marL="457200" lvl="0" indent="-342900" algn="l" rtl="0">
              <a:spcBef>
                <a:spcPts val="0"/>
              </a:spcBef>
              <a:spcAft>
                <a:spcPts val="0"/>
              </a:spcAft>
              <a:buSzPts val="1800"/>
              <a:buChar char="●"/>
            </a:pPr>
            <a:r>
              <a:rPr lang="en"/>
              <a:t>More robust analysis on parameter count comparison and why GNN can be expressive with fewer parameters</a:t>
            </a:r>
            <a:endParaRPr/>
          </a:p>
          <a:p>
            <a:pPr marL="457200" lvl="0" indent="-342900" algn="l" rtl="0">
              <a:spcBef>
                <a:spcPts val="0"/>
              </a:spcBef>
              <a:spcAft>
                <a:spcPts val="0"/>
              </a:spcAft>
              <a:buSzPts val="1800"/>
              <a:buChar char="●"/>
            </a:pPr>
            <a:r>
              <a:rPr lang="en"/>
              <a:t>It could explain when we scale up the training to have much more classes or nodes, how it will affect GNN’s accuracy and runtime complexity.</a:t>
            </a:r>
            <a:endParaRPr/>
          </a:p>
          <a:p>
            <a:pPr marL="457200" lvl="0" indent="-342900" algn="l" rtl="0">
              <a:spcBef>
                <a:spcPts val="0"/>
              </a:spcBef>
              <a:spcAft>
                <a:spcPts val="0"/>
              </a:spcAft>
              <a:buSzPts val="1800"/>
              <a:buChar char="●"/>
            </a:pPr>
            <a:r>
              <a:rPr lang="en"/>
              <a:t>It is not entirely clear what is the contribution of the adjacency matrix and Graph Conv training to improvements in the performance. An ablation study could better clarify this.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06"/>
        <p:cNvGrpSpPr/>
        <p:nvPr/>
      </p:nvGrpSpPr>
      <p:grpSpPr>
        <a:xfrm>
          <a:off x="0" y="0"/>
          <a:ext cx="0" cy="0"/>
          <a:chOff x="0" y="0"/>
          <a:chExt cx="0" cy="0"/>
        </a:xfrm>
      </p:grpSpPr>
      <p:sp>
        <p:nvSpPr>
          <p:cNvPr id="407" name="Google Shape;407;p3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8" name="Google Shape;408;p37"/>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2"/>
        <p:cNvGrpSpPr/>
        <p:nvPr/>
      </p:nvGrpSpPr>
      <p:grpSpPr>
        <a:xfrm>
          <a:off x="0" y="0"/>
          <a:ext cx="0" cy="0"/>
          <a:chOff x="0" y="0"/>
          <a:chExt cx="0" cy="0"/>
        </a:xfrm>
      </p:grpSpPr>
      <p:sp>
        <p:nvSpPr>
          <p:cNvPr id="413" name="Google Shape;413;p3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Relationship with Existing Models</a:t>
            </a:r>
            <a:endParaRPr/>
          </a:p>
        </p:txBody>
      </p:sp>
      <p:sp>
        <p:nvSpPr>
          <p:cNvPr id="414" name="Google Shape;414;p3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endParaRPr/>
          </a:p>
          <a:p>
            <a:pPr marL="457200" lvl="0" indent="-342900" algn="l" rtl="0">
              <a:spcBef>
                <a:spcPts val="1600"/>
              </a:spcBef>
              <a:spcAft>
                <a:spcPts val="0"/>
              </a:spcAft>
              <a:buSzPts val="1800"/>
              <a:buChar char="●"/>
            </a:pPr>
            <a:r>
              <a:rPr lang="en"/>
              <a:t>Siamese Networks: Non-parametric.</a:t>
            </a:r>
            <a:endParaRPr/>
          </a:p>
          <a:p>
            <a:pPr marL="457200" lvl="0" indent="-342900" algn="l" rtl="0">
              <a:spcBef>
                <a:spcPts val="0"/>
              </a:spcBef>
              <a:spcAft>
                <a:spcPts val="0"/>
              </a:spcAft>
              <a:buSzPts val="1800"/>
              <a:buChar char="●"/>
            </a:pPr>
            <a:r>
              <a:rPr lang="en"/>
              <a:t>Prototypical Networks: Non-parametric.</a:t>
            </a:r>
            <a:endParaRPr/>
          </a:p>
          <a:p>
            <a:pPr marL="457200" lvl="0" indent="-342900" algn="l" rtl="0">
              <a:spcBef>
                <a:spcPts val="0"/>
              </a:spcBef>
              <a:spcAft>
                <a:spcPts val="0"/>
              </a:spcAft>
              <a:buSzPts val="1800"/>
              <a:buChar char="●"/>
            </a:pPr>
            <a:r>
              <a:rPr lang="en"/>
              <a:t>Matching Networks:</a:t>
            </a:r>
            <a:endParaRPr/>
          </a:p>
          <a:p>
            <a:pPr marL="914400" lvl="1" indent="-317500" algn="l" rtl="0">
              <a:spcBef>
                <a:spcPts val="0"/>
              </a:spcBef>
              <a:spcAft>
                <a:spcPts val="0"/>
              </a:spcAft>
              <a:buSzPts val="1400"/>
              <a:buChar char="○"/>
            </a:pPr>
            <a:r>
              <a:rPr lang="en"/>
              <a:t>the label and image fields are treated separately throughout the model aggregated only at the final step.</a:t>
            </a:r>
            <a:endParaRPr/>
          </a:p>
          <a:p>
            <a:pPr marL="914400" lvl="1" indent="-317500" algn="l" rtl="0">
              <a:spcBef>
                <a:spcPts val="0"/>
              </a:spcBef>
              <a:spcAft>
                <a:spcPts val="0"/>
              </a:spcAft>
              <a:buSzPts val="1400"/>
              <a:buChar char="○"/>
            </a:pPr>
            <a:r>
              <a:rPr lang="en"/>
              <a:t>Uses attention over support set features versus stacked adjacency matrix learning in GNN.</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1963</Words>
  <Application>Microsoft Macintosh PowerPoint</Application>
  <PresentationFormat>On-screen Show (16:9)</PresentationFormat>
  <Paragraphs>155</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Courier New</vt:lpstr>
      <vt:lpstr>Open Sans</vt:lpstr>
      <vt:lpstr>Simple Light</vt:lpstr>
      <vt:lpstr>Few-Shot Learning with Graph Neural Networks</vt:lpstr>
      <vt:lpstr>Problem</vt:lpstr>
      <vt:lpstr>Problem</vt:lpstr>
      <vt:lpstr>Problem</vt:lpstr>
      <vt:lpstr>Why Graphs?</vt:lpstr>
      <vt:lpstr>Why Graphs?</vt:lpstr>
      <vt:lpstr>Primary Contributions</vt:lpstr>
      <vt:lpstr>Problem Formulation </vt:lpstr>
      <vt:lpstr>GNN Model</vt:lpstr>
      <vt:lpstr>Problem Formulation  </vt:lpstr>
      <vt:lpstr>GNN Overview  </vt:lpstr>
      <vt:lpstr>GNN Overview  </vt:lpstr>
      <vt:lpstr>GNN Overview - Adjacency Matrix </vt:lpstr>
      <vt:lpstr>GNN Overview - Graph Conv  </vt:lpstr>
      <vt:lpstr>Architecture  </vt:lpstr>
      <vt:lpstr>Training</vt:lpstr>
      <vt:lpstr>Experiment Settings </vt:lpstr>
      <vt:lpstr>Few-Shot Learning on Omniglot </vt:lpstr>
      <vt:lpstr>Few-Shot Learning on Mini-Imagenet </vt:lpstr>
      <vt:lpstr>Semi-Supervised Learning on Omniglot</vt:lpstr>
      <vt:lpstr>Semi-Supervised Learning on Mini-Imagenet</vt:lpstr>
      <vt:lpstr>Active Learning</vt:lpstr>
      <vt:lpstr>Strengths</vt:lpstr>
      <vt:lpstr>Limitations</vt:lpstr>
      <vt:lpstr>PowerPoint Presentation</vt:lpstr>
      <vt:lpstr>Relationship with Existing Models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Few-Shot Learning with Graph Neural Networks</dc:title>
  <cp:lastModifiedBy>Abhishek Sinha</cp:lastModifiedBy>
  <cp:revision>1</cp:revision>
  <dcterms:modified xsi:type="dcterms:W3CDTF">2019-10-13T22:30:53Z</dcterms:modified>
</cp:coreProperties>
</file>