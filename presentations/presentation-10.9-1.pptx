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24"/>
  </p:normalViewPr>
  <p:slideViewPr>
    <p:cSldViewPr snapToGrid="0">
      <p:cViewPr varScale="1">
        <p:scale>
          <a:sx n="141" d="100"/>
          <a:sy n="141" d="100"/>
        </p:scale>
        <p:origin x="800"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Hello everyone, today we will introduce Meta-Learning with Latent Embedding Optimization as an extension to the MAML framework. This paper presents a novel modification to MAML, and we will dive deep into the motivation, modification and final results.</a:t>
            </a:r>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64c8b3bc36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64c8b3bc3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\mathcal{T}_i \sim p(\mathcal{T})</a:t>
            </a:r>
            <a:endParaRPr/>
          </a:p>
          <a:p>
            <a:pPr marL="0" lvl="0" indent="0" algn="l" rtl="0">
              <a:lnSpc>
                <a:spcPct val="115000"/>
              </a:lnSpc>
              <a:spcBef>
                <a:spcPts val="0"/>
              </a:spcBef>
              <a:spcAft>
                <a:spcPts val="0"/>
              </a:spcAft>
              <a:buNone/>
            </a:pPr>
            <a:r>
              <a:rPr lang="en"/>
              <a:t>\mathcal{T}_i = (\mathcal{D}^{tr}, \mathcal{D}^{val})</a:t>
            </a:r>
            <a:endParaRPr/>
          </a:p>
          <a:p>
            <a:pPr marL="0" lvl="0" indent="0" algn="l" rtl="0">
              <a:lnSpc>
                <a:spcPct val="115000"/>
              </a:lnSpc>
              <a:spcBef>
                <a:spcPts val="0"/>
              </a:spcBef>
              <a:spcAft>
                <a:spcPts val="0"/>
              </a:spcAft>
              <a:buNone/>
            </a:pPr>
            <a:endParaRPr/>
          </a:p>
          <a:p>
            <a:pPr marL="0" lvl="0" indent="0" algn="l" rtl="0">
              <a:lnSpc>
                <a:spcPct val="115000"/>
              </a:lnSpc>
              <a:spcBef>
                <a:spcPts val="0"/>
              </a:spcBef>
              <a:spcAft>
                <a:spcPts val="0"/>
              </a:spcAft>
              <a:buNone/>
            </a:pPr>
            <a:r>
              <a:rPr lang="en"/>
              <a:t>Let’s do a simple recap on MAML. You guys are supposed to be experts on MAML now after 2 weeks of lecture. MAML computes a good universal initial parameters that can adapt well to all tasks from the distribution. Another way of looking at MAML is to think of a slow net and a fast net, where slow net keeps the meta parameters, fast net adapts to specific tasks.</a:t>
            </a:r>
            <a:endParaRPr/>
          </a:p>
          <a:p>
            <a:pPr marL="0" lvl="0" indent="0" algn="l" rtl="0">
              <a:lnSpc>
                <a:spcPct val="115000"/>
              </a:lnSpc>
              <a:spcBef>
                <a:spcPts val="0"/>
              </a:spcBef>
              <a:spcAft>
                <a:spcPts val="0"/>
              </a:spcAft>
              <a:buNone/>
            </a:pPr>
            <a:endParaRPr/>
          </a:p>
          <a:p>
            <a:pPr marL="0" lvl="0" indent="0" algn="l" rtl="0">
              <a:lnSpc>
                <a:spcPct val="115000"/>
              </a:lnSpc>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64c8b3bc36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64c8b3bc36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Last week, in the lecture, we discussed several challenges for MAML and how they are addressed. </a:t>
            </a:r>
            <a:endParaRPr/>
          </a:p>
          <a:p>
            <a:pPr marL="0" lvl="0" indent="0" algn="l" rtl="0">
              <a:spcBef>
                <a:spcPts val="0"/>
              </a:spcBef>
              <a:spcAft>
                <a:spcPts val="0"/>
              </a:spcAft>
              <a:buNone/>
            </a:pPr>
            <a:r>
              <a:rPr lang="en"/>
              <a:t>One problem MAML doedsn’t address is that tasks have relationships amongst each other. Some tasks are more similar, some are more different. </a:t>
            </a:r>
            <a:endParaRPr/>
          </a:p>
          <a:p>
            <a:pPr marL="0" lvl="0" indent="0" algn="l" rtl="0">
              <a:spcBef>
                <a:spcPts val="0"/>
              </a:spcBef>
              <a:spcAft>
                <a:spcPts val="0"/>
              </a:spcAft>
              <a:buNone/>
            </a:pPr>
            <a:r>
              <a:rPr lang="en"/>
              <a:t>MAML tries to initialize θ over the average distance to all tasks. This is not very flexible.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64c8b3bc36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64c8b3bc36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\mathcal{T}_i</a:t>
            </a:r>
            <a:endParaRPr/>
          </a:p>
          <a:p>
            <a:pPr marL="0" lvl="0" indent="0" algn="l" rtl="0">
              <a:lnSpc>
                <a:spcPct val="115000"/>
              </a:lnSpc>
              <a:spcBef>
                <a:spcPts val="0"/>
              </a:spcBef>
              <a:spcAft>
                <a:spcPts val="0"/>
              </a:spcAft>
              <a:buNone/>
            </a:pPr>
            <a:r>
              <a:rPr lang="en"/>
              <a:t>x^{ts}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64c8b3bc36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64c8b3bc36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Θ here is θ’ in MAML...not the weights for the slow network.</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64c8b3bc36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64c8b3bc36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64c8b3bc36_0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64c8b3bc36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64aaa2081c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64aaa2081c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z^\prime_n = z_n - \alpha \nabla_{z_n} \mathcal{L}_{\mathcal{T}_i}^{tr}</a:t>
            </a:r>
            <a:endParaRPr/>
          </a:p>
          <a:p>
            <a:pPr marL="0" lvl="0" indent="0" algn="l" rtl="0">
              <a:spcBef>
                <a:spcPts val="0"/>
              </a:spcBef>
              <a:spcAft>
                <a:spcPts val="0"/>
              </a:spcAft>
              <a:buNone/>
            </a:pPr>
            <a:endParaRPr/>
          </a:p>
          <a:p>
            <a:pPr marL="0" lvl="0" indent="0" algn="l" rtl="0">
              <a:lnSpc>
                <a:spcPct val="115000"/>
              </a:lnSpc>
              <a:spcBef>
                <a:spcPts val="0"/>
              </a:spcBef>
              <a:spcAft>
                <a:spcPts val="0"/>
              </a:spcAft>
              <a:buNone/>
            </a:pPr>
            <a:r>
              <a:rPr lang="en"/>
              <a:t>\mathcal{D}^{tr} \sim \mathcal{T}_i</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64c8b3bc36_0_1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64c8b3bc36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Last term is to increase expressivity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64c8b3bc36_0_1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64c8b3bc36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64c8b3bc36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64c8b3bc36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MAML [7] uses the original SGD as meta-learner, but the initialization is learned via meta-learning. In contrast, Meta-SGD also learns the update direction and the learning rate, and may have a higher capacity.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64c8b3bc36_1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64c8b3bc36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800">
                <a:solidFill>
                  <a:schemeClr val="dk1"/>
                </a:solidFill>
              </a:rPr>
              <a:t>are generated in equal proportions using either a sine wave with random amplitude and phase, or a line with random slope and intercept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64c8b3bc36_1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64c8b3bc36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800">
                <a:solidFill>
                  <a:schemeClr val="dk1"/>
                </a:solidFill>
              </a:rPr>
              <a:t>WRN-28-10 where 28 conv layers depth, and 10 is widening factor (10 times wider than the original residual block) 640 dim output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64c8b3bc36_1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64c8b3bc36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64c8b3bc36_1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64c8b3bc36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classification accuracies for LEO and other baselines are shown in Table 1. LEO sets the new state-of-the-art performance on the 1-shot and 5-shot tasks for both miniImageNet and tieredImageNet datasets. We also evaluated LEO on the “multi-view” feature representation used by Qiao et al. (2017) with miniImageNet, which involves significant data augmentation compared to the approaches in Table 1. LEO is state-of-the-art using these features as well, with 63.97 ± 0.20% and 79.49 ± 0.70% test accuracies on the 1-shot and 5-shot tasks respectively.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64c8b3bc36_1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64c8b3bc36_1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importance of the data-dependent encoding is highlighted by the “random prior” case, in which the encoding process is replaced by the prior p(z_n), and performance decreases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64c8b3bc36_1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64c8b3bc36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64c8b3bc36_1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64c8b3bc36_1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performing the inner-loop optimization in a lower-dimensional latent space, the adapted solutions do not need to be close together in parameter space, as each latent step can cover a larger region of parameter space and effect a greater change on the underlying function. </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The “conditional generator only” case (without adaptation in latent space) yields a poorer result than LEO, and even adding fine-tuning in parameter space does not recover performance;</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Figure 5(a), the curvature for LEO in z space (the absolute eigenvalues of the Hessian of the loss) is 2 orders of magnitude higher than in θ, indicating that a fixed step in z will change the function more drastically than taking the same step directly in θ. This is also observed in the “gen+ft” (conditional generator and fine-tuning) case, where the latent embedding is still used, but adaptation is performed directly in θ space. This suggests that the latent bottleneck is responsible for this effect. Figure 5(b) shows that this is due to the expansion of space caused by the decoder. In this case the decoder is linear, and the singular values describe how much a vector projected through this decoder grows along different directions, with a value of one preserving volume. We observe that the decoder is expanding the space by at least one order of magnitude. Finally, Figure 5(c) demonstrates this effect along the specific gradient directions used in the inner loop adaptation: the small gradient steps in z taken by LEO induce much larger steps in θ space, larger than the gradient steps taken by Meta-SGD in θ space directly. Thus, the results support the intuition that LEO is able to ‘transport’ models further during adaptation by performing meta-learning in the latent space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64c8b3bc36_0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64c8b3bc36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64c8b3bc36_1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64c8b3bc36_1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Clr>
                <a:srgbClr val="000000"/>
              </a:buClr>
              <a:buSzPts val="1800"/>
              <a:buChar char="●"/>
              <a:defRPr>
                <a:solidFill>
                  <a:srgbClr val="000000"/>
                </a:solidFill>
              </a:defRPr>
            </a:lvl1pPr>
            <a:lvl2pPr marL="914400" lvl="1" indent="-317500">
              <a:spcBef>
                <a:spcPts val="1600"/>
              </a:spcBef>
              <a:spcAft>
                <a:spcPts val="0"/>
              </a:spcAft>
              <a:buClr>
                <a:srgbClr val="000000"/>
              </a:buClr>
              <a:buSzPts val="1400"/>
              <a:buChar char="○"/>
              <a:defRPr>
                <a:solidFill>
                  <a:srgbClr val="000000"/>
                </a:solidFill>
              </a:defRPr>
            </a:lvl2pPr>
            <a:lvl3pPr marL="1371600" lvl="2" indent="-317500">
              <a:spcBef>
                <a:spcPts val="1600"/>
              </a:spcBef>
              <a:spcAft>
                <a:spcPts val="0"/>
              </a:spcAft>
              <a:buClr>
                <a:srgbClr val="000000"/>
              </a:buClr>
              <a:buSzPts val="1400"/>
              <a:buChar char="■"/>
              <a:defRPr>
                <a:solidFill>
                  <a:srgbClr val="000000"/>
                </a:solidFill>
              </a:defRPr>
            </a:lvl3pPr>
            <a:lvl4pPr marL="1828800" lvl="3" indent="-317500">
              <a:spcBef>
                <a:spcPts val="1600"/>
              </a:spcBef>
              <a:spcAft>
                <a:spcPts val="0"/>
              </a:spcAft>
              <a:buClr>
                <a:srgbClr val="000000"/>
              </a:buClr>
              <a:buSzPts val="1400"/>
              <a:buChar char="●"/>
              <a:defRPr>
                <a:solidFill>
                  <a:srgbClr val="000000"/>
                </a:solidFill>
              </a:defRPr>
            </a:lvl4pPr>
            <a:lvl5pPr marL="2286000" lvl="4" indent="-317500">
              <a:spcBef>
                <a:spcPts val="1600"/>
              </a:spcBef>
              <a:spcAft>
                <a:spcPts val="0"/>
              </a:spcAft>
              <a:buClr>
                <a:srgbClr val="000000"/>
              </a:buClr>
              <a:buSzPts val="1400"/>
              <a:buChar char="○"/>
              <a:defRPr>
                <a:solidFill>
                  <a:srgbClr val="000000"/>
                </a:solidFill>
              </a:defRPr>
            </a:lvl5pPr>
            <a:lvl6pPr marL="2743200" lvl="5" indent="-317500">
              <a:spcBef>
                <a:spcPts val="1600"/>
              </a:spcBef>
              <a:spcAft>
                <a:spcPts val="0"/>
              </a:spcAft>
              <a:buClr>
                <a:srgbClr val="000000"/>
              </a:buClr>
              <a:buSzPts val="1400"/>
              <a:buChar char="■"/>
              <a:defRPr>
                <a:solidFill>
                  <a:srgbClr val="000000"/>
                </a:solidFill>
              </a:defRPr>
            </a:lvl6pPr>
            <a:lvl7pPr marL="3200400" lvl="6" indent="-317500">
              <a:spcBef>
                <a:spcPts val="1600"/>
              </a:spcBef>
              <a:spcAft>
                <a:spcPts val="0"/>
              </a:spcAft>
              <a:buClr>
                <a:srgbClr val="000000"/>
              </a:buClr>
              <a:buSzPts val="1400"/>
              <a:buChar char="●"/>
              <a:defRPr>
                <a:solidFill>
                  <a:srgbClr val="000000"/>
                </a:solidFill>
              </a:defRPr>
            </a:lvl7pPr>
            <a:lvl8pPr marL="3657600" lvl="7" indent="-317500">
              <a:spcBef>
                <a:spcPts val="1600"/>
              </a:spcBef>
              <a:spcAft>
                <a:spcPts val="0"/>
              </a:spcAft>
              <a:buClr>
                <a:srgbClr val="000000"/>
              </a:buClr>
              <a:buSzPts val="1400"/>
              <a:buChar char="○"/>
              <a:defRPr>
                <a:solidFill>
                  <a:srgbClr val="000000"/>
                </a:solidFill>
              </a:defRPr>
            </a:lvl8pPr>
            <a:lvl9pPr marL="4114800" lvl="8" indent="-317500">
              <a:spcBef>
                <a:spcPts val="1600"/>
              </a:spcBef>
              <a:spcAft>
                <a:spcPts val="1600"/>
              </a:spcAft>
              <a:buClr>
                <a:srgbClr val="000000"/>
              </a:buClr>
              <a:buSzPts val="1400"/>
              <a:buChar char="■"/>
              <a:defRPr>
                <a:solidFill>
                  <a:srgbClr val="000000"/>
                </a:solidFill>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0" name="Google Shape;20;p4"/>
          <p:cNvSpPr/>
          <p:nvPr/>
        </p:nvSpPr>
        <p:spPr>
          <a:xfrm>
            <a:off x="0" y="4989493"/>
            <a:ext cx="9144000" cy="162000"/>
          </a:xfrm>
          <a:prstGeom prst="rect">
            <a:avLst/>
          </a:prstGeom>
          <a:solidFill>
            <a:srgbClr val="99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 name="Google Shape;31;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1" name="Google Shape;4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4" name="Google Shape;4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sp>
        <p:nvSpPr>
          <p:cNvPr id="46" name="Google Shape;46;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8" name="Google Shape;48;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3"/>
          <p:cNvSpPr txBox="1">
            <a:spLocks noGrp="1"/>
          </p:cNvSpPr>
          <p:nvPr>
            <p:ph type="ctrTitle"/>
          </p:nvPr>
        </p:nvSpPr>
        <p:spPr>
          <a:xfrm>
            <a:off x="311708" y="1277975"/>
            <a:ext cx="8520600" cy="2052600"/>
          </a:xfrm>
          <a:prstGeom prst="rect">
            <a:avLst/>
          </a:prstGeom>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4200"/>
              <a:t>Meta-Learning with Latent Embedding Optimization</a:t>
            </a:r>
            <a:endParaRPr sz="4200"/>
          </a:p>
          <a:p>
            <a:pPr marL="0" lvl="0" indent="0" algn="ctr" rtl="0">
              <a:lnSpc>
                <a:spcPct val="115000"/>
              </a:lnSpc>
              <a:spcBef>
                <a:spcPts val="0"/>
              </a:spcBef>
              <a:spcAft>
                <a:spcPts val="0"/>
              </a:spcAft>
              <a:buNone/>
            </a:pPr>
            <a:endParaRPr sz="2400">
              <a:solidFill>
                <a:srgbClr val="666666"/>
              </a:solidFill>
            </a:endParaRPr>
          </a:p>
          <a:p>
            <a:pPr marL="0" lvl="0" indent="0" algn="ctr" rtl="0">
              <a:lnSpc>
                <a:spcPct val="115000"/>
              </a:lnSpc>
              <a:spcBef>
                <a:spcPts val="0"/>
              </a:spcBef>
              <a:spcAft>
                <a:spcPts val="0"/>
              </a:spcAft>
              <a:buNone/>
            </a:pPr>
            <a:r>
              <a:rPr lang="en" sz="2400">
                <a:solidFill>
                  <a:srgbClr val="666666"/>
                </a:solidFill>
              </a:rPr>
              <a:t>Rusu et al. ICLR, 2019</a:t>
            </a:r>
            <a:endParaRPr sz="2400">
              <a:solidFill>
                <a:srgbClr val="666666"/>
              </a:solidFill>
            </a:endParaRPr>
          </a:p>
        </p:txBody>
      </p:sp>
      <p:sp>
        <p:nvSpPr>
          <p:cNvPr id="56" name="Google Shape;56;p13"/>
          <p:cNvSpPr txBox="1">
            <a:spLocks noGrp="1"/>
          </p:cNvSpPr>
          <p:nvPr>
            <p:ph type="subTitle" idx="1"/>
          </p:nvPr>
        </p:nvSpPr>
        <p:spPr>
          <a:xfrm>
            <a:off x="311700" y="3855700"/>
            <a:ext cx="8520600" cy="57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sz="2200" dirty="0"/>
          </a:p>
        </p:txBody>
      </p:sp>
      <p:sp>
        <p:nvSpPr>
          <p:cNvPr id="57" name="Google Shape;57;p13"/>
          <p:cNvSpPr/>
          <p:nvPr/>
        </p:nvSpPr>
        <p:spPr>
          <a:xfrm>
            <a:off x="0" y="4981500"/>
            <a:ext cx="9144000" cy="162000"/>
          </a:xfrm>
          <a:prstGeom prst="rect">
            <a:avLst/>
          </a:prstGeom>
          <a:solidFill>
            <a:srgbClr val="99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p:cNvPicPr preferRelativeResize="0"/>
          <p:nvPr/>
        </p:nvPicPr>
        <p:blipFill rotWithShape="1">
          <a:blip r:embed="rId3">
            <a:alphaModFix/>
          </a:blip>
          <a:srcRect b="2219"/>
          <a:stretch/>
        </p:blipFill>
        <p:spPr>
          <a:xfrm>
            <a:off x="444075" y="2796400"/>
            <a:ext cx="2921451" cy="1642150"/>
          </a:xfrm>
          <a:prstGeom prst="rect">
            <a:avLst/>
          </a:prstGeom>
          <a:noFill/>
          <a:ln>
            <a:noFill/>
          </a:ln>
        </p:spPr>
      </p:pic>
      <p:sp>
        <p:nvSpPr>
          <p:cNvPr id="63" name="Google Shape;63;p14"/>
          <p:cNvSpPr txBox="1">
            <a:spLocks noGrp="1"/>
          </p:cNvSpPr>
          <p:nvPr>
            <p:ph type="title"/>
          </p:nvPr>
        </p:nvSpPr>
        <p:spPr>
          <a:xfrm>
            <a:off x="311700" y="2917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Recap: MAML</a:t>
            </a:r>
            <a:endParaRPr/>
          </a:p>
        </p:txBody>
      </p:sp>
      <p:pic>
        <p:nvPicPr>
          <p:cNvPr id="64" name="Google Shape;64;p14"/>
          <p:cNvPicPr preferRelativeResize="0"/>
          <p:nvPr/>
        </p:nvPicPr>
        <p:blipFill>
          <a:blip r:embed="rId4">
            <a:alphaModFix/>
          </a:blip>
          <a:stretch>
            <a:fillRect/>
          </a:stretch>
        </p:blipFill>
        <p:spPr>
          <a:xfrm>
            <a:off x="565875" y="1285000"/>
            <a:ext cx="790450" cy="194975"/>
          </a:xfrm>
          <a:prstGeom prst="rect">
            <a:avLst/>
          </a:prstGeom>
          <a:noFill/>
          <a:ln>
            <a:noFill/>
          </a:ln>
        </p:spPr>
      </p:pic>
      <p:pic>
        <p:nvPicPr>
          <p:cNvPr id="65" name="Google Shape;65;p14"/>
          <p:cNvPicPr preferRelativeResize="0"/>
          <p:nvPr/>
        </p:nvPicPr>
        <p:blipFill>
          <a:blip r:embed="rId5">
            <a:alphaModFix/>
          </a:blip>
          <a:stretch>
            <a:fillRect/>
          </a:stretch>
        </p:blipFill>
        <p:spPr>
          <a:xfrm>
            <a:off x="565875" y="1584075"/>
            <a:ext cx="1357900" cy="232775"/>
          </a:xfrm>
          <a:prstGeom prst="rect">
            <a:avLst/>
          </a:prstGeom>
          <a:noFill/>
          <a:ln>
            <a:noFill/>
          </a:ln>
        </p:spPr>
      </p:pic>
      <p:pic>
        <p:nvPicPr>
          <p:cNvPr id="66" name="Google Shape;66;p14"/>
          <p:cNvPicPr preferRelativeResize="0"/>
          <p:nvPr/>
        </p:nvPicPr>
        <p:blipFill rotWithShape="1">
          <a:blip r:embed="rId6">
            <a:alphaModFix/>
          </a:blip>
          <a:srcRect l="3679"/>
          <a:stretch/>
        </p:blipFill>
        <p:spPr>
          <a:xfrm>
            <a:off x="519882" y="1960025"/>
            <a:ext cx="2651474" cy="617000"/>
          </a:xfrm>
          <a:prstGeom prst="rect">
            <a:avLst/>
          </a:prstGeom>
          <a:noFill/>
          <a:ln>
            <a:noFill/>
          </a:ln>
        </p:spPr>
      </p:pic>
      <p:sp>
        <p:nvSpPr>
          <p:cNvPr id="67" name="Google Shape;67;p14"/>
          <p:cNvSpPr txBox="1"/>
          <p:nvPr/>
        </p:nvSpPr>
        <p:spPr>
          <a:xfrm>
            <a:off x="4156525" y="1031275"/>
            <a:ext cx="4599300" cy="34800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dk1"/>
                </a:solidFill>
              </a:rPr>
              <a:t>Slow Net (θ), Fast Net (θ’)</a:t>
            </a:r>
            <a:endParaRPr sz="1800">
              <a:solidFill>
                <a:schemeClr val="dk1"/>
              </a:solidFill>
            </a:endParaRPr>
          </a:p>
          <a:p>
            <a:pPr marL="457200" lvl="0" indent="-342900" algn="l" rtl="0">
              <a:lnSpc>
                <a:spcPct val="115000"/>
              </a:lnSpc>
              <a:spcBef>
                <a:spcPts val="1600"/>
              </a:spcBef>
              <a:spcAft>
                <a:spcPts val="0"/>
              </a:spcAft>
              <a:buClr>
                <a:schemeClr val="dk1"/>
              </a:buClr>
              <a:buSzPts val="1800"/>
              <a:buAutoNum type="arabicPeriod"/>
            </a:pPr>
            <a:r>
              <a:rPr lang="en" sz="1800">
                <a:solidFill>
                  <a:schemeClr val="dk1"/>
                </a:solidFill>
              </a:rPr>
              <a:t>Slow Net provides an initialization θ for Fast Net (aka “</a:t>
            </a:r>
            <a:r>
              <a:rPr lang="en" sz="1800" b="1">
                <a:solidFill>
                  <a:schemeClr val="dk1"/>
                </a:solidFill>
              </a:rPr>
              <a:t>outer loop</a:t>
            </a:r>
            <a:r>
              <a:rPr lang="en" sz="1800">
                <a:solidFill>
                  <a:schemeClr val="dk1"/>
                </a:solidFill>
              </a:rPr>
              <a:t>”).</a:t>
            </a:r>
            <a:endParaRPr sz="1800">
              <a:solidFill>
                <a:schemeClr val="dk1"/>
              </a:solidFill>
            </a:endParaRPr>
          </a:p>
          <a:p>
            <a:pPr marL="457200" lvl="0" indent="-342900" algn="l" rtl="0">
              <a:lnSpc>
                <a:spcPct val="115000"/>
              </a:lnSpc>
              <a:spcBef>
                <a:spcPts val="0"/>
              </a:spcBef>
              <a:spcAft>
                <a:spcPts val="0"/>
              </a:spcAft>
              <a:buClr>
                <a:schemeClr val="dk1"/>
              </a:buClr>
              <a:buSzPts val="1800"/>
              <a:buAutoNum type="arabicPeriod"/>
            </a:pPr>
            <a:r>
              <a:rPr lang="en" sz="1800">
                <a:solidFill>
                  <a:schemeClr val="dk1"/>
                </a:solidFill>
              </a:rPr>
              <a:t>Fast Net (aka “</a:t>
            </a:r>
            <a:r>
              <a:rPr lang="en" sz="1800" b="1">
                <a:solidFill>
                  <a:schemeClr val="dk1"/>
                </a:solidFill>
              </a:rPr>
              <a:t>inner loop</a:t>
            </a:r>
            <a:r>
              <a:rPr lang="en" sz="1800">
                <a:solidFill>
                  <a:schemeClr val="dk1"/>
                </a:solidFill>
              </a:rPr>
              <a:t>”) takes a few gradient update updates on θ to obtain θ’. </a:t>
            </a:r>
            <a:endParaRPr sz="1800">
              <a:solidFill>
                <a:schemeClr val="dk1"/>
              </a:solidFill>
            </a:endParaRPr>
          </a:p>
          <a:p>
            <a:pPr marL="457200" lvl="0" indent="-342900" algn="l" rtl="0">
              <a:lnSpc>
                <a:spcPct val="115000"/>
              </a:lnSpc>
              <a:spcBef>
                <a:spcPts val="0"/>
              </a:spcBef>
              <a:spcAft>
                <a:spcPts val="0"/>
              </a:spcAft>
              <a:buClr>
                <a:schemeClr val="dk1"/>
              </a:buClr>
              <a:buSzPts val="1800"/>
              <a:buAutoNum type="arabicPeriod"/>
            </a:pPr>
            <a:r>
              <a:rPr lang="en" sz="1800">
                <a:solidFill>
                  <a:schemeClr val="dk1"/>
                </a:solidFill>
              </a:rPr>
              <a:t>We compute the </a:t>
            </a:r>
            <a:r>
              <a:rPr lang="en" sz="1800" b="1">
                <a:solidFill>
                  <a:schemeClr val="dk1"/>
                </a:solidFill>
              </a:rPr>
              <a:t>validation loss</a:t>
            </a:r>
            <a:r>
              <a:rPr lang="en" sz="1800">
                <a:solidFill>
                  <a:schemeClr val="dk1"/>
                </a:solidFill>
              </a:rPr>
              <a:t> for the task, </a:t>
            </a:r>
            <a:r>
              <a:rPr lang="en" sz="1800" b="1">
                <a:solidFill>
                  <a:schemeClr val="dk1"/>
                </a:solidFill>
              </a:rPr>
              <a:t>take deritivative w.r.t. θ</a:t>
            </a:r>
            <a:r>
              <a:rPr lang="en" sz="1800">
                <a:solidFill>
                  <a:schemeClr val="dk1"/>
                </a:solidFill>
              </a:rPr>
              <a:t>, and sum the gradients over sampled tasks.</a:t>
            </a:r>
            <a:endParaRPr sz="1800">
              <a:solidFill>
                <a:schemeClr val="dk1"/>
              </a:solidFill>
            </a:endParaRPr>
          </a:p>
          <a:p>
            <a:pPr marL="457200" lvl="0" indent="-342900" algn="l" rtl="0">
              <a:lnSpc>
                <a:spcPct val="115000"/>
              </a:lnSpc>
              <a:spcBef>
                <a:spcPts val="0"/>
              </a:spcBef>
              <a:spcAft>
                <a:spcPts val="0"/>
              </a:spcAft>
              <a:buClr>
                <a:schemeClr val="dk1"/>
              </a:buClr>
              <a:buSzPts val="1800"/>
              <a:buAutoNum type="arabicPeriod"/>
            </a:pPr>
            <a:r>
              <a:rPr lang="en" sz="1800">
                <a:solidFill>
                  <a:schemeClr val="dk1"/>
                </a:solidFill>
              </a:rPr>
              <a:t>Update Slow Net weight θ</a:t>
            </a:r>
            <a:endParaRPr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5"/>
          <p:cNvSpPr txBox="1">
            <a:spLocks noGrp="1"/>
          </p:cNvSpPr>
          <p:nvPr>
            <p:ph type="title"/>
          </p:nvPr>
        </p:nvSpPr>
        <p:spPr>
          <a:xfrm>
            <a:off x="311700" y="2926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Recap: MAML</a:t>
            </a:r>
            <a:endParaRPr/>
          </a:p>
        </p:txBody>
      </p:sp>
      <p:sp>
        <p:nvSpPr>
          <p:cNvPr id="73" name="Google Shape;73;p15"/>
          <p:cNvSpPr txBox="1">
            <a:spLocks noGrp="1"/>
          </p:cNvSpPr>
          <p:nvPr>
            <p:ph type="body" idx="1"/>
          </p:nvPr>
        </p:nvSpPr>
        <p:spPr>
          <a:xfrm>
            <a:off x="311700" y="1000075"/>
            <a:ext cx="8520600" cy="192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Last week, we discussed several challenges in the original MAML algorithm and different proposals for improving it.</a:t>
            </a:r>
            <a:endParaRPr/>
          </a:p>
          <a:p>
            <a:pPr marL="0" lvl="0" indent="0" algn="l" rtl="0">
              <a:spcBef>
                <a:spcPts val="1600"/>
              </a:spcBef>
              <a:spcAft>
                <a:spcPts val="1600"/>
              </a:spcAft>
              <a:buNone/>
            </a:pPr>
            <a:r>
              <a:rPr lang="en"/>
              <a:t>One limitation that hasn’t been addressed is that, </a:t>
            </a:r>
            <a:r>
              <a:rPr lang="en" b="1"/>
              <a:t>tasks might not uniformly exist in the task space</a:t>
            </a:r>
            <a:r>
              <a:rPr lang="en"/>
              <a:t>. Using a universally shared θ might not be optimal when the task space has structure.</a:t>
            </a:r>
            <a:endParaRPr/>
          </a:p>
        </p:txBody>
      </p:sp>
      <p:grpSp>
        <p:nvGrpSpPr>
          <p:cNvPr id="74" name="Google Shape;74;p15"/>
          <p:cNvGrpSpPr/>
          <p:nvPr/>
        </p:nvGrpSpPr>
        <p:grpSpPr>
          <a:xfrm>
            <a:off x="2021850" y="3082400"/>
            <a:ext cx="1571400" cy="1571400"/>
            <a:chOff x="475275" y="2989500"/>
            <a:chExt cx="1571400" cy="1571400"/>
          </a:xfrm>
        </p:grpSpPr>
        <p:sp>
          <p:nvSpPr>
            <p:cNvPr id="75" name="Google Shape;75;p15"/>
            <p:cNvSpPr/>
            <p:nvPr/>
          </p:nvSpPr>
          <p:spPr>
            <a:xfrm>
              <a:off x="475275" y="2989500"/>
              <a:ext cx="1571400" cy="15714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5"/>
            <p:cNvSpPr/>
            <p:nvPr/>
          </p:nvSpPr>
          <p:spPr>
            <a:xfrm>
              <a:off x="919825" y="3242475"/>
              <a:ext cx="92100" cy="92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5"/>
            <p:cNvSpPr/>
            <p:nvPr/>
          </p:nvSpPr>
          <p:spPr>
            <a:xfrm>
              <a:off x="665950" y="4069425"/>
              <a:ext cx="92100" cy="92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5"/>
            <p:cNvSpPr/>
            <p:nvPr/>
          </p:nvSpPr>
          <p:spPr>
            <a:xfrm>
              <a:off x="956325" y="4198825"/>
              <a:ext cx="92100" cy="92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5"/>
            <p:cNvSpPr/>
            <p:nvPr/>
          </p:nvSpPr>
          <p:spPr>
            <a:xfrm>
              <a:off x="1537975" y="3977325"/>
              <a:ext cx="92100" cy="92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5"/>
            <p:cNvSpPr/>
            <p:nvPr/>
          </p:nvSpPr>
          <p:spPr>
            <a:xfrm>
              <a:off x="1705700" y="3807800"/>
              <a:ext cx="92100" cy="92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p:nvPr/>
          </p:nvSpPr>
          <p:spPr>
            <a:xfrm>
              <a:off x="1797800" y="3977325"/>
              <a:ext cx="92100" cy="92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5"/>
            <p:cNvSpPr/>
            <p:nvPr/>
          </p:nvSpPr>
          <p:spPr>
            <a:xfrm>
              <a:off x="1537975" y="3334575"/>
              <a:ext cx="92100" cy="92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5"/>
            <p:cNvSpPr/>
            <p:nvPr/>
          </p:nvSpPr>
          <p:spPr>
            <a:xfrm>
              <a:off x="1705700" y="4161525"/>
              <a:ext cx="92100" cy="92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5"/>
            <p:cNvSpPr/>
            <p:nvPr/>
          </p:nvSpPr>
          <p:spPr>
            <a:xfrm>
              <a:off x="1284100" y="3729150"/>
              <a:ext cx="92100" cy="921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5"/>
            <p:cNvSpPr txBox="1"/>
            <p:nvPr/>
          </p:nvSpPr>
          <p:spPr>
            <a:xfrm>
              <a:off x="1050252" y="3474668"/>
              <a:ext cx="390900" cy="26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θ*</a:t>
              </a:r>
              <a:endParaRPr/>
            </a:p>
          </p:txBody>
        </p:sp>
      </p:grpSp>
      <p:sp>
        <p:nvSpPr>
          <p:cNvPr id="86" name="Google Shape;86;p15"/>
          <p:cNvSpPr txBox="1"/>
          <p:nvPr/>
        </p:nvSpPr>
        <p:spPr>
          <a:xfrm>
            <a:off x="3823225" y="3680300"/>
            <a:ext cx="1149900" cy="367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t>V.S.</a:t>
            </a:r>
            <a:endParaRPr b="1"/>
          </a:p>
        </p:txBody>
      </p:sp>
      <p:grpSp>
        <p:nvGrpSpPr>
          <p:cNvPr id="87" name="Google Shape;87;p15"/>
          <p:cNvGrpSpPr/>
          <p:nvPr/>
        </p:nvGrpSpPr>
        <p:grpSpPr>
          <a:xfrm>
            <a:off x="5203100" y="3078500"/>
            <a:ext cx="1628822" cy="1571400"/>
            <a:chOff x="5203100" y="3230900"/>
            <a:chExt cx="1628822" cy="1571400"/>
          </a:xfrm>
        </p:grpSpPr>
        <p:grpSp>
          <p:nvGrpSpPr>
            <p:cNvPr id="88" name="Google Shape;88;p15"/>
            <p:cNvGrpSpPr/>
            <p:nvPr/>
          </p:nvGrpSpPr>
          <p:grpSpPr>
            <a:xfrm>
              <a:off x="5203100" y="3230900"/>
              <a:ext cx="1571400" cy="1571400"/>
              <a:chOff x="5081250" y="3234800"/>
              <a:chExt cx="1571400" cy="1571400"/>
            </a:xfrm>
          </p:grpSpPr>
          <p:sp>
            <p:nvSpPr>
              <p:cNvPr id="89" name="Google Shape;89;p15"/>
              <p:cNvSpPr/>
              <p:nvPr/>
            </p:nvSpPr>
            <p:spPr>
              <a:xfrm>
                <a:off x="5081250" y="3234800"/>
                <a:ext cx="1571400" cy="15714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5"/>
              <p:cNvSpPr/>
              <p:nvPr/>
            </p:nvSpPr>
            <p:spPr>
              <a:xfrm>
                <a:off x="5525800" y="3487775"/>
                <a:ext cx="92100" cy="92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5"/>
              <p:cNvSpPr/>
              <p:nvPr/>
            </p:nvSpPr>
            <p:spPr>
              <a:xfrm>
                <a:off x="5271925" y="4314725"/>
                <a:ext cx="92100" cy="92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5"/>
              <p:cNvSpPr/>
              <p:nvPr/>
            </p:nvSpPr>
            <p:spPr>
              <a:xfrm>
                <a:off x="5562300" y="4444125"/>
                <a:ext cx="92100" cy="92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5"/>
              <p:cNvSpPr/>
              <p:nvPr/>
            </p:nvSpPr>
            <p:spPr>
              <a:xfrm>
                <a:off x="6143950" y="4222625"/>
                <a:ext cx="92100" cy="92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5"/>
              <p:cNvSpPr/>
              <p:nvPr/>
            </p:nvSpPr>
            <p:spPr>
              <a:xfrm>
                <a:off x="6311675" y="4053100"/>
                <a:ext cx="92100" cy="92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5"/>
              <p:cNvSpPr/>
              <p:nvPr/>
            </p:nvSpPr>
            <p:spPr>
              <a:xfrm>
                <a:off x="6403775" y="4222625"/>
                <a:ext cx="92100" cy="92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5"/>
              <p:cNvSpPr/>
              <p:nvPr/>
            </p:nvSpPr>
            <p:spPr>
              <a:xfrm>
                <a:off x="6143950" y="3579875"/>
                <a:ext cx="92100" cy="92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5"/>
              <p:cNvSpPr/>
              <p:nvPr/>
            </p:nvSpPr>
            <p:spPr>
              <a:xfrm>
                <a:off x="6311675" y="4406825"/>
                <a:ext cx="92100" cy="92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5"/>
              <p:cNvSpPr/>
              <p:nvPr/>
            </p:nvSpPr>
            <p:spPr>
              <a:xfrm>
                <a:off x="5842540" y="3529844"/>
                <a:ext cx="92100" cy="92100"/>
              </a:xfrm>
              <a:prstGeom prst="ellipse">
                <a:avLst/>
              </a:prstGeom>
              <a:solidFill>
                <a:srgbClr val="FF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5"/>
              <p:cNvSpPr/>
              <p:nvPr/>
            </p:nvSpPr>
            <p:spPr>
              <a:xfrm>
                <a:off x="5417103" y="4383823"/>
                <a:ext cx="92100" cy="92100"/>
              </a:xfrm>
              <a:prstGeom prst="ellipse">
                <a:avLst/>
              </a:prstGeom>
              <a:solidFill>
                <a:srgbClr val="FF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5"/>
              <p:cNvSpPr/>
              <p:nvPr/>
            </p:nvSpPr>
            <p:spPr>
              <a:xfrm>
                <a:off x="6273865" y="4229960"/>
                <a:ext cx="92100" cy="92100"/>
              </a:xfrm>
              <a:prstGeom prst="ellipse">
                <a:avLst/>
              </a:prstGeom>
              <a:solidFill>
                <a:srgbClr val="FF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 name="Google Shape;101;p15"/>
            <p:cNvSpPr txBox="1"/>
            <p:nvPr/>
          </p:nvSpPr>
          <p:spPr>
            <a:xfrm>
              <a:off x="5735000" y="3284325"/>
              <a:ext cx="355200" cy="26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θ</a:t>
              </a:r>
              <a:r>
                <a:rPr lang="en" baseline="30000"/>
                <a:t>1</a:t>
              </a:r>
              <a:endParaRPr baseline="30000"/>
            </a:p>
          </p:txBody>
        </p:sp>
        <p:sp>
          <p:nvSpPr>
            <p:cNvPr id="102" name="Google Shape;102;p15"/>
            <p:cNvSpPr txBox="1"/>
            <p:nvPr/>
          </p:nvSpPr>
          <p:spPr>
            <a:xfrm>
              <a:off x="5320150" y="4433225"/>
              <a:ext cx="355200" cy="26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θ</a:t>
              </a:r>
              <a:r>
                <a:rPr lang="en" baseline="30000"/>
                <a:t>2</a:t>
              </a:r>
              <a:endParaRPr baseline="30000"/>
            </a:p>
          </p:txBody>
        </p:sp>
        <p:sp>
          <p:nvSpPr>
            <p:cNvPr id="103" name="Google Shape;103;p15"/>
            <p:cNvSpPr txBox="1"/>
            <p:nvPr/>
          </p:nvSpPr>
          <p:spPr>
            <a:xfrm>
              <a:off x="6476722" y="4263672"/>
              <a:ext cx="355200" cy="26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θ</a:t>
              </a:r>
              <a:r>
                <a:rPr lang="en" baseline="30000"/>
                <a:t>3</a:t>
              </a:r>
              <a:endParaRPr baseline="3000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Challenge: How many tasks are out there?</a:t>
            </a:r>
            <a:endParaRPr/>
          </a:p>
        </p:txBody>
      </p:sp>
      <p:sp>
        <p:nvSpPr>
          <p:cNvPr id="109" name="Google Shape;109;p16"/>
          <p:cNvSpPr txBox="1">
            <a:spLocks noGrp="1"/>
          </p:cNvSpPr>
          <p:nvPr>
            <p:ph type="body" idx="1"/>
          </p:nvPr>
        </p:nvSpPr>
        <p:spPr>
          <a:xfrm>
            <a:off x="311700" y="1152475"/>
            <a:ext cx="8520600" cy="115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the few-shot meta-learning setting, we don’t have number of tasks. The question becomes: how do we propose a θ for a new task that also conforms to the task space structure? </a:t>
            </a:r>
            <a:endParaRPr/>
          </a:p>
          <a:p>
            <a:pPr marL="0" lvl="0" indent="0" algn="l" rtl="0">
              <a:spcBef>
                <a:spcPts val="1600"/>
              </a:spcBef>
              <a:spcAft>
                <a:spcPts val="1600"/>
              </a:spcAft>
              <a:buNone/>
            </a:pPr>
            <a:endParaRPr/>
          </a:p>
        </p:txBody>
      </p:sp>
      <p:grpSp>
        <p:nvGrpSpPr>
          <p:cNvPr id="110" name="Google Shape;110;p16"/>
          <p:cNvGrpSpPr/>
          <p:nvPr/>
        </p:nvGrpSpPr>
        <p:grpSpPr>
          <a:xfrm>
            <a:off x="311700" y="2353275"/>
            <a:ext cx="6024900" cy="2134025"/>
            <a:chOff x="311700" y="2353275"/>
            <a:chExt cx="6024900" cy="2134025"/>
          </a:xfrm>
        </p:grpSpPr>
        <p:sp>
          <p:nvSpPr>
            <p:cNvPr id="111" name="Google Shape;111;p16"/>
            <p:cNvSpPr/>
            <p:nvPr/>
          </p:nvSpPr>
          <p:spPr>
            <a:xfrm>
              <a:off x="1341450" y="3334450"/>
              <a:ext cx="1241700" cy="513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Model</a:t>
              </a:r>
              <a:endParaRPr/>
            </a:p>
          </p:txBody>
        </p:sp>
        <p:pic>
          <p:nvPicPr>
            <p:cNvPr id="112" name="Google Shape;112;p16"/>
            <p:cNvPicPr preferRelativeResize="0"/>
            <p:nvPr/>
          </p:nvPicPr>
          <p:blipFill>
            <a:blip r:embed="rId3">
              <a:alphaModFix/>
            </a:blip>
            <a:stretch>
              <a:fillRect/>
            </a:stretch>
          </p:blipFill>
          <p:spPr>
            <a:xfrm>
              <a:off x="581775" y="3491595"/>
              <a:ext cx="175150" cy="199300"/>
            </a:xfrm>
            <a:prstGeom prst="rect">
              <a:avLst/>
            </a:prstGeom>
            <a:noFill/>
            <a:ln>
              <a:noFill/>
            </a:ln>
          </p:spPr>
        </p:pic>
        <p:cxnSp>
          <p:nvCxnSpPr>
            <p:cNvPr id="113" name="Google Shape;113;p16"/>
            <p:cNvCxnSpPr/>
            <p:nvPr/>
          </p:nvCxnSpPr>
          <p:spPr>
            <a:xfrm>
              <a:off x="850988" y="3591250"/>
              <a:ext cx="459900" cy="0"/>
            </a:xfrm>
            <a:prstGeom prst="straightConnector1">
              <a:avLst/>
            </a:prstGeom>
            <a:noFill/>
            <a:ln w="9525" cap="flat" cmpd="sng">
              <a:solidFill>
                <a:schemeClr val="dk2"/>
              </a:solidFill>
              <a:prstDash val="solid"/>
              <a:round/>
              <a:headEnd type="none" w="med" len="med"/>
              <a:tailEnd type="triangle" w="med" len="med"/>
            </a:ln>
          </p:spPr>
        </p:cxnSp>
        <p:pic>
          <p:nvPicPr>
            <p:cNvPr id="114" name="Google Shape;114;p16"/>
            <p:cNvPicPr preferRelativeResize="0"/>
            <p:nvPr/>
          </p:nvPicPr>
          <p:blipFill>
            <a:blip r:embed="rId4">
              <a:alphaModFix/>
            </a:blip>
            <a:stretch>
              <a:fillRect/>
            </a:stretch>
          </p:blipFill>
          <p:spPr>
            <a:xfrm>
              <a:off x="3137775" y="3479161"/>
              <a:ext cx="175150" cy="224200"/>
            </a:xfrm>
            <a:prstGeom prst="rect">
              <a:avLst/>
            </a:prstGeom>
            <a:noFill/>
            <a:ln>
              <a:noFill/>
            </a:ln>
          </p:spPr>
        </p:pic>
        <p:cxnSp>
          <p:nvCxnSpPr>
            <p:cNvPr id="115" name="Google Shape;115;p16"/>
            <p:cNvCxnSpPr/>
            <p:nvPr/>
          </p:nvCxnSpPr>
          <p:spPr>
            <a:xfrm>
              <a:off x="2613688" y="3591250"/>
              <a:ext cx="459900" cy="0"/>
            </a:xfrm>
            <a:prstGeom prst="straightConnector1">
              <a:avLst/>
            </a:prstGeom>
            <a:noFill/>
            <a:ln w="9525" cap="flat" cmpd="sng">
              <a:solidFill>
                <a:schemeClr val="dk2"/>
              </a:solidFill>
              <a:prstDash val="solid"/>
              <a:round/>
              <a:headEnd type="none" w="med" len="med"/>
              <a:tailEnd type="triangle" w="med" len="med"/>
            </a:ln>
          </p:spPr>
        </p:cxnSp>
        <p:sp>
          <p:nvSpPr>
            <p:cNvPr id="116" name="Google Shape;116;p16"/>
            <p:cNvSpPr/>
            <p:nvPr/>
          </p:nvSpPr>
          <p:spPr>
            <a:xfrm>
              <a:off x="3801975" y="3280125"/>
              <a:ext cx="628500" cy="628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7" name="Google Shape;117;p16"/>
            <p:cNvPicPr preferRelativeResize="0"/>
            <p:nvPr/>
          </p:nvPicPr>
          <p:blipFill>
            <a:blip r:embed="rId5">
              <a:alphaModFix/>
            </a:blip>
            <a:stretch>
              <a:fillRect/>
            </a:stretch>
          </p:blipFill>
          <p:spPr>
            <a:xfrm>
              <a:off x="3982321" y="4288000"/>
              <a:ext cx="267809" cy="199300"/>
            </a:xfrm>
            <a:prstGeom prst="rect">
              <a:avLst/>
            </a:prstGeom>
            <a:noFill/>
            <a:ln>
              <a:noFill/>
            </a:ln>
          </p:spPr>
        </p:pic>
        <p:pic>
          <p:nvPicPr>
            <p:cNvPr id="118" name="Google Shape;118;p16"/>
            <p:cNvPicPr preferRelativeResize="0"/>
            <p:nvPr/>
          </p:nvPicPr>
          <p:blipFill>
            <a:blip r:embed="rId6">
              <a:alphaModFix/>
            </a:blip>
            <a:stretch>
              <a:fillRect/>
            </a:stretch>
          </p:blipFill>
          <p:spPr>
            <a:xfrm>
              <a:off x="4028658" y="3524320"/>
              <a:ext cx="175150" cy="140120"/>
            </a:xfrm>
            <a:prstGeom prst="rect">
              <a:avLst/>
            </a:prstGeom>
            <a:noFill/>
            <a:ln>
              <a:noFill/>
            </a:ln>
          </p:spPr>
        </p:pic>
        <p:pic>
          <p:nvPicPr>
            <p:cNvPr id="119" name="Google Shape;119;p16"/>
            <p:cNvPicPr preferRelativeResize="0"/>
            <p:nvPr/>
          </p:nvPicPr>
          <p:blipFill>
            <a:blip r:embed="rId7">
              <a:alphaModFix/>
            </a:blip>
            <a:stretch>
              <a:fillRect/>
            </a:stretch>
          </p:blipFill>
          <p:spPr>
            <a:xfrm>
              <a:off x="4011463" y="2695200"/>
              <a:ext cx="209528" cy="199300"/>
            </a:xfrm>
            <a:prstGeom prst="rect">
              <a:avLst/>
            </a:prstGeom>
            <a:noFill/>
            <a:ln>
              <a:noFill/>
            </a:ln>
          </p:spPr>
        </p:pic>
        <p:cxnSp>
          <p:nvCxnSpPr>
            <p:cNvPr id="120" name="Google Shape;120;p16"/>
            <p:cNvCxnSpPr>
              <a:endCxn id="116" idx="2"/>
            </p:cNvCxnSpPr>
            <p:nvPr/>
          </p:nvCxnSpPr>
          <p:spPr>
            <a:xfrm rot="10800000">
              <a:off x="4116225" y="3908625"/>
              <a:ext cx="0" cy="325800"/>
            </a:xfrm>
            <a:prstGeom prst="straightConnector1">
              <a:avLst/>
            </a:prstGeom>
            <a:noFill/>
            <a:ln w="9525" cap="flat" cmpd="sng">
              <a:solidFill>
                <a:schemeClr val="dk2"/>
              </a:solidFill>
              <a:prstDash val="solid"/>
              <a:round/>
              <a:headEnd type="none" w="med" len="med"/>
              <a:tailEnd type="triangle" w="med" len="med"/>
            </a:ln>
          </p:spPr>
        </p:cxnSp>
        <p:cxnSp>
          <p:nvCxnSpPr>
            <p:cNvPr id="121" name="Google Shape;121;p16"/>
            <p:cNvCxnSpPr/>
            <p:nvPr/>
          </p:nvCxnSpPr>
          <p:spPr>
            <a:xfrm rot="10800000">
              <a:off x="4116213" y="2946863"/>
              <a:ext cx="0" cy="325800"/>
            </a:xfrm>
            <a:prstGeom prst="straightConnector1">
              <a:avLst/>
            </a:prstGeom>
            <a:noFill/>
            <a:ln w="9525" cap="flat" cmpd="sng">
              <a:solidFill>
                <a:schemeClr val="dk2"/>
              </a:solidFill>
              <a:prstDash val="solid"/>
              <a:round/>
              <a:headEnd type="none" w="med" len="med"/>
              <a:tailEnd type="triangle" w="med" len="med"/>
            </a:ln>
          </p:spPr>
        </p:cxnSp>
        <p:sp>
          <p:nvSpPr>
            <p:cNvPr id="122" name="Google Shape;122;p16"/>
            <p:cNvSpPr txBox="1"/>
            <p:nvPr/>
          </p:nvSpPr>
          <p:spPr>
            <a:xfrm>
              <a:off x="311700" y="2353275"/>
              <a:ext cx="6024900" cy="674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800">
                  <a:solidFill>
                    <a:schemeClr val="dk1"/>
                  </a:solidFill>
                </a:rPr>
                <a:t>Solution: </a:t>
              </a:r>
              <a:r>
                <a:rPr lang="en" sz="1800" b="1">
                  <a:solidFill>
                    <a:schemeClr val="dk1"/>
                  </a:solidFill>
                </a:rPr>
                <a:t>Black-box Adapatation</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4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LEO: Learning task-dependent θ</a:t>
            </a:r>
            <a:endParaRPr/>
          </a:p>
        </p:txBody>
      </p:sp>
      <p:sp>
        <p:nvSpPr>
          <p:cNvPr id="128" name="Google Shape;128;p17"/>
          <p:cNvSpPr txBox="1">
            <a:spLocks noGrp="1"/>
          </p:cNvSpPr>
          <p:nvPr>
            <p:ph type="body" idx="1"/>
          </p:nvPr>
        </p:nvSpPr>
        <p:spPr>
          <a:xfrm>
            <a:off x="311700" y="1152475"/>
            <a:ext cx="8520600" cy="810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LEO learns a function to propose θ by taking data points as input by mapping data point </a:t>
            </a:r>
            <a:r>
              <a:rPr lang="en" b="1"/>
              <a:t>x</a:t>
            </a:r>
            <a:r>
              <a:rPr lang="en"/>
              <a:t> into a latent vector </a:t>
            </a:r>
            <a:r>
              <a:rPr lang="en" b="1"/>
              <a:t>z</a:t>
            </a:r>
            <a:r>
              <a:rPr lang="en"/>
              <a:t>, then decode into </a:t>
            </a:r>
            <a:r>
              <a:rPr lang="en" b="1"/>
              <a:t>θ</a:t>
            </a:r>
            <a:r>
              <a:rPr lang="en"/>
              <a:t> for final classification.</a:t>
            </a:r>
            <a:endParaRPr/>
          </a:p>
        </p:txBody>
      </p:sp>
      <p:pic>
        <p:nvPicPr>
          <p:cNvPr id="129" name="Google Shape;129;p17"/>
          <p:cNvPicPr preferRelativeResize="0"/>
          <p:nvPr/>
        </p:nvPicPr>
        <p:blipFill>
          <a:blip r:embed="rId3">
            <a:alphaModFix/>
          </a:blip>
          <a:stretch>
            <a:fillRect/>
          </a:stretch>
        </p:blipFill>
        <p:spPr>
          <a:xfrm>
            <a:off x="273375" y="2097225"/>
            <a:ext cx="3358375" cy="2762925"/>
          </a:xfrm>
          <a:prstGeom prst="rect">
            <a:avLst/>
          </a:prstGeom>
          <a:noFill/>
          <a:ln>
            <a:noFill/>
          </a:ln>
        </p:spPr>
      </p:pic>
      <p:sp>
        <p:nvSpPr>
          <p:cNvPr id="130" name="Google Shape;130;p17"/>
          <p:cNvSpPr txBox="1"/>
          <p:nvPr/>
        </p:nvSpPr>
        <p:spPr>
          <a:xfrm>
            <a:off x="4299050" y="2161688"/>
            <a:ext cx="4332000" cy="263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t>Several advantages for the latent space:</a:t>
            </a:r>
            <a:endParaRPr sz="1800"/>
          </a:p>
          <a:p>
            <a:pPr marL="457200" lvl="0" indent="-342900" algn="l" rtl="0">
              <a:spcBef>
                <a:spcPts val="0"/>
              </a:spcBef>
              <a:spcAft>
                <a:spcPts val="0"/>
              </a:spcAft>
              <a:buSzPts val="1800"/>
              <a:buAutoNum type="arabicPeriod"/>
            </a:pPr>
            <a:r>
              <a:rPr lang="en" sz="1800"/>
              <a:t>Easier optimization (a smaller gradient step in latent space can have a larger impact on final parameter space)</a:t>
            </a:r>
            <a:endParaRPr sz="1800"/>
          </a:p>
          <a:p>
            <a:pPr marL="457200" lvl="0" indent="-342900" algn="l" rtl="0">
              <a:spcBef>
                <a:spcPts val="0"/>
              </a:spcBef>
              <a:spcAft>
                <a:spcPts val="0"/>
              </a:spcAft>
              <a:buSzPts val="1800"/>
              <a:buAutoNum type="arabicPeriod"/>
            </a:pPr>
            <a:r>
              <a:rPr lang="en" sz="1800"/>
              <a:t>Easier adaptation (more expressive than a single θ) </a:t>
            </a:r>
            <a:endParaRPr sz="1800"/>
          </a:p>
          <a:p>
            <a:pPr marL="457200" lvl="0" indent="-342900" algn="l" rtl="0">
              <a:spcBef>
                <a:spcPts val="0"/>
              </a:spcBef>
              <a:spcAft>
                <a:spcPts val="0"/>
              </a:spcAft>
              <a:buSzPts val="1800"/>
              <a:buAutoNum type="arabicPeriod"/>
            </a:pPr>
            <a:r>
              <a:rPr lang="en" sz="1800"/>
              <a:t>Task agnostic (if </a:t>
            </a:r>
            <a:r>
              <a:rPr lang="en" sz="1800" b="1"/>
              <a:t>z</a:t>
            </a:r>
            <a:r>
              <a:rPr lang="en" sz="1800"/>
              <a:t> is inferred from data </a:t>
            </a:r>
            <a:r>
              <a:rPr lang="en" sz="1800" b="1"/>
              <a:t>x, y</a:t>
            </a:r>
            <a:r>
              <a:rPr lang="en" sz="1800"/>
              <a:t>)</a:t>
            </a:r>
            <a:endParaRPr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fade">
                                      <p:cBhvr>
                                        <p:cTn id="7" dur="5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First Step: Encoding Data (Outer Loop)</a:t>
            </a:r>
            <a:endParaRPr/>
          </a:p>
        </p:txBody>
      </p:sp>
      <p:sp>
        <p:nvSpPr>
          <p:cNvPr id="136" name="Google Shape;136;p18"/>
          <p:cNvSpPr txBox="1">
            <a:spLocks noGrp="1"/>
          </p:cNvSpPr>
          <p:nvPr>
            <p:ph type="body" idx="1"/>
          </p:nvPr>
        </p:nvSpPr>
        <p:spPr>
          <a:xfrm>
            <a:off x="311700" y="1152475"/>
            <a:ext cx="8520600" cy="164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Encoder</a:t>
            </a:r>
            <a:r>
              <a:rPr lang="en"/>
              <a:t>: Φ</a:t>
            </a:r>
            <a:r>
              <a:rPr lang="en" b="1" baseline="-25000"/>
              <a:t>e</a:t>
            </a:r>
            <a:r>
              <a:rPr lang="en"/>
              <a:t>  x → h</a:t>
            </a:r>
            <a:endParaRPr/>
          </a:p>
          <a:p>
            <a:pPr marL="0" lvl="0" indent="0" algn="l" rtl="0">
              <a:spcBef>
                <a:spcPts val="1600"/>
              </a:spcBef>
              <a:spcAft>
                <a:spcPts val="0"/>
              </a:spcAft>
              <a:buNone/>
            </a:pPr>
            <a:r>
              <a:rPr lang="en" b="1"/>
              <a:t>Relation network</a:t>
            </a:r>
            <a:r>
              <a:rPr lang="en"/>
              <a:t>: </a:t>
            </a:r>
            <a:r>
              <a:rPr lang="en">
                <a:solidFill>
                  <a:schemeClr val="dk1"/>
                </a:solidFill>
              </a:rPr>
              <a:t>Φ</a:t>
            </a:r>
            <a:r>
              <a:rPr lang="en" b="1" baseline="-25000">
                <a:solidFill>
                  <a:schemeClr val="dk1"/>
                </a:solidFill>
              </a:rPr>
              <a:t>r</a:t>
            </a:r>
            <a:r>
              <a:rPr lang="en">
                <a:solidFill>
                  <a:schemeClr val="dk1"/>
                </a:solidFill>
              </a:rPr>
              <a:t>  </a:t>
            </a:r>
            <a:r>
              <a:rPr lang="en"/>
              <a:t>inspired by non-parametric few-shot learning, we don’t just want to map a datum to its hidden representation, we need to consider the relationship of classes in our training example.</a:t>
            </a:r>
            <a:endParaRPr/>
          </a:p>
          <a:p>
            <a:pPr marL="0" lvl="0" indent="0" algn="l" rtl="0">
              <a:spcBef>
                <a:spcPts val="1600"/>
              </a:spcBef>
              <a:spcAft>
                <a:spcPts val="1600"/>
              </a:spcAft>
              <a:buNone/>
            </a:pPr>
            <a:endParaRPr/>
          </a:p>
        </p:txBody>
      </p:sp>
      <p:pic>
        <p:nvPicPr>
          <p:cNvPr id="137" name="Google Shape;137;p18"/>
          <p:cNvPicPr preferRelativeResize="0"/>
          <p:nvPr/>
        </p:nvPicPr>
        <p:blipFill>
          <a:blip r:embed="rId3">
            <a:alphaModFix/>
          </a:blip>
          <a:stretch>
            <a:fillRect/>
          </a:stretch>
        </p:blipFill>
        <p:spPr>
          <a:xfrm>
            <a:off x="1205638" y="3092200"/>
            <a:ext cx="5979949" cy="1314025"/>
          </a:xfrm>
          <a:prstGeom prst="rect">
            <a:avLst/>
          </a:prstGeom>
          <a:noFill/>
          <a:ln>
            <a:noFill/>
          </a:ln>
        </p:spPr>
      </p:pic>
      <p:sp>
        <p:nvSpPr>
          <p:cNvPr id="138" name="Google Shape;138;p18"/>
          <p:cNvSpPr txBox="1"/>
          <p:nvPr/>
        </p:nvSpPr>
        <p:spPr>
          <a:xfrm>
            <a:off x="5102263" y="2832775"/>
            <a:ext cx="789600" cy="32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Class n</a:t>
            </a:r>
            <a:endParaRPr>
              <a:solidFill>
                <a:srgbClr val="FF0000"/>
              </a:solidFill>
            </a:endParaRPr>
          </a:p>
        </p:txBody>
      </p:sp>
      <p:sp>
        <p:nvSpPr>
          <p:cNvPr id="139" name="Google Shape;139;p18"/>
          <p:cNvSpPr txBox="1"/>
          <p:nvPr/>
        </p:nvSpPr>
        <p:spPr>
          <a:xfrm>
            <a:off x="6335463" y="2802175"/>
            <a:ext cx="1602900" cy="39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Every other class</a:t>
            </a:r>
            <a:endParaRPr>
              <a:solidFill>
                <a:srgbClr val="FF0000"/>
              </a:solidFill>
            </a:endParaRPr>
          </a:p>
        </p:txBody>
      </p:sp>
      <p:cxnSp>
        <p:nvCxnSpPr>
          <p:cNvPr id="140" name="Google Shape;140;p18"/>
          <p:cNvCxnSpPr/>
          <p:nvPr/>
        </p:nvCxnSpPr>
        <p:spPr>
          <a:xfrm>
            <a:off x="5418088" y="3162175"/>
            <a:ext cx="95700" cy="191700"/>
          </a:xfrm>
          <a:prstGeom prst="straightConnector1">
            <a:avLst/>
          </a:prstGeom>
          <a:noFill/>
          <a:ln w="9525" cap="flat" cmpd="sng">
            <a:solidFill>
              <a:schemeClr val="dk2"/>
            </a:solidFill>
            <a:prstDash val="solid"/>
            <a:round/>
            <a:headEnd type="none" w="med" len="med"/>
            <a:tailEnd type="triangle" w="med" len="med"/>
          </a:ln>
        </p:spPr>
      </p:cxnSp>
      <p:cxnSp>
        <p:nvCxnSpPr>
          <p:cNvPr id="141" name="Google Shape;141;p18"/>
          <p:cNvCxnSpPr/>
          <p:nvPr/>
        </p:nvCxnSpPr>
        <p:spPr>
          <a:xfrm flipH="1">
            <a:off x="6719588" y="3116125"/>
            <a:ext cx="260700" cy="1611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Second Step: Decoding Z (Inner Loop)</a:t>
            </a:r>
            <a:endParaRPr/>
          </a:p>
        </p:txBody>
      </p:sp>
      <p:sp>
        <p:nvSpPr>
          <p:cNvPr id="147" name="Google Shape;147;p19"/>
          <p:cNvSpPr txBox="1">
            <a:spLocks noGrp="1"/>
          </p:cNvSpPr>
          <p:nvPr>
            <p:ph type="body" idx="1"/>
          </p:nvPr>
        </p:nvSpPr>
        <p:spPr>
          <a:xfrm>
            <a:off x="311700" y="1152475"/>
            <a:ext cx="8520600" cy="189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Decoder</a:t>
            </a:r>
            <a:r>
              <a:rPr lang="en"/>
              <a:t>: </a:t>
            </a:r>
            <a:r>
              <a:rPr lang="en">
                <a:solidFill>
                  <a:schemeClr val="dk1"/>
                </a:solidFill>
              </a:rPr>
              <a:t>Φ</a:t>
            </a:r>
            <a:r>
              <a:rPr lang="en" b="1" baseline="-25000">
                <a:solidFill>
                  <a:schemeClr val="dk1"/>
                </a:solidFill>
              </a:rPr>
              <a:t>d</a:t>
            </a:r>
            <a:r>
              <a:rPr lang="en"/>
              <a:t> after obtaining the latent representation </a:t>
            </a:r>
            <a:r>
              <a:rPr lang="en" b="1"/>
              <a:t>z</a:t>
            </a:r>
            <a:r>
              <a:rPr lang="en"/>
              <a:t>, we need to enter the “inner loop”, getting </a:t>
            </a:r>
            <a:r>
              <a:rPr lang="en" b="1"/>
              <a:t>θ</a:t>
            </a:r>
            <a:r>
              <a:rPr lang="en"/>
              <a:t> so that we can </a:t>
            </a:r>
            <a:r>
              <a:rPr lang="en" b="1"/>
              <a:t>fine-tune</a:t>
            </a:r>
            <a:r>
              <a:rPr lang="en"/>
              <a:t> for the adaptation tasks.</a:t>
            </a:r>
            <a:endParaRPr/>
          </a:p>
          <a:p>
            <a:pPr marL="0" lvl="0" indent="0" algn="l" rtl="0">
              <a:spcBef>
                <a:spcPts val="1600"/>
              </a:spcBef>
              <a:spcAft>
                <a:spcPts val="0"/>
              </a:spcAft>
              <a:buNone/>
            </a:pPr>
            <a:r>
              <a:rPr lang="en"/>
              <a:t>Since we used relation network, we will actually obtain </a:t>
            </a:r>
            <a:endParaRPr/>
          </a:p>
          <a:p>
            <a:pPr marL="0" lvl="0" indent="0" algn="l" rtl="0">
              <a:spcBef>
                <a:spcPts val="1600"/>
              </a:spcBef>
              <a:spcAft>
                <a:spcPts val="1600"/>
              </a:spcAft>
              <a:buNone/>
            </a:pPr>
            <a:r>
              <a:rPr lang="en"/>
              <a:t>Again, inspired by non-parameteric few-shot learning:</a:t>
            </a:r>
            <a:endParaRPr/>
          </a:p>
        </p:txBody>
      </p:sp>
      <p:pic>
        <p:nvPicPr>
          <p:cNvPr id="148" name="Google Shape;148;p19"/>
          <p:cNvPicPr preferRelativeResize="0"/>
          <p:nvPr/>
        </p:nvPicPr>
        <p:blipFill>
          <a:blip r:embed="rId3">
            <a:alphaModFix/>
          </a:blip>
          <a:stretch>
            <a:fillRect/>
          </a:stretch>
        </p:blipFill>
        <p:spPr>
          <a:xfrm>
            <a:off x="5962773" y="2092050"/>
            <a:ext cx="1911261" cy="269825"/>
          </a:xfrm>
          <a:prstGeom prst="rect">
            <a:avLst/>
          </a:prstGeom>
          <a:noFill/>
          <a:ln>
            <a:noFill/>
          </a:ln>
        </p:spPr>
      </p:pic>
      <p:pic>
        <p:nvPicPr>
          <p:cNvPr id="149" name="Google Shape;149;p19"/>
          <p:cNvPicPr preferRelativeResize="0"/>
          <p:nvPr/>
        </p:nvPicPr>
        <p:blipFill>
          <a:blip r:embed="rId4">
            <a:alphaModFix/>
          </a:blip>
          <a:stretch>
            <a:fillRect/>
          </a:stretch>
        </p:blipFill>
        <p:spPr>
          <a:xfrm>
            <a:off x="2229725" y="3177825"/>
            <a:ext cx="4500526" cy="877900"/>
          </a:xfrm>
          <a:prstGeom prst="rect">
            <a:avLst/>
          </a:prstGeom>
          <a:noFill/>
          <a:ln>
            <a:noFill/>
          </a:ln>
        </p:spPr>
      </p:pic>
      <p:pic>
        <p:nvPicPr>
          <p:cNvPr id="150" name="Google Shape;150;p19"/>
          <p:cNvPicPr preferRelativeResize="0"/>
          <p:nvPr/>
        </p:nvPicPr>
        <p:blipFill>
          <a:blip r:embed="rId5">
            <a:alphaModFix/>
          </a:blip>
          <a:stretch>
            <a:fillRect/>
          </a:stretch>
        </p:blipFill>
        <p:spPr>
          <a:xfrm>
            <a:off x="2205463" y="4143075"/>
            <a:ext cx="4549051" cy="662775"/>
          </a:xfrm>
          <a:prstGeom prst="rect">
            <a:avLst/>
          </a:prstGeom>
          <a:noFill/>
          <a:ln>
            <a:noFill/>
          </a:ln>
        </p:spPr>
      </p:pic>
      <p:cxnSp>
        <p:nvCxnSpPr>
          <p:cNvPr id="151" name="Google Shape;151;p19"/>
          <p:cNvCxnSpPr/>
          <p:nvPr/>
        </p:nvCxnSpPr>
        <p:spPr>
          <a:xfrm>
            <a:off x="1747725" y="3679400"/>
            <a:ext cx="774300" cy="38400"/>
          </a:xfrm>
          <a:prstGeom prst="straightConnector1">
            <a:avLst/>
          </a:prstGeom>
          <a:noFill/>
          <a:ln w="9525" cap="flat" cmpd="sng">
            <a:solidFill>
              <a:schemeClr val="dk2"/>
            </a:solidFill>
            <a:prstDash val="solid"/>
            <a:round/>
            <a:headEnd type="none" w="med" len="med"/>
            <a:tailEnd type="triangle" w="med" len="med"/>
          </a:ln>
        </p:spPr>
      </p:cxnSp>
      <p:sp>
        <p:nvSpPr>
          <p:cNvPr id="152" name="Google Shape;152;p19"/>
          <p:cNvSpPr txBox="1"/>
          <p:nvPr/>
        </p:nvSpPr>
        <p:spPr>
          <a:xfrm>
            <a:off x="267375" y="3177825"/>
            <a:ext cx="1549200" cy="93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These are equivalent to label embedding matrix</a:t>
            </a:r>
            <a:endParaRPr>
              <a:solidFill>
                <a:srgbClr val="FF0000"/>
              </a:solidFill>
            </a:endParaRPr>
          </a:p>
        </p:txBody>
      </p:sp>
      <p:pic>
        <p:nvPicPr>
          <p:cNvPr id="153" name="Google Shape;153;p19"/>
          <p:cNvPicPr preferRelativeResize="0"/>
          <p:nvPr/>
        </p:nvPicPr>
        <p:blipFill>
          <a:blip r:embed="rId6">
            <a:alphaModFix/>
          </a:blip>
          <a:stretch>
            <a:fillRect/>
          </a:stretch>
        </p:blipFill>
        <p:spPr>
          <a:xfrm>
            <a:off x="6471650" y="3526288"/>
            <a:ext cx="2301200" cy="344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Adaptation Procedure: Inner Loop</a:t>
            </a:r>
            <a:endParaRPr/>
          </a:p>
        </p:txBody>
      </p:sp>
      <p:sp>
        <p:nvSpPr>
          <p:cNvPr id="159" name="Google Shape;159;p20"/>
          <p:cNvSpPr txBox="1">
            <a:spLocks noGrp="1"/>
          </p:cNvSpPr>
          <p:nvPr>
            <p:ph type="body" idx="1"/>
          </p:nvPr>
        </p:nvSpPr>
        <p:spPr>
          <a:xfrm>
            <a:off x="311700" y="1152475"/>
            <a:ext cx="8520600" cy="350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Adaptation by Latent Embedding Optimization (LEO) (The “Inner Loop”)</a:t>
            </a:r>
            <a:endParaRPr/>
          </a:p>
          <a:p>
            <a:pPr marL="0" lvl="0" indent="0" algn="l" rtl="0">
              <a:spcBef>
                <a:spcPts val="1600"/>
              </a:spcBef>
              <a:spcAft>
                <a:spcPts val="0"/>
              </a:spcAft>
              <a:buNone/>
            </a:pPr>
            <a:endParaRPr/>
          </a:p>
          <a:p>
            <a:pPr marL="0" lvl="0" indent="0" algn="l" rtl="0">
              <a:spcBef>
                <a:spcPts val="1600"/>
              </a:spcBef>
              <a:spcAft>
                <a:spcPts val="0"/>
              </a:spcAft>
              <a:buNone/>
            </a:pPr>
            <a:r>
              <a:rPr lang="en"/>
              <a:t>Repeat N times:</a:t>
            </a: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1600"/>
              </a:spcAft>
              <a:buNone/>
            </a:pPr>
            <a:r>
              <a:rPr lang="en"/>
              <a:t>End Repeat</a:t>
            </a:r>
            <a:endParaRPr/>
          </a:p>
        </p:txBody>
      </p:sp>
      <p:pic>
        <p:nvPicPr>
          <p:cNvPr id="160" name="Google Shape;160;p20"/>
          <p:cNvPicPr preferRelativeResize="0"/>
          <p:nvPr/>
        </p:nvPicPr>
        <p:blipFill>
          <a:blip r:embed="rId3">
            <a:alphaModFix/>
          </a:blip>
          <a:stretch>
            <a:fillRect/>
          </a:stretch>
        </p:blipFill>
        <p:spPr>
          <a:xfrm>
            <a:off x="810838" y="2725600"/>
            <a:ext cx="4549051" cy="662775"/>
          </a:xfrm>
          <a:prstGeom prst="rect">
            <a:avLst/>
          </a:prstGeom>
          <a:noFill/>
          <a:ln>
            <a:noFill/>
          </a:ln>
        </p:spPr>
      </p:pic>
      <p:pic>
        <p:nvPicPr>
          <p:cNvPr id="161" name="Google Shape;161;p20"/>
          <p:cNvPicPr preferRelativeResize="0"/>
          <p:nvPr/>
        </p:nvPicPr>
        <p:blipFill>
          <a:blip r:embed="rId4">
            <a:alphaModFix/>
          </a:blip>
          <a:stretch>
            <a:fillRect/>
          </a:stretch>
        </p:blipFill>
        <p:spPr>
          <a:xfrm>
            <a:off x="1042050" y="3579100"/>
            <a:ext cx="1855475" cy="273050"/>
          </a:xfrm>
          <a:prstGeom prst="rect">
            <a:avLst/>
          </a:prstGeom>
          <a:noFill/>
          <a:ln>
            <a:noFill/>
          </a:ln>
        </p:spPr>
      </p:pic>
      <p:pic>
        <p:nvPicPr>
          <p:cNvPr id="162" name="Google Shape;162;p20"/>
          <p:cNvPicPr preferRelativeResize="0"/>
          <p:nvPr/>
        </p:nvPicPr>
        <p:blipFill>
          <a:blip r:embed="rId5">
            <a:alphaModFix/>
          </a:blip>
          <a:stretch>
            <a:fillRect/>
          </a:stretch>
        </p:blipFill>
        <p:spPr>
          <a:xfrm>
            <a:off x="428350" y="1805925"/>
            <a:ext cx="765514" cy="212962"/>
          </a:xfrm>
          <a:prstGeom prst="rect">
            <a:avLst/>
          </a:prstGeom>
          <a:noFill/>
          <a:ln>
            <a:noFill/>
          </a:ln>
        </p:spPr>
      </p:pic>
      <p:sp>
        <p:nvSpPr>
          <p:cNvPr id="163" name="Google Shape;163;p20"/>
          <p:cNvSpPr txBox="1"/>
          <p:nvPr/>
        </p:nvSpPr>
        <p:spPr>
          <a:xfrm>
            <a:off x="5986700" y="3579100"/>
            <a:ext cx="2514300" cy="72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Only update </a:t>
            </a:r>
            <a:r>
              <a:rPr lang="en" b="1"/>
              <a:t>z</a:t>
            </a:r>
            <a:r>
              <a:rPr lang="en"/>
              <a:t>, no update on decoder parameters </a:t>
            </a:r>
            <a:r>
              <a:rPr lang="en" sz="1800">
                <a:solidFill>
                  <a:schemeClr val="dk1"/>
                </a:solidFill>
              </a:rPr>
              <a:t>Φ</a:t>
            </a:r>
            <a:r>
              <a:rPr lang="en" sz="1800" b="1" baseline="-25000">
                <a:solidFill>
                  <a:schemeClr val="dk1"/>
                </a:solidFill>
              </a:rPr>
              <a:t>d</a:t>
            </a:r>
            <a:endParaRPr b="1"/>
          </a:p>
        </p:txBody>
      </p:sp>
      <p:sp>
        <p:nvSpPr>
          <p:cNvPr id="164" name="Google Shape;164;p20"/>
          <p:cNvSpPr txBox="1"/>
          <p:nvPr/>
        </p:nvSpPr>
        <p:spPr>
          <a:xfrm>
            <a:off x="6097625" y="2072750"/>
            <a:ext cx="2281200" cy="72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We update inner loop to obtain θ’ for outer loop update.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Meta-Training Procedure: Outer Loop</a:t>
            </a:r>
            <a:endParaRPr/>
          </a:p>
        </p:txBody>
      </p:sp>
      <p:sp>
        <p:nvSpPr>
          <p:cNvPr id="170" name="Google Shape;170;p21"/>
          <p:cNvSpPr txBox="1">
            <a:spLocks noGrp="1"/>
          </p:cNvSpPr>
          <p:nvPr>
            <p:ph type="body" idx="1"/>
          </p:nvPr>
        </p:nvSpPr>
        <p:spPr>
          <a:xfrm>
            <a:off x="311700" y="1152475"/>
            <a:ext cx="8626200" cy="302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 each sampled task, we update the encoder </a:t>
            </a:r>
            <a:r>
              <a:rPr lang="en">
                <a:solidFill>
                  <a:schemeClr val="dk1"/>
                </a:solidFill>
              </a:rPr>
              <a:t>Φ</a:t>
            </a:r>
            <a:r>
              <a:rPr lang="en" b="1" baseline="-25000">
                <a:solidFill>
                  <a:schemeClr val="dk1"/>
                </a:solidFill>
              </a:rPr>
              <a:t>e</a:t>
            </a:r>
            <a:r>
              <a:rPr lang="en"/>
              <a:t> , relation network </a:t>
            </a:r>
            <a:r>
              <a:rPr lang="en">
                <a:solidFill>
                  <a:schemeClr val="dk1"/>
                </a:solidFill>
              </a:rPr>
              <a:t>Φ</a:t>
            </a:r>
            <a:r>
              <a:rPr lang="en" b="1" baseline="-25000">
                <a:solidFill>
                  <a:schemeClr val="dk1"/>
                </a:solidFill>
              </a:rPr>
              <a:t>r</a:t>
            </a:r>
            <a:r>
              <a:rPr lang="en"/>
              <a:t> and decoder </a:t>
            </a:r>
            <a:r>
              <a:rPr lang="en">
                <a:solidFill>
                  <a:schemeClr val="dk1"/>
                </a:solidFill>
              </a:rPr>
              <a:t>Φ</a:t>
            </a:r>
            <a:r>
              <a:rPr lang="en" b="1" baseline="-25000">
                <a:solidFill>
                  <a:schemeClr val="dk1"/>
                </a:solidFill>
              </a:rPr>
              <a:t>d </a:t>
            </a:r>
            <a:r>
              <a:rPr lang="en"/>
              <a:t>once via the validation data in that task.</a:t>
            </a: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1600"/>
              </a:spcAft>
              <a:buNone/>
            </a:pPr>
            <a:r>
              <a:rPr lang="en"/>
              <a:t>We use the updated </a:t>
            </a:r>
            <a:r>
              <a:rPr lang="en" b="1"/>
              <a:t>z’</a:t>
            </a:r>
            <a:r>
              <a:rPr lang="en"/>
              <a:t> to learn </a:t>
            </a:r>
            <a:r>
              <a:rPr lang="en" b="1"/>
              <a:t>z</a:t>
            </a:r>
            <a:r>
              <a:rPr lang="en"/>
              <a:t>, use MSE loss to update parameters for encoder and relation network. We use the </a:t>
            </a:r>
            <a:r>
              <a:rPr lang="en" b="1"/>
              <a:t>validation loss to update decoder parameters</a:t>
            </a:r>
            <a:r>
              <a:rPr lang="en"/>
              <a:t>.</a:t>
            </a:r>
            <a:endParaRPr/>
          </a:p>
        </p:txBody>
      </p:sp>
      <p:pic>
        <p:nvPicPr>
          <p:cNvPr id="171" name="Google Shape;171;p21"/>
          <p:cNvPicPr preferRelativeResize="0"/>
          <p:nvPr/>
        </p:nvPicPr>
        <p:blipFill>
          <a:blip r:embed="rId3">
            <a:alphaModFix/>
          </a:blip>
          <a:stretch>
            <a:fillRect/>
          </a:stretch>
        </p:blipFill>
        <p:spPr>
          <a:xfrm>
            <a:off x="311700" y="2142125"/>
            <a:ext cx="7191075" cy="639000"/>
          </a:xfrm>
          <a:prstGeom prst="rect">
            <a:avLst/>
          </a:prstGeom>
          <a:noFill/>
          <a:ln>
            <a:noFill/>
          </a:ln>
        </p:spPr>
      </p:pic>
      <p:sp>
        <p:nvSpPr>
          <p:cNvPr id="172" name="Google Shape;172;p21"/>
          <p:cNvSpPr txBox="1"/>
          <p:nvPr/>
        </p:nvSpPr>
        <p:spPr>
          <a:xfrm>
            <a:off x="5823450" y="4029100"/>
            <a:ext cx="2928300" cy="36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This means decoder is part of the “slow network”</a:t>
            </a:r>
            <a:endParaRPr>
              <a:solidFill>
                <a:srgbClr val="FF0000"/>
              </a:solidFill>
            </a:endParaRPr>
          </a:p>
        </p:txBody>
      </p:sp>
      <p:cxnSp>
        <p:nvCxnSpPr>
          <p:cNvPr id="173" name="Google Shape;173;p21"/>
          <p:cNvCxnSpPr>
            <a:stCxn id="172" idx="0"/>
          </p:cNvCxnSpPr>
          <p:nvPr/>
        </p:nvCxnSpPr>
        <p:spPr>
          <a:xfrm rot="10800000">
            <a:off x="7069200" y="3733300"/>
            <a:ext cx="218400" cy="295800"/>
          </a:xfrm>
          <a:prstGeom prst="straightConnector1">
            <a:avLst/>
          </a:prstGeom>
          <a:noFill/>
          <a:ln w="9525" cap="flat" cmpd="sng">
            <a:solidFill>
              <a:srgbClr val="000000"/>
            </a:solidFill>
            <a:prstDash val="solid"/>
            <a:round/>
            <a:headEnd type="none" w="med" len="med"/>
            <a:tailEnd type="triangle" w="med" len="med"/>
          </a:ln>
        </p:spPr>
      </p:cxnSp>
      <p:pic>
        <p:nvPicPr>
          <p:cNvPr id="174" name="Google Shape;174;p21"/>
          <p:cNvPicPr preferRelativeResize="0"/>
          <p:nvPr/>
        </p:nvPicPr>
        <p:blipFill>
          <a:blip r:embed="rId4">
            <a:alphaModFix/>
          </a:blip>
          <a:stretch>
            <a:fillRect/>
          </a:stretch>
        </p:blipFill>
        <p:spPr>
          <a:xfrm>
            <a:off x="446500" y="4029100"/>
            <a:ext cx="4559025" cy="521325"/>
          </a:xfrm>
          <a:prstGeom prst="rect">
            <a:avLst/>
          </a:prstGeom>
          <a:noFill/>
          <a:ln>
            <a:noFill/>
          </a:ln>
        </p:spPr>
      </p:pic>
      <p:cxnSp>
        <p:nvCxnSpPr>
          <p:cNvPr id="175" name="Google Shape;175;p21"/>
          <p:cNvCxnSpPr/>
          <p:nvPr/>
        </p:nvCxnSpPr>
        <p:spPr>
          <a:xfrm>
            <a:off x="4208325" y="4453600"/>
            <a:ext cx="406200" cy="168600"/>
          </a:xfrm>
          <a:prstGeom prst="straightConnector1">
            <a:avLst/>
          </a:prstGeom>
          <a:noFill/>
          <a:ln w="9525" cap="flat" cmpd="sng">
            <a:solidFill>
              <a:srgbClr val="000000"/>
            </a:solidFill>
            <a:prstDash val="solid"/>
            <a:round/>
            <a:headEnd type="triangle" w="med" len="med"/>
            <a:tailEnd type="none" w="med" len="med"/>
          </a:ln>
        </p:spPr>
      </p:cxnSp>
      <p:sp>
        <p:nvSpPr>
          <p:cNvPr id="176" name="Google Shape;176;p21"/>
          <p:cNvSpPr txBox="1"/>
          <p:nvPr/>
        </p:nvSpPr>
        <p:spPr>
          <a:xfrm>
            <a:off x="4706425" y="4550425"/>
            <a:ext cx="2796300" cy="36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Correlation matrix on rows of </a:t>
            </a:r>
            <a:r>
              <a:rPr lang="en" sz="1800">
                <a:solidFill>
                  <a:schemeClr val="dk1"/>
                </a:solidFill>
              </a:rPr>
              <a:t>Φ</a:t>
            </a:r>
            <a:r>
              <a:rPr lang="en" sz="1800" baseline="-25000">
                <a:solidFill>
                  <a:schemeClr val="dk1"/>
                </a:solidFill>
              </a:rPr>
              <a:t>d</a:t>
            </a:r>
            <a:endParaRPr/>
          </a:p>
        </p:txBody>
      </p:sp>
      <p:pic>
        <p:nvPicPr>
          <p:cNvPr id="177" name="Google Shape;177;p21"/>
          <p:cNvPicPr preferRelativeResize="0"/>
          <p:nvPr/>
        </p:nvPicPr>
        <p:blipFill>
          <a:blip r:embed="rId5">
            <a:alphaModFix/>
          </a:blip>
          <a:stretch>
            <a:fillRect/>
          </a:stretch>
        </p:blipFill>
        <p:spPr>
          <a:xfrm>
            <a:off x="6416825" y="1749673"/>
            <a:ext cx="1975319" cy="295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2"/>
          <p:cNvSpPr txBox="1">
            <a:spLocks noGrp="1"/>
          </p:cNvSpPr>
          <p:nvPr>
            <p:ph type="title"/>
          </p:nvPr>
        </p:nvSpPr>
        <p:spPr>
          <a:xfrm>
            <a:off x="311700" y="345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LEO Algorithm</a:t>
            </a:r>
            <a:endParaRPr/>
          </a:p>
        </p:txBody>
      </p:sp>
      <p:pic>
        <p:nvPicPr>
          <p:cNvPr id="183" name="Google Shape;183;p22"/>
          <p:cNvPicPr preferRelativeResize="0"/>
          <p:nvPr/>
        </p:nvPicPr>
        <p:blipFill>
          <a:blip r:embed="rId3">
            <a:alphaModFix/>
          </a:blip>
          <a:stretch>
            <a:fillRect/>
          </a:stretch>
        </p:blipFill>
        <p:spPr>
          <a:xfrm>
            <a:off x="311700" y="1093450"/>
            <a:ext cx="3031456" cy="3820975"/>
          </a:xfrm>
          <a:prstGeom prst="rect">
            <a:avLst/>
          </a:prstGeom>
          <a:noFill/>
          <a:ln>
            <a:noFill/>
          </a:ln>
        </p:spPr>
      </p:pic>
      <p:pic>
        <p:nvPicPr>
          <p:cNvPr id="184" name="Google Shape;184;p22"/>
          <p:cNvPicPr preferRelativeResize="0"/>
          <p:nvPr/>
        </p:nvPicPr>
        <p:blipFill>
          <a:blip r:embed="rId4">
            <a:alphaModFix/>
          </a:blip>
          <a:stretch>
            <a:fillRect/>
          </a:stretch>
        </p:blipFill>
        <p:spPr>
          <a:xfrm>
            <a:off x="3464856" y="1867538"/>
            <a:ext cx="5496044" cy="214924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Evaluation</a:t>
            </a:r>
            <a:endParaRPr/>
          </a:p>
        </p:txBody>
      </p:sp>
      <p:sp>
        <p:nvSpPr>
          <p:cNvPr id="190" name="Google Shape;190;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en"/>
              <a:t>Is LEO capable of modeling a distribution over model parameters when faced with uncertainty? </a:t>
            </a:r>
            <a:endParaRPr/>
          </a:p>
          <a:p>
            <a:pPr marL="457200" lvl="0" indent="-342900" algn="l" rtl="0">
              <a:spcBef>
                <a:spcPts val="0"/>
              </a:spcBef>
              <a:spcAft>
                <a:spcPts val="0"/>
              </a:spcAft>
              <a:buSzPts val="1800"/>
              <a:buAutoNum type="arabicPeriod"/>
            </a:pPr>
            <a:r>
              <a:rPr lang="en"/>
              <a:t>Can LEO learn from multimodal task distributions and is this reflected in ambiguous problem instances?</a:t>
            </a:r>
            <a:endParaRPr/>
          </a:p>
          <a:p>
            <a:pPr marL="457200" lvl="0" indent="-342900" algn="l" rtl="0">
              <a:spcBef>
                <a:spcPts val="0"/>
              </a:spcBef>
              <a:spcAft>
                <a:spcPts val="0"/>
              </a:spcAft>
              <a:buSzPts val="1800"/>
              <a:buAutoNum type="arabicPeriod"/>
            </a:pPr>
            <a:r>
              <a:rPr lang="en"/>
              <a:t>Is LEO competitive on large-scale few-shot learning benchmarks?</a:t>
            </a:r>
            <a:endParaRPr/>
          </a:p>
          <a:p>
            <a:pPr marL="0" lvl="0" indent="0" algn="l" rtl="0">
              <a:spcBef>
                <a:spcPts val="1600"/>
              </a:spcBef>
              <a:spcAft>
                <a:spcPts val="160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Results - Few shot regression</a:t>
            </a:r>
            <a:endParaRPr/>
          </a:p>
        </p:txBody>
      </p:sp>
      <p:sp>
        <p:nvSpPr>
          <p:cNvPr id="196" name="Google Shape;196;p24"/>
          <p:cNvSpPr txBox="1">
            <a:spLocks noGrp="1"/>
          </p:cNvSpPr>
          <p:nvPr>
            <p:ph type="body" idx="1"/>
          </p:nvPr>
        </p:nvSpPr>
        <p:spPr>
          <a:xfrm>
            <a:off x="280650" y="1152475"/>
            <a:ext cx="87411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1D regression problems (5-shot). </a:t>
            </a:r>
            <a:r>
              <a:rPr lang="en" sz="1600">
                <a:solidFill>
                  <a:schemeClr val="dk1"/>
                </a:solidFill>
              </a:rPr>
              <a:t>Points are sampled from a sine wave or a line with 50/50.</a:t>
            </a:r>
            <a:endParaRPr/>
          </a:p>
          <a:p>
            <a:pPr marL="0" lvl="0" indent="0" algn="l" rtl="0">
              <a:spcBef>
                <a:spcPts val="1600"/>
              </a:spcBef>
              <a:spcAft>
                <a:spcPts val="0"/>
              </a:spcAft>
              <a:buNone/>
            </a:pPr>
            <a:r>
              <a:rPr lang="en" sz="1600">
                <a:solidFill>
                  <a:schemeClr val="dk1"/>
                </a:solidFill>
              </a:rPr>
              <a:t>(with random amplitude and phase and with random slope and intercept)</a:t>
            </a:r>
            <a:endParaRPr sz="1600">
              <a:solidFill>
                <a:schemeClr val="dk1"/>
              </a:solidFill>
            </a:endParaRPr>
          </a:p>
          <a:p>
            <a:pPr marL="0" lvl="0" indent="0" algn="l" rtl="0">
              <a:spcBef>
                <a:spcPts val="1600"/>
              </a:spcBef>
              <a:spcAft>
                <a:spcPts val="1600"/>
              </a:spcAft>
              <a:buClr>
                <a:schemeClr val="dk1"/>
              </a:buClr>
              <a:buSzPts val="1100"/>
              <a:buFont typeface="Arial"/>
              <a:buNone/>
            </a:pPr>
            <a:r>
              <a:rPr lang="en" sz="1600">
                <a:solidFill>
                  <a:schemeClr val="dk1"/>
                </a:solidFill>
              </a:rPr>
              <a:t> </a:t>
            </a:r>
            <a:endParaRPr sz="1600"/>
          </a:p>
        </p:txBody>
      </p:sp>
      <p:pic>
        <p:nvPicPr>
          <p:cNvPr id="197" name="Google Shape;197;p24"/>
          <p:cNvPicPr preferRelativeResize="0"/>
          <p:nvPr/>
        </p:nvPicPr>
        <p:blipFill>
          <a:blip r:embed="rId3">
            <a:alphaModFix/>
          </a:blip>
          <a:stretch>
            <a:fillRect/>
          </a:stretch>
        </p:blipFill>
        <p:spPr>
          <a:xfrm>
            <a:off x="311700" y="2087200"/>
            <a:ext cx="8710299" cy="1902175"/>
          </a:xfrm>
          <a:prstGeom prst="rect">
            <a:avLst/>
          </a:prstGeom>
          <a:noFill/>
          <a:ln>
            <a:noFill/>
          </a:ln>
        </p:spPr>
      </p:pic>
      <p:sp>
        <p:nvSpPr>
          <p:cNvPr id="198" name="Google Shape;198;p24"/>
          <p:cNvSpPr txBox="1"/>
          <p:nvPr/>
        </p:nvSpPr>
        <p:spPr>
          <a:xfrm>
            <a:off x="280650" y="4079050"/>
            <a:ext cx="8608800" cy="54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 and (b) illustrate how LEO captures some of the uncertainty in problem instances within each mode.</a:t>
            </a:r>
            <a:endParaRPr/>
          </a:p>
          <a:p>
            <a:pPr marL="0" lvl="0" indent="0" algn="l" rtl="0">
              <a:spcBef>
                <a:spcPts val="0"/>
              </a:spcBef>
              <a:spcAft>
                <a:spcPts val="0"/>
              </a:spcAft>
              <a:buNone/>
            </a:pPr>
            <a:r>
              <a:rPr lang="en"/>
              <a:t>(c) and(d) shows LEO can sample different models to represent parametric uncertainty appropriately.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Results - Few shot classification</a:t>
            </a:r>
            <a:endParaRPr/>
          </a:p>
          <a:p>
            <a:pPr marL="0" lvl="0" indent="0" algn="l" rtl="0">
              <a:spcBef>
                <a:spcPts val="0"/>
              </a:spcBef>
              <a:spcAft>
                <a:spcPts val="0"/>
              </a:spcAft>
              <a:buNone/>
            </a:pPr>
            <a:endParaRPr/>
          </a:p>
        </p:txBody>
      </p:sp>
      <p:sp>
        <p:nvSpPr>
          <p:cNvPr id="204" name="Google Shape;204;p25"/>
          <p:cNvSpPr txBox="1">
            <a:spLocks noGrp="1"/>
          </p:cNvSpPr>
          <p:nvPr>
            <p:ph type="body" idx="1"/>
          </p:nvPr>
        </p:nvSpPr>
        <p:spPr>
          <a:xfrm>
            <a:off x="346850" y="1017725"/>
            <a:ext cx="8661600" cy="374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b="1">
                <a:latin typeface="Times New Roman"/>
                <a:ea typeface="Times New Roman"/>
                <a:cs typeface="Times New Roman"/>
                <a:sym typeface="Times New Roman"/>
              </a:rPr>
              <a:t>Dataset</a:t>
            </a:r>
            <a:r>
              <a:rPr lang="en" sz="1600">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a:p>
            <a:pPr marL="0" lvl="0" indent="0" algn="l" rtl="0">
              <a:spcBef>
                <a:spcPts val="1600"/>
              </a:spcBef>
              <a:spcAft>
                <a:spcPts val="0"/>
              </a:spcAft>
              <a:buNone/>
            </a:pPr>
            <a:r>
              <a:rPr lang="en" sz="1600" b="1" i="1">
                <a:latin typeface="Times New Roman"/>
                <a:ea typeface="Times New Roman"/>
                <a:cs typeface="Times New Roman"/>
                <a:sym typeface="Times New Roman"/>
              </a:rPr>
              <a:t>miniImageNet </a:t>
            </a:r>
            <a:r>
              <a:rPr lang="en" sz="1600"/>
              <a:t>(100 classes, each class has 600 images, train 64 classes, val 16 classes, and test 20 classes)</a:t>
            </a:r>
            <a:endParaRPr sz="1600"/>
          </a:p>
          <a:p>
            <a:pPr marL="0" lvl="0" indent="0" algn="l" rtl="0">
              <a:spcBef>
                <a:spcPts val="1600"/>
              </a:spcBef>
              <a:spcAft>
                <a:spcPts val="0"/>
              </a:spcAft>
              <a:buNone/>
            </a:pPr>
            <a:r>
              <a:rPr lang="en" sz="1600" b="1" i="1">
                <a:latin typeface="Times New Roman"/>
                <a:ea typeface="Times New Roman"/>
                <a:cs typeface="Times New Roman"/>
                <a:sym typeface="Times New Roman"/>
              </a:rPr>
              <a:t>tieredImageNet</a:t>
            </a:r>
            <a:r>
              <a:rPr lang="en" sz="1600"/>
              <a:t> (779,165 images) grouped into 34 classes that has train 20 classes, val 6 classes, test 8 classes. </a:t>
            </a:r>
            <a:endParaRPr sz="1600"/>
          </a:p>
          <a:p>
            <a:pPr marL="0" lvl="0" indent="0" algn="l" rtl="0">
              <a:spcBef>
                <a:spcPts val="1600"/>
              </a:spcBef>
              <a:spcAft>
                <a:spcPts val="0"/>
              </a:spcAft>
              <a:buNone/>
            </a:pPr>
            <a:r>
              <a:rPr lang="en" sz="1600" b="1">
                <a:latin typeface="Times New Roman"/>
                <a:ea typeface="Times New Roman"/>
                <a:cs typeface="Times New Roman"/>
                <a:sym typeface="Times New Roman"/>
              </a:rPr>
              <a:t>Pre-training</a:t>
            </a:r>
            <a:r>
              <a:rPr lang="en" sz="1600"/>
              <a:t>: Wide Residual Net (WRN-28-10), pick up the last linear softmax layer as the feature extractor (before LEO). </a:t>
            </a:r>
            <a:endParaRPr sz="1600"/>
          </a:p>
          <a:p>
            <a:pPr marL="0" lvl="0" indent="0" algn="l" rtl="0">
              <a:spcBef>
                <a:spcPts val="1600"/>
              </a:spcBef>
              <a:spcAft>
                <a:spcPts val="1600"/>
              </a:spcAft>
              <a:buNone/>
            </a:pPr>
            <a:r>
              <a:rPr lang="en" sz="1600" b="1">
                <a:latin typeface="Times New Roman"/>
                <a:ea typeface="Times New Roman"/>
                <a:cs typeface="Times New Roman"/>
                <a:sym typeface="Times New Roman"/>
              </a:rPr>
              <a:t>Fine-tuning</a:t>
            </a:r>
            <a:r>
              <a:rPr lang="en" sz="1600"/>
              <a:t>: few steps adaptation in latent or parameter space via few-shot learning like MAML   </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6"/>
          <p:cNvSpPr txBox="1">
            <a:spLocks noGrp="1"/>
          </p:cNvSpPr>
          <p:nvPr>
            <p:ph type="title"/>
          </p:nvPr>
        </p:nvSpPr>
        <p:spPr>
          <a:xfrm>
            <a:off x="311700" y="3556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Results - miniImageNet </a:t>
            </a:r>
            <a:endParaRPr/>
          </a:p>
        </p:txBody>
      </p:sp>
      <p:pic>
        <p:nvPicPr>
          <p:cNvPr id="210" name="Google Shape;210;p26"/>
          <p:cNvPicPr preferRelativeResize="0"/>
          <p:nvPr/>
        </p:nvPicPr>
        <p:blipFill>
          <a:blip r:embed="rId3">
            <a:alphaModFix/>
          </a:blip>
          <a:stretch>
            <a:fillRect/>
          </a:stretch>
        </p:blipFill>
        <p:spPr>
          <a:xfrm>
            <a:off x="691775" y="865325"/>
            <a:ext cx="7223624" cy="39643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Results - tieredImageNet </a:t>
            </a:r>
            <a:endParaRPr/>
          </a:p>
        </p:txBody>
      </p:sp>
      <p:pic>
        <p:nvPicPr>
          <p:cNvPr id="216" name="Google Shape;216;p27"/>
          <p:cNvPicPr preferRelativeResize="0"/>
          <p:nvPr/>
        </p:nvPicPr>
        <p:blipFill>
          <a:blip r:embed="rId3">
            <a:alphaModFix/>
          </a:blip>
          <a:stretch>
            <a:fillRect/>
          </a:stretch>
        </p:blipFill>
        <p:spPr>
          <a:xfrm>
            <a:off x="464525" y="1326975"/>
            <a:ext cx="8068700" cy="24895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Results - Ablation study</a:t>
            </a:r>
            <a:endParaRPr/>
          </a:p>
        </p:txBody>
      </p:sp>
      <p:pic>
        <p:nvPicPr>
          <p:cNvPr id="222" name="Google Shape;222;p28"/>
          <p:cNvPicPr preferRelativeResize="0"/>
          <p:nvPr/>
        </p:nvPicPr>
        <p:blipFill>
          <a:blip r:embed="rId3">
            <a:alphaModFix/>
          </a:blip>
          <a:stretch>
            <a:fillRect/>
          </a:stretch>
        </p:blipFill>
        <p:spPr>
          <a:xfrm>
            <a:off x="311700" y="1359075"/>
            <a:ext cx="8390801" cy="2225551"/>
          </a:xfrm>
          <a:prstGeom prst="rect">
            <a:avLst/>
          </a:prstGeom>
          <a:noFill/>
          <a:ln>
            <a:noFill/>
          </a:ln>
        </p:spPr>
      </p:pic>
      <p:sp>
        <p:nvSpPr>
          <p:cNvPr id="223" name="Google Shape;223;p28"/>
          <p:cNvSpPr txBox="1"/>
          <p:nvPr/>
        </p:nvSpPr>
        <p:spPr>
          <a:xfrm>
            <a:off x="293550" y="4022175"/>
            <a:ext cx="8556900" cy="54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Both the </a:t>
            </a:r>
            <a:r>
              <a:rPr lang="en" b="1"/>
              <a:t>data-conditional encoding</a:t>
            </a:r>
            <a:r>
              <a:rPr lang="en"/>
              <a:t> and </a:t>
            </a:r>
            <a:r>
              <a:rPr lang="en" b="1"/>
              <a:t>latent space adaptation</a:t>
            </a:r>
            <a:r>
              <a:rPr lang="en"/>
              <a:t> are critical to the performance of LEO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9"/>
          <p:cNvSpPr txBox="1">
            <a:spLocks noGrp="1"/>
          </p:cNvSpPr>
          <p:nvPr>
            <p:ph type="title"/>
          </p:nvPr>
        </p:nvSpPr>
        <p:spPr>
          <a:xfrm>
            <a:off x="311700" y="3719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Results - tSNE on Latent space </a:t>
            </a:r>
            <a:endParaRPr/>
          </a:p>
        </p:txBody>
      </p:sp>
      <p:pic>
        <p:nvPicPr>
          <p:cNvPr id="229" name="Google Shape;229;p29"/>
          <p:cNvPicPr preferRelativeResize="0"/>
          <p:nvPr/>
        </p:nvPicPr>
        <p:blipFill>
          <a:blip r:embed="rId3">
            <a:alphaModFix/>
          </a:blip>
          <a:stretch>
            <a:fillRect/>
          </a:stretch>
        </p:blipFill>
        <p:spPr>
          <a:xfrm>
            <a:off x="658200" y="1048200"/>
            <a:ext cx="7467397" cy="3507676"/>
          </a:xfrm>
          <a:prstGeom prst="rect">
            <a:avLst/>
          </a:prstGeom>
          <a:noFill/>
          <a:ln>
            <a:noFill/>
          </a:ln>
        </p:spPr>
      </p:pic>
      <p:sp>
        <p:nvSpPr>
          <p:cNvPr id="230" name="Google Shape;230;p29"/>
          <p:cNvSpPr txBox="1"/>
          <p:nvPr/>
        </p:nvSpPr>
        <p:spPr>
          <a:xfrm>
            <a:off x="996875" y="4469075"/>
            <a:ext cx="5476500" cy="43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Left figure is </a:t>
            </a:r>
            <a:r>
              <a:rPr lang="en" b="1"/>
              <a:t>z</a:t>
            </a:r>
            <a:r>
              <a:rPr lang="en" b="1" baseline="-25000"/>
              <a:t>n</a:t>
            </a:r>
            <a:r>
              <a:rPr lang="en"/>
              <a:t>, right figure is </a:t>
            </a:r>
            <a:r>
              <a:rPr lang="en" b="1"/>
              <a:t>z’</a:t>
            </a:r>
            <a:r>
              <a:rPr lang="en" b="1" baseline="-25000"/>
              <a:t>n</a:t>
            </a:r>
            <a:r>
              <a:rPr lang="en"/>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Results - curvature and coverage  </a:t>
            </a:r>
            <a:endParaRPr/>
          </a:p>
        </p:txBody>
      </p:sp>
      <p:pic>
        <p:nvPicPr>
          <p:cNvPr id="236" name="Google Shape;236;p30"/>
          <p:cNvPicPr preferRelativeResize="0"/>
          <p:nvPr/>
        </p:nvPicPr>
        <p:blipFill>
          <a:blip r:embed="rId3">
            <a:alphaModFix/>
          </a:blip>
          <a:stretch>
            <a:fillRect/>
          </a:stretch>
        </p:blipFill>
        <p:spPr>
          <a:xfrm>
            <a:off x="471300" y="1344976"/>
            <a:ext cx="8076850" cy="28418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Discussion &amp; Takeaways</a:t>
            </a:r>
            <a:endParaRPr/>
          </a:p>
        </p:txBody>
      </p:sp>
      <p:sp>
        <p:nvSpPr>
          <p:cNvPr id="242" name="Google Shape;242;p31"/>
          <p:cNvSpPr txBox="1">
            <a:spLocks noGrp="1"/>
          </p:cNvSpPr>
          <p:nvPr>
            <p:ph type="body" idx="1"/>
          </p:nvPr>
        </p:nvSpPr>
        <p:spPr>
          <a:xfrm>
            <a:off x="311700" y="1152475"/>
            <a:ext cx="8520600" cy="28182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en" b="1"/>
              <a:t>Parameter Efficiency</a:t>
            </a:r>
            <a:r>
              <a:rPr lang="en"/>
              <a:t>: Optimizing over a latent space is more parameter-efficient than optimizing over parameters from the entire network.</a:t>
            </a:r>
            <a:endParaRPr/>
          </a:p>
          <a:p>
            <a:pPr marL="457200" lvl="0" indent="-342900" algn="l" rtl="0">
              <a:spcBef>
                <a:spcPts val="0"/>
              </a:spcBef>
              <a:spcAft>
                <a:spcPts val="0"/>
              </a:spcAft>
              <a:buSzPts val="1800"/>
              <a:buAutoNum type="arabicPeriod"/>
            </a:pPr>
            <a:r>
              <a:rPr lang="en" b="1"/>
              <a:t>Flexibility/Expressivity</a:t>
            </a:r>
            <a:r>
              <a:rPr lang="en"/>
              <a:t>: Data/Task-dependent parameters allow more expressivity/flexibility in final adaptation.</a:t>
            </a:r>
            <a:endParaRPr/>
          </a:p>
          <a:p>
            <a:pPr marL="457200" lvl="0" indent="-342900" algn="l" rtl="0">
              <a:spcBef>
                <a:spcPts val="0"/>
              </a:spcBef>
              <a:spcAft>
                <a:spcPts val="0"/>
              </a:spcAft>
              <a:buSzPts val="1800"/>
              <a:buAutoNum type="arabicPeriod"/>
            </a:pPr>
            <a:r>
              <a:rPr lang="en" b="1"/>
              <a:t>Parameter Space</a:t>
            </a:r>
            <a:r>
              <a:rPr lang="en"/>
              <a:t>: Similar to VAE, but using latent embedding to represent parameter space instead of image space.</a:t>
            </a:r>
            <a:endParaRPr/>
          </a:p>
          <a:p>
            <a:pPr marL="457200" lvl="0" indent="-342900" algn="l" rtl="0">
              <a:spcBef>
                <a:spcPts val="0"/>
              </a:spcBef>
              <a:spcAft>
                <a:spcPts val="0"/>
              </a:spcAft>
              <a:buSzPts val="1800"/>
              <a:buAutoNum type="arabicPeriod"/>
            </a:pPr>
            <a:r>
              <a:rPr lang="en" b="1"/>
              <a:t>Marginal improvement</a:t>
            </a:r>
            <a:r>
              <a:rPr lang="en"/>
              <a:t>: Improvement from final adaptation is only marginal (decoder is more important in the network).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Questions</a:t>
            </a:r>
            <a:endParaRPr/>
          </a:p>
        </p:txBody>
      </p:sp>
      <p:sp>
        <p:nvSpPr>
          <p:cNvPr id="248" name="Google Shape;248;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sz="2800">
                <a:solidFill>
                  <a:schemeClr val="dk1"/>
                </a:solidFill>
              </a:rPr>
              <a:t>Thanks</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1734</Words>
  <Application>Microsoft Macintosh PowerPoint</Application>
  <PresentationFormat>On-screen Show (16:9)</PresentationFormat>
  <Paragraphs>112</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Times New Roman</vt:lpstr>
      <vt:lpstr>Simple Light</vt:lpstr>
      <vt:lpstr>Meta-Learning with Latent Embedding Optimization  Rusu et al. ICLR, 2019</vt:lpstr>
      <vt:lpstr>Recap: MAML</vt:lpstr>
      <vt:lpstr>Recap: MAML</vt:lpstr>
      <vt:lpstr>Challenge: How many tasks are out there?</vt:lpstr>
      <vt:lpstr>LEO: Learning task-dependent θ</vt:lpstr>
      <vt:lpstr>First Step: Encoding Data (Outer Loop)</vt:lpstr>
      <vt:lpstr>Second Step: Decoding Z (Inner Loop)</vt:lpstr>
      <vt:lpstr>Adaptation Procedure: Inner Loop</vt:lpstr>
      <vt:lpstr>Meta-Training Procedure: Outer Loop</vt:lpstr>
      <vt:lpstr>The LEO Algorithm</vt:lpstr>
      <vt:lpstr>Evaluation</vt:lpstr>
      <vt:lpstr>Results - Few shot regression</vt:lpstr>
      <vt:lpstr>Results - Few shot classification </vt:lpstr>
      <vt:lpstr>Results - miniImageNet </vt:lpstr>
      <vt:lpstr>Results - tieredImageNet </vt:lpstr>
      <vt:lpstr>Results - Ablation study</vt:lpstr>
      <vt:lpstr>Results - tSNE on Latent space </vt:lpstr>
      <vt:lpstr>Results - curvature and coverage  </vt:lpstr>
      <vt:lpstr>Discussion &amp; Takeaways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Meta-Learning with Latent Embedding Optimization  Rusu et al. ICLR, 2019</dc:title>
  <cp:lastModifiedBy>Abhishek Sinha</cp:lastModifiedBy>
  <cp:revision>1</cp:revision>
  <dcterms:modified xsi:type="dcterms:W3CDTF">2019-10-13T22:29:58Z</dcterms:modified>
</cp:coreProperties>
</file>